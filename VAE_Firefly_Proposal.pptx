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844" autoAdjust="0"/>
  </p:normalViewPr>
  <p:slideViewPr>
    <p:cSldViewPr snapToGrid="0" snapToObjects="1">
      <p:cViewPr varScale="1">
        <p:scale>
          <a:sx n="128" d="100"/>
          <a:sy n="128" d="100"/>
        </p:scale>
        <p:origin x="3762"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595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各位老師、同學好，我是</a:t>
            </a:r>
            <a:r>
              <a:rPr lang="zh-TW" altLang="en-US" dirty="0"/>
              <a:t>Phecda</a:t>
            </a:r>
            <a:r>
              <a:rPr dirty="0"/>
              <a:t>。</a:t>
            </a:r>
          </a:p>
          <a:p>
            <a:r>
              <a:rPr dirty="0" err="1"/>
              <a:t>我的題目是「</a:t>
            </a:r>
            <a:r>
              <a:rPr lang="en-US" dirty="0" err="1"/>
              <a:t>Fixing</a:t>
            </a:r>
            <a:r>
              <a:rPr lang="en-US" dirty="0"/>
              <a:t> SDXL VAE</a:t>
            </a:r>
            <a:r>
              <a:rPr lang="zh-TW" altLang="en-US" dirty="0"/>
              <a:t> </a:t>
            </a:r>
            <a:r>
              <a:rPr lang="en-US" dirty="0"/>
              <a:t>Spurious Bright Pixels</a:t>
            </a:r>
            <a:r>
              <a:rPr lang="zh-TW" altLang="en-US" dirty="0"/>
              <a:t>」</a:t>
            </a:r>
            <a:endParaRPr dirty="0"/>
          </a:p>
          <a:p>
            <a:r>
              <a:rPr dirty="0" err="1"/>
              <a:t>這個專題的核心想法非常簡單</a:t>
            </a:r>
            <a:r>
              <a:rPr dirty="0"/>
              <a:t>：</a:t>
            </a:r>
            <a:r>
              <a:rPr lang="zh-TW" altLang="en-US" dirty="0"/>
              <a:t>解決</a:t>
            </a:r>
            <a:r>
              <a:rPr lang="en-US" altLang="zh-TW" dirty="0"/>
              <a:t>Stable Diffusion</a:t>
            </a:r>
            <a:r>
              <a:rPr lang="zh-TW" altLang="en-US" dirty="0"/>
              <a:t>生成圖片時由於</a:t>
            </a:r>
            <a:r>
              <a:rPr lang="en-US" altLang="zh-TW" dirty="0"/>
              <a:t>VAE</a:t>
            </a:r>
            <a:r>
              <a:rPr lang="zh-TW" altLang="en-US" dirty="0"/>
              <a:t>產生的被稱為</a:t>
            </a:r>
            <a:r>
              <a:rPr lang="en-US" altLang="zh-TW" sz="1200" b="1" dirty="0"/>
              <a:t>Spurious Bright Pixels</a:t>
            </a:r>
            <a:r>
              <a:rPr lang="zh-TW" altLang="en-US" sz="1200" b="1" dirty="0"/>
              <a:t>的</a:t>
            </a:r>
            <a:r>
              <a:rPr lang="zh-TW" altLang="en-US" dirty="0"/>
              <a:t>微小瑕疵</a:t>
            </a:r>
            <a:endParaRPr lang="en-US" altLang="zh-TW" dirty="0"/>
          </a:p>
          <a:p>
            <a:endParaRPr lang="en-US" dirty="0"/>
          </a:p>
          <a:p>
            <a:r>
              <a:rPr lang="en-US" dirty="0"/>
              <a:t>Hello everyone, teachers and </a:t>
            </a:r>
            <a:r>
              <a:rPr lang="en-US" dirty="0" err="1"/>
              <a:t>students.My</a:t>
            </a:r>
            <a:r>
              <a:rPr lang="en-US" dirty="0"/>
              <a:t> topic is “Fixing Stable</a:t>
            </a:r>
            <a:r>
              <a:rPr lang="zh-TW" altLang="en-US" dirty="0"/>
              <a:t> </a:t>
            </a:r>
            <a:r>
              <a:rPr lang="en-US" altLang="zh-TW" dirty="0"/>
              <a:t>Diffusion</a:t>
            </a:r>
            <a:r>
              <a:rPr lang="zh-TW" altLang="en-US" dirty="0"/>
              <a:t> </a:t>
            </a:r>
            <a:r>
              <a:rPr lang="en-US" dirty="0"/>
              <a:t>VAE Spurious Bright </a:t>
            </a:r>
            <a:r>
              <a:rPr lang="en-US" dirty="0" err="1"/>
              <a:t>Pixels".The</a:t>
            </a:r>
            <a:r>
              <a:rPr lang="en-US" dirty="0"/>
              <a:t> core idea of ​​this project is very simple: to solve the tiny imperfections known as Spurious Bright Pixels caused by VAEs when generating images using Stable Diffusion.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那首先，什麼是</a:t>
            </a:r>
            <a:r>
              <a:rPr dirty="0"/>
              <a:t> VAE </a:t>
            </a:r>
            <a:r>
              <a:rPr lang="en-US" altLang="zh-TW" sz="1200" b="1" dirty="0"/>
              <a:t>Spurious Bright Pixels</a:t>
            </a:r>
          </a:p>
          <a:p>
            <a:r>
              <a:rPr lang="en-US" dirty="0"/>
              <a:t>VAE</a:t>
            </a:r>
            <a:r>
              <a:rPr lang="zh-TW" altLang="en-US" dirty="0"/>
              <a:t>的</a:t>
            </a:r>
            <a:r>
              <a:rPr lang="en-US" altLang="zh-TW" dirty="0"/>
              <a:t>decoder</a:t>
            </a:r>
            <a:r>
              <a:rPr lang="zh-TW" altLang="en-US" dirty="0"/>
              <a:t>在</a:t>
            </a:r>
            <a:r>
              <a:rPr lang="en-US" altLang="zh-TW" dirty="0"/>
              <a:t>Stable Diffusion</a:t>
            </a:r>
            <a:r>
              <a:rPr lang="zh-TW" altLang="en-US" dirty="0"/>
              <a:t>生成圖片的時候負責將</a:t>
            </a:r>
            <a:r>
              <a:rPr lang="en-US" altLang="zh-TW" dirty="0"/>
              <a:t>Diffusion Model</a:t>
            </a:r>
            <a:r>
              <a:rPr lang="zh-TW" altLang="en-US" dirty="0"/>
              <a:t>生成的</a:t>
            </a:r>
            <a:r>
              <a:rPr lang="en-US" altLang="zh-TW" dirty="0"/>
              <a:t>latent image</a:t>
            </a:r>
            <a:r>
              <a:rPr lang="zh-TW" altLang="en-US" dirty="0"/>
              <a:t>重建為正常大小的圖片</a:t>
            </a:r>
            <a:endParaRPr lang="en-US" altLang="zh-TW" dirty="0"/>
          </a:p>
          <a:p>
            <a:r>
              <a:rPr lang="zh-TW" altLang="en-US" dirty="0"/>
              <a:t>由於</a:t>
            </a:r>
            <a:r>
              <a:rPr lang="en-US" altLang="zh-TW" dirty="0" err="1"/>
              <a:t>Diffusin</a:t>
            </a:r>
            <a:r>
              <a:rPr lang="en-US" altLang="zh-TW" dirty="0"/>
              <a:t> Model</a:t>
            </a:r>
            <a:r>
              <a:rPr lang="zh-TW" altLang="en-US" dirty="0"/>
              <a:t>生成的</a:t>
            </a:r>
            <a:r>
              <a:rPr lang="en-US" altLang="zh-TW" dirty="0"/>
              <a:t>latent image</a:t>
            </a:r>
            <a:r>
              <a:rPr lang="zh-TW" altLang="en-US" dirty="0"/>
              <a:t>屬於高度壓縮的維度，大量高頻細節資訊只能由</a:t>
            </a:r>
            <a:r>
              <a:rPr lang="en-US" altLang="zh-TW" dirty="0"/>
              <a:t>Decoder</a:t>
            </a:r>
            <a:r>
              <a:rPr lang="zh-TW" altLang="en-US" dirty="0"/>
              <a:t>依靠訓練時學到的分布來重建</a:t>
            </a:r>
            <a:endParaRPr lang="en-US" altLang="zh-TW" dirty="0"/>
          </a:p>
          <a:p>
            <a:r>
              <a:rPr lang="en-US" altLang="zh-TW" dirty="0"/>
              <a:t>CFG</a:t>
            </a:r>
            <a:r>
              <a:rPr lang="zh-TW" altLang="en-US" dirty="0"/>
              <a:t>（</a:t>
            </a:r>
            <a:r>
              <a:rPr lang="en-US" altLang="zh-TW" dirty="0"/>
              <a:t>Classifier-Free Guidance</a:t>
            </a:r>
            <a:r>
              <a:rPr lang="zh-TW" altLang="en-US" dirty="0"/>
              <a:t>）則是控制模型遵循 </a:t>
            </a:r>
            <a:r>
              <a:rPr lang="en-US" altLang="zh-TW" dirty="0"/>
              <a:t>prompt </a:t>
            </a:r>
            <a:r>
              <a:rPr lang="zh-TW" altLang="en-US" dirty="0"/>
              <a:t>程度的參數。</a:t>
            </a:r>
            <a:r>
              <a:rPr lang="en-US" altLang="zh-TW" dirty="0"/>
              <a:t>CFG </a:t>
            </a:r>
            <a:r>
              <a:rPr lang="zh-TW" altLang="en-US" dirty="0"/>
              <a:t>越高，模型越會強化由文字 </a:t>
            </a:r>
            <a:r>
              <a:rPr lang="en-US" altLang="zh-TW" dirty="0"/>
              <a:t>prompt </a:t>
            </a:r>
            <a:r>
              <a:rPr lang="zh-TW" altLang="en-US" dirty="0"/>
              <a:t>所引導的生成方向。</a:t>
            </a:r>
            <a:endParaRPr lang="en-US" altLang="zh-TW" dirty="0"/>
          </a:p>
          <a:p>
            <a:endParaRPr lang="en-US" altLang="zh-TW" dirty="0"/>
          </a:p>
          <a:p>
            <a:r>
              <a:rPr lang="zh-TW" altLang="en-US" dirty="0"/>
              <a:t>然而，文字 </a:t>
            </a:r>
            <a:r>
              <a:rPr lang="en-US" altLang="zh-TW" dirty="0"/>
              <a:t>prompt </a:t>
            </a:r>
            <a:r>
              <a:rPr lang="zh-TW" altLang="en-US" dirty="0"/>
              <a:t>本身只能提供有限的語意資訊，缺乏真實圖像中的大量細節與自然統計特徵。</a:t>
            </a:r>
            <a:endParaRPr lang="en-US" altLang="zh-TW" dirty="0"/>
          </a:p>
          <a:p>
            <a:r>
              <a:rPr lang="zh-TW" altLang="en-US" dirty="0"/>
              <a:t>因此，當 </a:t>
            </a:r>
            <a:r>
              <a:rPr lang="en-US" altLang="zh-TW" dirty="0"/>
              <a:t>CFG </a:t>
            </a:r>
            <a:r>
              <a:rPr lang="zh-TW" altLang="en-US" dirty="0"/>
              <a:t>過高時，</a:t>
            </a:r>
            <a:r>
              <a:rPr lang="en-US" altLang="zh-TW" dirty="0"/>
              <a:t>latent </a:t>
            </a:r>
            <a:r>
              <a:rPr lang="zh-TW" altLang="en-US" dirty="0"/>
              <a:t>可能被推離 </a:t>
            </a:r>
            <a:r>
              <a:rPr lang="en-US" altLang="zh-TW" dirty="0"/>
              <a:t>VAE </a:t>
            </a:r>
            <a:r>
              <a:rPr lang="zh-TW" altLang="en-US" dirty="0"/>
              <a:t>訓練時所見過的自然分布（</a:t>
            </a:r>
            <a:r>
              <a:rPr lang="en-US" altLang="zh-TW" dirty="0"/>
              <a:t>out-of-distribution</a:t>
            </a:r>
            <a:r>
              <a:rPr lang="zh-TW" altLang="en-US" dirty="0"/>
              <a:t>）。</a:t>
            </a:r>
          </a:p>
          <a:p>
            <a:r>
              <a:rPr lang="zh-TW" altLang="en-US" dirty="0"/>
              <a:t>當 </a:t>
            </a:r>
            <a:r>
              <a:rPr lang="en-US" altLang="zh-TW" dirty="0"/>
              <a:t>VAE Decoder </a:t>
            </a:r>
            <a:r>
              <a:rPr lang="zh-TW" altLang="en-US" dirty="0"/>
              <a:t>接收到這些超出訓練分布的極端 </a:t>
            </a:r>
            <a:r>
              <a:rPr lang="en-US" altLang="zh-TW" dirty="0"/>
              <a:t>latent </a:t>
            </a:r>
            <a:r>
              <a:rPr lang="zh-TW" altLang="en-US" dirty="0"/>
              <a:t>值時，可能無法穩定重建，進而產生局部輸出飽和（</a:t>
            </a:r>
            <a:r>
              <a:rPr lang="en-US" altLang="zh-TW" dirty="0"/>
              <a:t>output saturation</a:t>
            </a:r>
            <a:r>
              <a:rPr lang="zh-TW" altLang="en-US" dirty="0"/>
              <a:t>）或異常高亮值。</a:t>
            </a:r>
            <a:endParaRPr lang="en-US" altLang="zh-TW" dirty="0"/>
          </a:p>
          <a:p>
            <a:endParaRPr lang="zh-TW" altLang="en-US" dirty="0"/>
          </a:p>
          <a:p>
            <a:r>
              <a:rPr lang="zh-TW" altLang="en-US" dirty="0"/>
              <a:t>在最終圖片中，這些異常值會表現為少量孤立的亮點或彩色像素，稱為</a:t>
            </a:r>
            <a:r>
              <a:rPr lang="en-US" altLang="zh-TW" dirty="0"/>
              <a:t>Spurious Bright Pixels</a:t>
            </a:r>
            <a:r>
              <a:rPr lang="zh-TW" altLang="en-US" dirty="0"/>
              <a:t>或者</a:t>
            </a:r>
            <a:r>
              <a:rPr lang="en-US" altLang="zh-TW" dirty="0"/>
              <a:t>impulse noise</a:t>
            </a:r>
            <a:endParaRPr lang="zh-TW" altLang="en-US" dirty="0"/>
          </a:p>
          <a:p>
            <a:r>
              <a:rPr lang="zh-TW" altLang="en-US" dirty="0"/>
              <a:t>這些 </a:t>
            </a:r>
            <a:r>
              <a:rPr lang="en-US" altLang="zh-TW" dirty="0"/>
              <a:t>artifact </a:t>
            </a:r>
            <a:r>
              <a:rPr lang="zh-TW" altLang="en-US" dirty="0"/>
              <a:t>並不只會出現在暗部或高對比區域，但由於亮度對比特別強烈，因此通常在這些區域最容易被觀察到。</a:t>
            </a:r>
          </a:p>
          <a:p>
            <a:r>
              <a:rPr lang="zh-TW" altLang="en-US" dirty="0"/>
              <a:t>由於這些 </a:t>
            </a:r>
            <a:r>
              <a:rPr lang="en-US" altLang="zh-TW" dirty="0"/>
              <a:t>artifact </a:t>
            </a:r>
            <a:r>
              <a:rPr lang="zh-TW" altLang="en-US" dirty="0"/>
              <a:t>通常只來自少量異常 </a:t>
            </a:r>
            <a:r>
              <a:rPr lang="en-US" altLang="zh-TW" dirty="0"/>
              <a:t>latent</a:t>
            </a:r>
            <a:r>
              <a:rPr lang="zh-TW" altLang="en-US" dirty="0"/>
              <a:t>，因此在 </a:t>
            </a:r>
            <a:r>
              <a:rPr lang="en-US" altLang="zh-TW" dirty="0"/>
              <a:t>1024×1024 </a:t>
            </a:r>
            <a:r>
              <a:rPr lang="zh-TW" altLang="en-US" dirty="0"/>
              <a:t>圖像中，往往只有 </a:t>
            </a:r>
            <a:r>
              <a:rPr lang="en-US" altLang="zh-TW" dirty="0"/>
              <a:t>1</a:t>
            </a:r>
            <a:r>
              <a:rPr lang="zh-TW" altLang="en-US" dirty="0"/>
              <a:t>～</a:t>
            </a:r>
            <a:r>
              <a:rPr lang="en-US" altLang="zh-TW" dirty="0"/>
              <a:t>5 </a:t>
            </a:r>
            <a:r>
              <a:rPr lang="zh-TW" altLang="en-US" dirty="0"/>
              <a:t>個像素大小。</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接下來</a:t>
            </a:r>
            <a:r>
              <a:rPr lang="zh-TW" altLang="en-US" dirty="0"/>
              <a:t>我會介紹三種相關的解決方案</a:t>
            </a:r>
            <a:endParaRPr lang="en-US" altLang="zh-TW" dirty="0"/>
          </a:p>
          <a:p>
            <a:r>
              <a:rPr lang="zh-TW" altLang="en-US" dirty="0"/>
              <a:t>此處選出</a:t>
            </a:r>
            <a:r>
              <a:rPr dirty="0"/>
              <a:t>三</a:t>
            </a:r>
            <a:r>
              <a:rPr lang="zh-TW" altLang="en-US" dirty="0"/>
              <a:t>種可用於處理前述狀況的方法</a:t>
            </a:r>
            <a:r>
              <a:rPr dirty="0"/>
              <a:t>。</a:t>
            </a:r>
            <a:endParaRPr lang="en-US" dirty="0"/>
          </a:p>
          <a:p>
            <a:r>
              <a:rPr dirty="0" err="1"/>
              <a:t>RePaint</a:t>
            </a:r>
            <a:r>
              <a:rPr dirty="0"/>
              <a:t> </a:t>
            </a:r>
            <a:r>
              <a:rPr dirty="0" err="1"/>
              <a:t>代表擴散模型修補，PatchMatch</a:t>
            </a:r>
            <a:r>
              <a:rPr dirty="0"/>
              <a:t> </a:t>
            </a:r>
            <a:r>
              <a:rPr dirty="0" err="1"/>
              <a:t>代表區塊紋理合成，Telea</a:t>
            </a:r>
            <a:r>
              <a:rPr dirty="0"/>
              <a:t> FMM </a:t>
            </a:r>
            <a:r>
              <a:rPr dirty="0" err="1"/>
              <a:t>代表</a:t>
            </a:r>
            <a:r>
              <a:rPr dirty="0"/>
              <a:t> PDE </a:t>
            </a:r>
            <a:r>
              <a:rPr dirty="0" err="1"/>
              <a:t>邊界擴散</a:t>
            </a:r>
            <a:r>
              <a:rPr dirty="0"/>
              <a:t>。</a:t>
            </a:r>
            <a:endParaRPr lang="en-US" dirty="0"/>
          </a:p>
          <a:p>
            <a:endParaRPr lang="en-US" dirty="0"/>
          </a:p>
          <a:p>
            <a:r>
              <a:rPr lang="en-US" dirty="0"/>
              <a:t>Next, I will introduce three related solutions: </a:t>
            </a:r>
            <a:r>
              <a:rPr lang="en-US" dirty="0" err="1"/>
              <a:t>RePaint</a:t>
            </a:r>
            <a:r>
              <a:rPr lang="en-US" dirty="0"/>
              <a:t> represents diffusion model patching, </a:t>
            </a:r>
            <a:r>
              <a:rPr lang="en-US" dirty="0" err="1"/>
              <a:t>PatchMatch</a:t>
            </a:r>
            <a:r>
              <a:rPr lang="en-US" dirty="0"/>
              <a:t> represents block texture synthesis, and </a:t>
            </a:r>
            <a:r>
              <a:rPr lang="en-US" dirty="0" err="1"/>
              <a:t>Telea</a:t>
            </a:r>
            <a:r>
              <a:rPr lang="en-US" dirty="0"/>
              <a:t> FMM represents PDE boundary diffusion.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第一</a:t>
            </a:r>
            <a:r>
              <a:rPr lang="zh-TW" altLang="en-US" dirty="0"/>
              <a:t>個方法</a:t>
            </a:r>
            <a:r>
              <a:rPr dirty="0"/>
              <a:t>是 </a:t>
            </a:r>
            <a:r>
              <a:rPr dirty="0" err="1"/>
              <a:t>RePaint</a:t>
            </a:r>
            <a:endParaRPr lang="en-US" dirty="0"/>
          </a:p>
          <a:p>
            <a:r>
              <a:rPr lang="zh-TW" altLang="en-US" dirty="0"/>
              <a:t>其核心機制為，利用</a:t>
            </a:r>
            <a:r>
              <a:rPr lang="en-US" altLang="zh-TW" dirty="0"/>
              <a:t>mask</a:t>
            </a:r>
            <a:r>
              <a:rPr lang="zh-TW" altLang="en-US" dirty="0"/>
              <a:t>將待修補圖片分成</a:t>
            </a:r>
            <a:r>
              <a:rPr lang="en-US" altLang="zh-TW" dirty="0"/>
              <a:t>Known Region</a:t>
            </a:r>
            <a:r>
              <a:rPr lang="zh-TW" altLang="en-US" dirty="0"/>
              <a:t>與</a:t>
            </a:r>
            <a:r>
              <a:rPr lang="en-US" altLang="zh-TW" dirty="0" err="1"/>
              <a:t>UnKnown</a:t>
            </a:r>
            <a:r>
              <a:rPr lang="en-US" altLang="zh-TW" dirty="0"/>
              <a:t> Region</a:t>
            </a:r>
          </a:p>
          <a:p>
            <a:r>
              <a:rPr lang="zh-TW" altLang="en-US" dirty="0"/>
              <a:t>在去噪過程中，對於</a:t>
            </a:r>
            <a:r>
              <a:rPr lang="en-US" altLang="zh-TW" dirty="0"/>
              <a:t>Known Region</a:t>
            </a:r>
            <a:r>
              <a:rPr lang="zh-TW" altLang="en-US" dirty="0"/>
              <a:t>，會直接用原圖加上對應</a:t>
            </a:r>
            <a:r>
              <a:rPr lang="en-US" altLang="zh-TW" dirty="0"/>
              <a:t>time step</a:t>
            </a:r>
            <a:r>
              <a:rPr lang="zh-TW" altLang="en-US" dirty="0"/>
              <a:t>的</a:t>
            </a:r>
            <a:r>
              <a:rPr lang="en-US" altLang="zh-TW" dirty="0"/>
              <a:t>noise</a:t>
            </a:r>
          </a:p>
          <a:p>
            <a:r>
              <a:rPr lang="en-US" dirty="0" err="1"/>
              <a:t>UnKnown</a:t>
            </a:r>
            <a:r>
              <a:rPr lang="en-US" dirty="0"/>
              <a:t> Region</a:t>
            </a:r>
            <a:r>
              <a:rPr lang="zh-TW" altLang="en-US" dirty="0"/>
              <a:t>則進行正常的去噪流程</a:t>
            </a:r>
            <a:endParaRPr lang="en-US" altLang="zh-TW" dirty="0"/>
          </a:p>
          <a:p>
            <a:r>
              <a:rPr lang="zh-TW" altLang="en-US" dirty="0"/>
              <a:t>兩者會在該步去噪完成後進行拼接</a:t>
            </a:r>
            <a:endParaRPr lang="en-US" altLang="zh-TW" dirty="0"/>
          </a:p>
          <a:p>
            <a:r>
              <a:rPr lang="zh-TW" altLang="en-US" dirty="0"/>
              <a:t>並且為了確保拼接自然，會在拼接後</a:t>
            </a:r>
            <a:r>
              <a:rPr lang="en-US" altLang="zh-TW" dirty="0"/>
              <a:t>resample</a:t>
            </a:r>
            <a:r>
              <a:rPr lang="zh-TW" altLang="en-US" dirty="0"/>
              <a:t>到上一步後再次去噪</a:t>
            </a:r>
            <a:endParaRPr lang="en-US" altLang="zh-TW" dirty="0"/>
          </a:p>
          <a:p>
            <a:r>
              <a:rPr lang="zh-TW" altLang="en-US" dirty="0"/>
              <a:t>此外，為了</a:t>
            </a:r>
            <a:r>
              <a:rPr lang="zh-TW" altLang="en-US" sz="1200" b="0" i="0" kern="1200" dirty="0">
                <a:solidFill>
                  <a:schemeClr val="tx1"/>
                </a:solidFill>
                <a:effectLst/>
                <a:latin typeface="+mn-lt"/>
                <a:ea typeface="+mn-ea"/>
                <a:cs typeface="+mn-cs"/>
              </a:rPr>
              <a:t>讓模型能在整個去噪過程中更有效地整合語義資訊，</a:t>
            </a:r>
            <a:r>
              <a:rPr lang="en-US" altLang="zh-TW" sz="1200" b="0" i="0" kern="1200" dirty="0" err="1">
                <a:solidFill>
                  <a:schemeClr val="tx1"/>
                </a:solidFill>
                <a:effectLst/>
                <a:latin typeface="+mn-lt"/>
                <a:ea typeface="+mn-ea"/>
                <a:cs typeface="+mn-cs"/>
              </a:rPr>
              <a:t>RePaint</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還引入了跳躍長度 </a:t>
            </a:r>
            <a:r>
              <a:rPr lang="en-US" altLang="zh-TW" sz="1200" b="0" i="0" kern="1200" dirty="0">
                <a:solidFill>
                  <a:schemeClr val="tx1"/>
                </a:solidFill>
                <a:effectLst/>
                <a:latin typeface="+mn-lt"/>
                <a:ea typeface="+mn-ea"/>
                <a:cs typeface="+mn-cs"/>
              </a:rPr>
              <a:t>(Jump length)</a:t>
            </a:r>
            <a:r>
              <a:rPr lang="zh-TW" altLang="en-US" sz="1200" b="0" i="0" kern="1200" dirty="0">
                <a:solidFill>
                  <a:schemeClr val="tx1"/>
                </a:solidFill>
                <a:effectLst/>
                <a:latin typeface="+mn-lt"/>
                <a:ea typeface="+mn-ea"/>
                <a:cs typeface="+mn-cs"/>
              </a:rPr>
              <a:t>的概念，透過一次跨越多個時間步長進行反覆的正向與反向操作，提升最終圖像的和諧度與語義合理性</a:t>
            </a:r>
            <a:br>
              <a:rPr lang="zh-TW" altLang="en-US" dirty="0"/>
            </a:br>
            <a:endParaRPr lang="en-US" dirty="0"/>
          </a:p>
          <a:p>
            <a:endParaRPr lang="en-US" dirty="0"/>
          </a:p>
          <a:p>
            <a:r>
              <a:rPr lang="zh-TW" altLang="en-US" dirty="0"/>
              <a:t>雖然這是一個強大的方法，但我認為這不適用於當前情境</a:t>
            </a:r>
            <a:endParaRPr lang="en-US" dirty="0"/>
          </a:p>
          <a:p>
            <a:r>
              <a:rPr lang="zh-TW" altLang="en-US" dirty="0"/>
              <a:t>為了</a:t>
            </a:r>
            <a:r>
              <a:rPr lang="en-US" altLang="zh-TW" dirty="0"/>
              <a:t>1~5</a:t>
            </a:r>
            <a:r>
              <a:rPr dirty="0"/>
              <a:t>像素</a:t>
            </a:r>
            <a:r>
              <a:rPr lang="zh-TW" altLang="en-US" dirty="0"/>
              <a:t>的缺陷</a:t>
            </a:r>
            <a:r>
              <a:rPr dirty="0" err="1"/>
              <a:t>要跑兩百五十到一千步擴散</a:t>
            </a:r>
            <a:r>
              <a:rPr lang="zh-TW" altLang="en-US" dirty="0"/>
              <a:t>、</a:t>
            </a:r>
            <a:r>
              <a:rPr dirty="0" err="1"/>
              <a:t>需要八到十二</a:t>
            </a:r>
            <a:r>
              <a:rPr dirty="0"/>
              <a:t> GB </a:t>
            </a:r>
            <a:r>
              <a:rPr dirty="0" err="1"/>
              <a:t>顯存</a:t>
            </a:r>
            <a:r>
              <a:rPr lang="zh-TW" altLang="en-US" dirty="0"/>
              <a:t>、</a:t>
            </a:r>
            <a:r>
              <a:rPr dirty="0" err="1"/>
              <a:t>延遲是秒到分鐘級</a:t>
            </a:r>
            <a:r>
              <a:rPr lang="zh-TW" altLang="en-US" dirty="0"/>
              <a:t>並不值得</a:t>
            </a:r>
            <a:endParaRPr lang="en-US" altLang="zh-TW" dirty="0"/>
          </a:p>
          <a:p>
            <a:endParaRPr lang="en-US" dirty="0"/>
          </a:p>
          <a:p>
            <a:endParaRPr lang="en-US" dirty="0"/>
          </a:p>
          <a:p>
            <a:r>
              <a:rPr lang="en-US" dirty="0"/>
              <a:t>The first method is </a:t>
            </a:r>
            <a:r>
              <a:rPr lang="en-US" dirty="0" err="1"/>
              <a:t>RePaint.Its</a:t>
            </a:r>
            <a:r>
              <a:rPr lang="en-US" dirty="0"/>
              <a:t> core mechanism is to use a mask to divide the image to be repaired into Known Regions and Unknown </a:t>
            </a:r>
            <a:r>
              <a:rPr lang="en-US" dirty="0" err="1"/>
              <a:t>Regions.During</a:t>
            </a:r>
            <a:r>
              <a:rPr lang="en-US" dirty="0"/>
              <a:t> the denoising process, for Known Regions, the original image is directly supplemented with noise at the corresponding time </a:t>
            </a:r>
            <a:r>
              <a:rPr lang="en-US" dirty="0" err="1"/>
              <a:t>step.Unknown</a:t>
            </a:r>
            <a:r>
              <a:rPr lang="en-US" dirty="0"/>
              <a:t> Regions undergo normal </a:t>
            </a:r>
            <a:r>
              <a:rPr lang="en-US" dirty="0" err="1"/>
              <a:t>denoising.The</a:t>
            </a:r>
            <a:r>
              <a:rPr lang="en-US" dirty="0"/>
              <a:t> two are then stitched together after this denoising </a:t>
            </a:r>
            <a:r>
              <a:rPr lang="en-US" dirty="0" err="1"/>
              <a:t>step.To</a:t>
            </a:r>
            <a:r>
              <a:rPr lang="en-US" dirty="0"/>
              <a:t> ensure a natural stitch, the image is resampled to the previous step and denoised again after </a:t>
            </a:r>
            <a:r>
              <a:rPr lang="en-US" dirty="0" err="1"/>
              <a:t>stitching.Furthermore</a:t>
            </a:r>
            <a:r>
              <a:rPr lang="en-US" dirty="0"/>
              <a:t>, to allow the model to more effectively integrate semantic information throughout the denoising process, </a:t>
            </a:r>
            <a:r>
              <a:rPr lang="en-US" dirty="0" err="1"/>
              <a:t>RePaint</a:t>
            </a:r>
            <a:r>
              <a:rPr lang="en-US" dirty="0"/>
              <a:t> introduces the concept of jump length. By repeatedly performing forward and reverse operations across multiple time steps, it improves the harmony and semantic plausibility of the final </a:t>
            </a:r>
            <a:r>
              <a:rPr lang="en-US" dirty="0" err="1"/>
              <a:t>image.While</a:t>
            </a:r>
            <a:r>
              <a:rPr lang="en-US" dirty="0"/>
              <a:t> this is a powerful method, I believe it is not suitable for the current </a:t>
            </a:r>
            <a:r>
              <a:rPr lang="en-US" dirty="0" err="1"/>
              <a:t>situation.Running</a:t>
            </a:r>
            <a:r>
              <a:rPr lang="en-US" dirty="0"/>
              <a:t> 250 to 1000 diffusion steps for a 1-5 pixel defect, requiring 8 to 12 GB of GPU memory, and with latency in the seconds to minutes range is not worthwhile.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第</a:t>
            </a:r>
            <a:r>
              <a:rPr lang="zh-TW" altLang="en-US" dirty="0"/>
              <a:t>二個方法是</a:t>
            </a:r>
            <a:r>
              <a:rPr dirty="0" err="1"/>
              <a:t>PatchMatch</a:t>
            </a:r>
            <a:endParaRPr lang="en-US" dirty="0"/>
          </a:p>
          <a:p>
            <a:r>
              <a:rPr lang="zh-TW" altLang="en-US" dirty="0"/>
              <a:t>該方法首先用</a:t>
            </a:r>
            <a:r>
              <a:rPr lang="en-US" altLang="zh-TW" dirty="0"/>
              <a:t>slide window</a:t>
            </a:r>
            <a:r>
              <a:rPr lang="zh-TW" altLang="en-US" dirty="0"/>
              <a:t>覆蓋待修補區，取與</a:t>
            </a:r>
            <a:r>
              <a:rPr lang="en-US" altLang="zh-TW" dirty="0"/>
              <a:t>widow</a:t>
            </a:r>
            <a:r>
              <a:rPr lang="zh-TW" altLang="en-US" dirty="0"/>
              <a:t>相同大小的</a:t>
            </a:r>
            <a:r>
              <a:rPr lang="en-US" altLang="zh-TW" dirty="0"/>
              <a:t>patch</a:t>
            </a:r>
            <a:r>
              <a:rPr lang="zh-TW" altLang="en-US" dirty="0"/>
              <a:t>，並隨機取</a:t>
            </a:r>
            <a:r>
              <a:rPr lang="en-US" altLang="zh-TW" dirty="0"/>
              <a:t>source image</a:t>
            </a:r>
            <a:r>
              <a:rPr lang="zh-TW" altLang="en-US" dirty="0"/>
              <a:t>中同樣大小的</a:t>
            </a:r>
            <a:r>
              <a:rPr lang="en-US" altLang="zh-TW" dirty="0"/>
              <a:t>patch</a:t>
            </a:r>
            <a:r>
              <a:rPr lang="zh-TW" altLang="en-US" dirty="0"/>
              <a:t>配對在一起</a:t>
            </a:r>
          </a:p>
          <a:p>
            <a:r>
              <a:rPr lang="zh-TW" altLang="en-US" dirty="0"/>
              <a:t>接著進入迭代優化的階段，</a:t>
            </a:r>
          </a:p>
          <a:p>
            <a:r>
              <a:rPr lang="zh-TW" altLang="en-US" dirty="0"/>
              <a:t>首先，待修補區的每一個</a:t>
            </a:r>
            <a:r>
              <a:rPr lang="en-US" altLang="zh-TW" dirty="0"/>
              <a:t>patch</a:t>
            </a:r>
            <a:r>
              <a:rPr lang="zh-TW" altLang="en-US" dirty="0"/>
              <a:t>，會檢查其鄰居</a:t>
            </a:r>
            <a:r>
              <a:rPr lang="en-US" altLang="zh-TW" dirty="0"/>
              <a:t>patch</a:t>
            </a:r>
            <a:r>
              <a:rPr lang="zh-TW" altLang="en-US" dirty="0"/>
              <a:t>的配對，如果鄰居的結果更好，就直接複製它的</a:t>
            </a:r>
            <a:r>
              <a:rPr lang="en-US" altLang="zh-TW" dirty="0"/>
              <a:t>Offset</a:t>
            </a:r>
          </a:p>
          <a:p>
            <a:r>
              <a:rPr lang="zh-TW" altLang="en-US" dirty="0"/>
              <a:t>接著，每個待修補區</a:t>
            </a:r>
            <a:r>
              <a:rPr lang="en-US" altLang="zh-TW" dirty="0"/>
              <a:t>patch</a:t>
            </a:r>
            <a:r>
              <a:rPr lang="zh-TW" altLang="en-US" dirty="0"/>
              <a:t>以配對到的</a:t>
            </a:r>
            <a:r>
              <a:rPr lang="en-US" altLang="zh-TW" dirty="0"/>
              <a:t>patch</a:t>
            </a:r>
            <a:r>
              <a:rPr lang="zh-TW" altLang="en-US" dirty="0"/>
              <a:t>位置為中心的一定範圍進行隨機抽樣，這個範圍會逐漸縮小直到找到局部最佳解</a:t>
            </a:r>
          </a:p>
          <a:p>
            <a:r>
              <a:rPr lang="zh-TW" altLang="en-US" dirty="0"/>
              <a:t>不斷重複上述步驟，直到達到</a:t>
            </a:r>
            <a:r>
              <a:rPr lang="en-US" altLang="zh-TW" dirty="0"/>
              <a:t>iteration</a:t>
            </a:r>
            <a:r>
              <a:rPr lang="zh-TW" altLang="en-US" dirty="0"/>
              <a:t>次數或者完全收斂</a:t>
            </a:r>
            <a:r>
              <a:rPr lang="en-US" altLang="zh-TW" dirty="0"/>
              <a:t>(</a:t>
            </a:r>
            <a:r>
              <a:rPr lang="zh-TW" altLang="en-US" dirty="0"/>
              <a:t>結果完前相同</a:t>
            </a:r>
            <a:r>
              <a:rPr lang="en-US" altLang="zh-TW" dirty="0"/>
              <a:t>)</a:t>
            </a:r>
          </a:p>
          <a:p>
            <a:endParaRPr lang="en-US" altLang="zh-TW" dirty="0"/>
          </a:p>
          <a:p>
            <a:r>
              <a:rPr lang="zh-TW" altLang="en-US" dirty="0"/>
              <a:t>最後，會得到一個待修補區域的每個</a:t>
            </a:r>
            <a:r>
              <a:rPr lang="en-US" altLang="zh-TW" dirty="0"/>
              <a:t>patch</a:t>
            </a:r>
            <a:r>
              <a:rPr lang="zh-TW" altLang="en-US" dirty="0"/>
              <a:t>與</a:t>
            </a:r>
            <a:r>
              <a:rPr lang="en-US" altLang="zh-TW" dirty="0"/>
              <a:t>source image</a:t>
            </a:r>
            <a:r>
              <a:rPr lang="zh-TW" altLang="en-US" dirty="0"/>
              <a:t>中</a:t>
            </a:r>
            <a:r>
              <a:rPr lang="en-US" altLang="zh-TW" dirty="0"/>
              <a:t>patch</a:t>
            </a:r>
            <a:r>
              <a:rPr lang="zh-TW" altLang="en-US" dirty="0"/>
              <a:t>的對照表</a:t>
            </a:r>
          </a:p>
          <a:p>
            <a:r>
              <a:rPr lang="zh-TW" altLang="en-US" dirty="0"/>
              <a:t>每個待修補區域的</a:t>
            </a:r>
            <a:r>
              <a:rPr lang="en-US" altLang="zh-TW" dirty="0"/>
              <a:t>pixel</a:t>
            </a:r>
            <a:r>
              <a:rPr lang="zh-TW" altLang="en-US" dirty="0"/>
              <a:t>會有多個</a:t>
            </a:r>
            <a:r>
              <a:rPr lang="en-US" altLang="zh-TW" dirty="0"/>
              <a:t>patch</a:t>
            </a:r>
            <a:r>
              <a:rPr lang="zh-TW" altLang="en-US" dirty="0"/>
              <a:t>重疊在上面，會依據每個</a:t>
            </a:r>
            <a:r>
              <a:rPr lang="en-US" altLang="zh-TW" dirty="0"/>
              <a:t>patch</a:t>
            </a:r>
            <a:r>
              <a:rPr lang="zh-TW" altLang="en-US" dirty="0"/>
              <a:t>對應到的</a:t>
            </a:r>
            <a:r>
              <a:rPr lang="en-US" altLang="zh-TW" dirty="0"/>
              <a:t>source match</a:t>
            </a:r>
            <a:r>
              <a:rPr lang="zh-TW" altLang="en-US" dirty="0"/>
              <a:t>上對應位置的</a:t>
            </a:r>
            <a:r>
              <a:rPr lang="en-US" altLang="zh-TW" dirty="0"/>
              <a:t>pixel</a:t>
            </a:r>
            <a:r>
              <a:rPr lang="zh-TW" altLang="en-US" dirty="0"/>
              <a:t>進行投票，選出最合適的顏色</a:t>
            </a:r>
          </a:p>
          <a:p>
            <a:endParaRPr dirty="0"/>
          </a:p>
          <a:p>
            <a:r>
              <a:rPr lang="zh-TW" altLang="en-US" dirty="0"/>
              <a:t>這種方法很適合用於</a:t>
            </a:r>
            <a:r>
              <a:rPr dirty="0" err="1"/>
              <a:t>大面積物件移除、複雜紋理重建</a:t>
            </a:r>
            <a:r>
              <a:rPr lang="zh-TW" altLang="en-US" dirty="0"/>
              <a:t>，並且速度相較於前一種方法快了非常多。</a:t>
            </a:r>
            <a:endParaRPr lang="en-US" altLang="zh-TW" dirty="0"/>
          </a:p>
          <a:p>
            <a:r>
              <a:rPr lang="zh-TW" altLang="en-US" dirty="0"/>
              <a:t>但如先前所述，這種方法更適合大面積的修補，針對為小瑕疵的修補就進行全圖的搜索除了太浪費外，亦可能引入不相關的紋理</a:t>
            </a:r>
            <a:endParaRPr lang="en-US" altLang="zh-TW" dirty="0"/>
          </a:p>
          <a:p>
            <a:endParaRPr lang="en-US" dirty="0"/>
          </a:p>
          <a:p>
            <a:endParaRPr lang="en-US" dirty="0"/>
          </a:p>
          <a:p>
            <a:r>
              <a:rPr lang="en-US" altLang="zh-TW" b="1" dirty="0"/>
              <a:t>"The second method we will be looking at today is </a:t>
            </a:r>
            <a:r>
              <a:rPr lang="en-US" altLang="zh-TW" b="1" dirty="0" err="1"/>
              <a:t>PatchMatch</a:t>
            </a:r>
            <a:r>
              <a:rPr lang="en-US" altLang="zh-TW" b="1" dirty="0"/>
              <a:t>."</a:t>
            </a:r>
            <a:endParaRPr lang="en-US" altLang="zh-TW" dirty="0"/>
          </a:p>
          <a:p>
            <a:r>
              <a:rPr lang="en-US" altLang="zh-TW" dirty="0"/>
              <a:t>"To begin, the algorithm covers the target area—the region we want to </a:t>
            </a:r>
            <a:r>
              <a:rPr lang="en-US" altLang="zh-TW" dirty="0" err="1"/>
              <a:t>inpaint</a:t>
            </a:r>
            <a:r>
              <a:rPr lang="en-US" altLang="zh-TW" dirty="0"/>
              <a:t>—using a sliding window to extract patches of a specific size. Initially, these patches are randomly paired with patches of the exact same size from the available source image.</a:t>
            </a:r>
          </a:p>
          <a:p>
            <a:r>
              <a:rPr lang="en-US" altLang="zh-TW" dirty="0"/>
              <a:t>Next, we enter the </a:t>
            </a:r>
            <a:r>
              <a:rPr lang="en-US" altLang="zh-TW" b="1" dirty="0"/>
              <a:t>iterative optimization phase</a:t>
            </a:r>
            <a:r>
              <a:rPr lang="en-US" altLang="zh-TW" dirty="0"/>
              <a:t>, which is the core of this algorithm. This phase consists of two alternating steps:</a:t>
            </a:r>
          </a:p>
          <a:p>
            <a:r>
              <a:rPr lang="en-US" altLang="zh-TW" b="1" dirty="0"/>
              <a:t>First, Propagation:</a:t>
            </a:r>
            <a:r>
              <a:rPr lang="en-US" altLang="zh-TW" dirty="0"/>
              <a:t> For every patch in the target area, the algorithm checks the matching results of its immediate neighbors. If a neighbor's offset provides a better match—meaning the source patch it points to is more similar—the current patch simply adopts, or copies, that neighbor's offset.</a:t>
            </a:r>
          </a:p>
          <a:p>
            <a:r>
              <a:rPr lang="en-US" altLang="zh-TW" b="1" dirty="0"/>
              <a:t>Second, Random Search:</a:t>
            </a:r>
            <a:r>
              <a:rPr lang="en-US" altLang="zh-TW" dirty="0"/>
              <a:t> Taking the currently matched patch's location in the source image as a center point, the algorithm performs random sampling within a specific radius. This search radius gradually shrinks, allowing the algorithm to fine-tune and find the best local optimum.</a:t>
            </a:r>
          </a:p>
          <a:p>
            <a:r>
              <a:rPr lang="en-US" altLang="zh-TW" dirty="0"/>
              <a:t>These two steps—propagation and random search—are continuously repeated. The loop stops either when it reaches a predefined maximum number of iterations, or when it fully converges, meaning the matching results stop changing.</a:t>
            </a:r>
          </a:p>
          <a:p>
            <a:r>
              <a:rPr lang="en-US" altLang="zh-TW" dirty="0"/>
              <a:t>Ultimately, this iterative process generates a complete lookup table, mapping every single patch in the target area to its best matching patch in the source image.</a:t>
            </a:r>
          </a:p>
          <a:p>
            <a:r>
              <a:rPr lang="en-US" altLang="zh-TW" dirty="0"/>
              <a:t>Now, for the final reconstruction. Because the sliding windows overlap, each individual pixel in the target area will have multiple patches overlapping it. To resolve this, the algorithm uses a voting mechanism. It looks at the corresponding pixels from all the matched source patches and essentially 'votes' or averages them out to determine the most appropriate final color for that specific pixel.</a:t>
            </a:r>
          </a:p>
          <a:p>
            <a:r>
              <a:rPr lang="en-US" altLang="zh-TW" b="1" dirty="0"/>
              <a:t>To summarize its applications:</a:t>
            </a:r>
            <a:r>
              <a:rPr lang="en-US" altLang="zh-TW" dirty="0"/>
              <a:t> This method is incredibly well-suited for large-scale object removal and complex texture reconstruction. Moreover, its speed is significantly faster compared to the previous method we discussed.</a:t>
            </a:r>
          </a:p>
          <a:p>
            <a:r>
              <a:rPr lang="en-US" altLang="zh-TW" dirty="0"/>
              <a:t>However, there is a catch. As I mentioned earlier, </a:t>
            </a:r>
            <a:r>
              <a:rPr lang="en-US" altLang="zh-TW" dirty="0" err="1"/>
              <a:t>PatchMatch</a:t>
            </a:r>
            <a:r>
              <a:rPr lang="en-US" altLang="zh-TW" dirty="0"/>
              <a:t> is primarily designed for large-area inpainting. If we are only trying to fix minor, microscopic blemishes, running a full-image search using this method is not only a waste of computational resources, but it also risks pulling in irrelevant textures from other parts of the image."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第三</a:t>
            </a:r>
            <a:r>
              <a:rPr lang="zh-TW" altLang="en-US" dirty="0"/>
              <a:t>個方法是</a:t>
            </a:r>
            <a:r>
              <a:rPr dirty="0" err="1"/>
              <a:t>Telea</a:t>
            </a:r>
            <a:r>
              <a:rPr dirty="0"/>
              <a:t> FMM</a:t>
            </a:r>
            <a:endParaRPr lang="en-US" dirty="0"/>
          </a:p>
          <a:p>
            <a:r>
              <a:rPr lang="zh-TW" altLang="en-US" dirty="0"/>
              <a:t>算法首先依據使用者提供的遮罩將圖片分成三個區塊</a:t>
            </a:r>
          </a:p>
          <a:p>
            <a:r>
              <a:rPr lang="zh-TW" altLang="en-US" dirty="0"/>
              <a:t>灰色的已知區域、白色的未知區域，以及分隔兩者的紅色邊界</a:t>
            </a:r>
          </a:p>
          <a:p>
            <a:r>
              <a:rPr lang="zh-TW" altLang="en-US" dirty="0"/>
              <a:t>接著，算法會沿著邊界找到破洞內最外圈的像素，稱為</a:t>
            </a:r>
            <a:r>
              <a:rPr lang="en-US" altLang="zh-TW" dirty="0"/>
              <a:t>band 0</a:t>
            </a:r>
            <a:r>
              <a:rPr lang="zh-TW" altLang="en-US" dirty="0"/>
              <a:t>，這也是最先要被修補的地方</a:t>
            </a:r>
          </a:p>
          <a:p>
            <a:r>
              <a:rPr lang="zh-TW" altLang="en-US" dirty="0"/>
              <a:t>接著，算法從</a:t>
            </a:r>
            <a:r>
              <a:rPr lang="en-US" altLang="zh-TW" dirty="0"/>
              <a:t>band 0</a:t>
            </a:r>
            <a:r>
              <a:rPr lang="zh-TW" altLang="en-US" dirty="0"/>
              <a:t>開始走往內走訪每個像素，並記錄對應的抵達時間，作為修補順序的參考</a:t>
            </a:r>
          </a:p>
          <a:p>
            <a:r>
              <a:rPr lang="zh-TW" altLang="en-US" dirty="0"/>
              <a:t>在為每個像素算出順序後，從最先、最早抵達的</a:t>
            </a:r>
            <a:r>
              <a:rPr lang="en-US" altLang="zh-TW" dirty="0"/>
              <a:t>band0</a:t>
            </a:r>
            <a:r>
              <a:rPr lang="zh-TW" altLang="en-US" dirty="0"/>
              <a:t>開始，進行修補</a:t>
            </a:r>
          </a:p>
          <a:p>
            <a:r>
              <a:rPr lang="zh-TW" altLang="en-US" dirty="0"/>
              <a:t>理論上每完成一個像素的修補，就會更新其鄰居的抵達時間，後再選擇抵達時間最早的</a:t>
            </a:r>
            <a:r>
              <a:rPr lang="en-US" altLang="zh-TW" dirty="0"/>
              <a:t>pixel</a:t>
            </a:r>
            <a:r>
              <a:rPr lang="zh-TW" altLang="en-US" dirty="0"/>
              <a:t>進行下一輪修補</a:t>
            </a:r>
          </a:p>
          <a:p>
            <a:r>
              <a:rPr lang="zh-TW" altLang="en-US" dirty="0"/>
              <a:t>但實作上會先計算完所有</a:t>
            </a:r>
            <a:r>
              <a:rPr lang="en-US" altLang="zh-TW" dirty="0"/>
              <a:t>pixel</a:t>
            </a:r>
            <a:r>
              <a:rPr lang="zh-TW" altLang="en-US" dirty="0"/>
              <a:t>的抵達時間後依序進行修補</a:t>
            </a:r>
            <a:endParaRPr lang="en-US" dirty="0"/>
          </a:p>
          <a:p>
            <a:endParaRPr lang="en-US" dirty="0"/>
          </a:p>
          <a:p>
            <a:r>
              <a:rPr lang="en-US" altLang="zh-TW" dirty="0"/>
              <a:t>The third method is the </a:t>
            </a:r>
            <a:r>
              <a:rPr lang="en-US" altLang="zh-TW" dirty="0" err="1"/>
              <a:t>Telea</a:t>
            </a:r>
            <a:r>
              <a:rPr lang="en-US" altLang="zh-TW" dirty="0"/>
              <a:t> FMM.</a:t>
            </a:r>
          </a:p>
          <a:p>
            <a:r>
              <a:rPr lang="en-US" altLang="zh-TW" dirty="0"/>
              <a:t>First, the algorithm divides the image into three regions based on the mask provided by the user: the gray known region, the white unknown region, and the red boundary separating the two.</a:t>
            </a:r>
          </a:p>
          <a:p>
            <a:r>
              <a:rPr lang="en-US" altLang="zh-TW" dirty="0"/>
              <a:t>Next, the algorithm traces along the boundary to find the outermost ring of pixels inside the hole. This is called "band 0," and it is the very first area to be </a:t>
            </a:r>
            <a:r>
              <a:rPr lang="en-US" altLang="zh-TW" dirty="0" err="1"/>
              <a:t>inpainted</a:t>
            </a:r>
            <a:r>
              <a:rPr lang="en-US" altLang="zh-TW" dirty="0"/>
              <a:t>.</a:t>
            </a:r>
          </a:p>
          <a:p>
            <a:r>
              <a:rPr lang="en-US" altLang="zh-TW" dirty="0"/>
              <a:t>Starting from band 0, the algorithm traverses inward, visiting each pixel and recording its corresponding "arrival time." This time serves as a reference for the inpainting sequence. After calculating the order for every pixel, the inpainting process begins from band 0, which has the earliest arrival time.</a:t>
            </a:r>
          </a:p>
          <a:p>
            <a:r>
              <a:rPr lang="en-US" altLang="zh-TW" dirty="0"/>
              <a:t>Theoretically, every time a pixel is </a:t>
            </a:r>
            <a:r>
              <a:rPr lang="en-US" altLang="zh-TW" dirty="0" err="1"/>
              <a:t>inpainted</a:t>
            </a:r>
            <a:r>
              <a:rPr lang="en-US" altLang="zh-TW" dirty="0"/>
              <a:t>, its neighbors' arrival times are updated, and the pixel with the next earliest arrival time is chosen for the next round. In actual implementation, however, the algorithm first computes the arrival times for all pixels and then carries out the inpainting sequentially.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TW" altLang="en-US" dirty="0"/>
              <a:t>對於要修補的點</a:t>
            </a:r>
            <a:r>
              <a:rPr lang="en-US" altLang="zh-TW" dirty="0"/>
              <a:t>P</a:t>
            </a:r>
            <a:r>
              <a:rPr lang="zh-TW" altLang="en-US" dirty="0"/>
              <a:t>，會參考半徑範圍內的所有已知鄰居點</a:t>
            </a:r>
            <a:r>
              <a:rPr lang="en-US" altLang="zh-TW" dirty="0"/>
              <a:t>q</a:t>
            </a:r>
          </a:p>
          <a:p>
            <a:r>
              <a:rPr lang="zh-TW" altLang="en-US" dirty="0"/>
              <a:t>對於每個鄰居點</a:t>
            </a:r>
            <a:r>
              <a:rPr lang="en-US" altLang="zh-TW" dirty="0"/>
              <a:t>q</a:t>
            </a:r>
            <a:r>
              <a:rPr lang="zh-TW" altLang="en-US" dirty="0"/>
              <a:t>，會用一階近似推測由</a:t>
            </a:r>
            <a:r>
              <a:rPr lang="en-US" altLang="zh-TW" dirty="0"/>
              <a:t>q</a:t>
            </a:r>
            <a:r>
              <a:rPr lang="zh-TW" altLang="en-US" dirty="0"/>
              <a:t>往</a:t>
            </a:r>
            <a:r>
              <a:rPr lang="en-US" altLang="zh-TW" dirty="0"/>
              <a:t>p</a:t>
            </a:r>
            <a:r>
              <a:rPr lang="zh-TW" altLang="en-US" dirty="0"/>
              <a:t>處延伸，</a:t>
            </a:r>
            <a:r>
              <a:rPr lang="en-US" altLang="zh-TW" dirty="0"/>
              <a:t>p</a:t>
            </a:r>
            <a:r>
              <a:rPr lang="zh-TW" altLang="en-US" dirty="0"/>
              <a:t>點應該要是什麼顏色</a:t>
            </a:r>
          </a:p>
          <a:p>
            <a:r>
              <a:rPr lang="zh-TW" altLang="en-US" dirty="0"/>
              <a:t>接著，會依據</a:t>
            </a:r>
            <a:r>
              <a:rPr lang="en-US" altLang="zh-TW" dirty="0"/>
              <a:t>q</a:t>
            </a:r>
            <a:r>
              <a:rPr lang="zh-TW" altLang="en-US" dirty="0"/>
              <a:t>指向</a:t>
            </a:r>
            <a:r>
              <a:rPr lang="en-US" altLang="zh-TW" dirty="0"/>
              <a:t>p</a:t>
            </a:r>
            <a:r>
              <a:rPr lang="zh-TW" altLang="en-US" dirty="0"/>
              <a:t>的方向性、距離以及</a:t>
            </a:r>
            <a:r>
              <a:rPr lang="en-US" altLang="zh-TW" dirty="0"/>
              <a:t>q</a:t>
            </a:r>
            <a:r>
              <a:rPr lang="zh-TW" altLang="en-US" dirty="0"/>
              <a:t>抵達</a:t>
            </a:r>
            <a:r>
              <a:rPr lang="en-US" altLang="zh-TW" dirty="0"/>
              <a:t>p</a:t>
            </a:r>
            <a:r>
              <a:rPr lang="zh-TW" altLang="en-US" dirty="0"/>
              <a:t>的時間對應的輪廓層次計算出權重</a:t>
            </a:r>
            <a:r>
              <a:rPr lang="en-US" altLang="zh-TW" dirty="0"/>
              <a:t>w</a:t>
            </a:r>
          </a:p>
          <a:p>
            <a:r>
              <a:rPr lang="zh-TW" altLang="en-US" dirty="0"/>
              <a:t>完成所有</a:t>
            </a:r>
            <a:r>
              <a:rPr lang="en-US" altLang="zh-TW" dirty="0"/>
              <a:t>q</a:t>
            </a:r>
            <a:r>
              <a:rPr lang="zh-TW" altLang="en-US" dirty="0"/>
              <a:t>點對</a:t>
            </a:r>
            <a:r>
              <a:rPr lang="en-US" altLang="zh-TW" dirty="0"/>
              <a:t>p</a:t>
            </a:r>
            <a:r>
              <a:rPr lang="zh-TW" altLang="en-US" dirty="0"/>
              <a:t>點顏色的預測及權重後，將所有預測進行加權得到要填入</a:t>
            </a:r>
            <a:r>
              <a:rPr lang="en-US" altLang="zh-TW" dirty="0"/>
              <a:t>p</a:t>
            </a:r>
            <a:r>
              <a:rPr lang="zh-TW" altLang="en-US" dirty="0"/>
              <a:t>點的顏色</a:t>
            </a:r>
          </a:p>
          <a:p>
            <a:r>
              <a:rPr lang="zh-TW" altLang="en-US" dirty="0"/>
              <a:t>當所有像素都按照順序完成修補，就能得到完成修復的圖片</a:t>
            </a:r>
            <a:endParaRPr lang="en-US" altLang="zh-TW" dirty="0"/>
          </a:p>
          <a:p>
            <a:endParaRPr lang="en-US" altLang="zh-TW" dirty="0"/>
          </a:p>
          <a:p>
            <a:r>
              <a:rPr lang="zh-TW" altLang="en-US" dirty="0"/>
              <a:t>由於演算法不會去整張圖搜尋，只會看破洞附近的像素並用周圍顏色往內填補</a:t>
            </a:r>
            <a:endParaRPr lang="en-US" altLang="zh-TW" dirty="0"/>
          </a:p>
          <a:p>
            <a:r>
              <a:rPr lang="zh-TW" altLang="en-US" dirty="0"/>
              <a:t>速度快且適合填補小空缺，非常適合我們此刻的問題</a:t>
            </a:r>
            <a:endParaRPr lang="en-US" altLang="zh-TW" dirty="0"/>
          </a:p>
          <a:p>
            <a:endParaRPr lang="en-US" altLang="zh-TW" dirty="0"/>
          </a:p>
          <a:p>
            <a:r>
              <a:rPr lang="en-US" altLang="zh-TW" dirty="0"/>
              <a:t>For a target point P to be </a:t>
            </a:r>
            <a:r>
              <a:rPr lang="en-US" altLang="zh-TW" dirty="0" err="1"/>
              <a:t>inpainted</a:t>
            </a:r>
            <a:r>
              <a:rPr lang="en-US" altLang="zh-TW" dirty="0"/>
              <a:t>, the algorithm looks at all known neighboring points q within a specific radius. For each neighbor q, it uses a first-order approximation to estimate what color point P should be, as if extending from q to P.</a:t>
            </a:r>
          </a:p>
          <a:p>
            <a:r>
              <a:rPr lang="en-US" altLang="zh-TW" dirty="0"/>
              <a:t>Then, a weight is calculated based on three factors: the direction from q to P, the geometric distance, and the level set corresponding to the arrival time. Once the color predictions and weights from all points q are calculated, they are combined using a weighted average to get the final color to fill into point P.</a:t>
            </a:r>
          </a:p>
          <a:p>
            <a:r>
              <a:rPr lang="en-US" altLang="zh-TW" dirty="0"/>
              <a:t>When all pixels are </a:t>
            </a:r>
            <a:r>
              <a:rPr lang="en-US" altLang="zh-TW" dirty="0" err="1"/>
              <a:t>inpainted</a:t>
            </a:r>
            <a:r>
              <a:rPr lang="en-US" altLang="zh-TW" dirty="0"/>
              <a:t> in this calculated order, we get the fully restored image.</a:t>
            </a:r>
          </a:p>
          <a:p>
            <a:r>
              <a:rPr lang="en-US" altLang="zh-TW" dirty="0"/>
              <a:t>Because this algorithm doesn't search through the entire image, but instead only looks at the pixels near the hole and fills inward using surrounding colors, it is very fast and highly suitable for filling small gaps. This makes it a perfect fit for the problem we are trying to solve right now.</a:t>
            </a:r>
          </a:p>
          <a:p>
            <a:endParaRPr lang="zh-TW" altLang="en-US"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接下來介紹我的計畫</a:t>
            </a:r>
            <a:r>
              <a:rPr dirty="0"/>
              <a:t>。</a:t>
            </a:r>
            <a:endParaRPr lang="en-US" dirty="0"/>
          </a:p>
          <a:p>
            <a:r>
              <a:rPr dirty="0" err="1"/>
              <a:t>系統分四個步驟</a:t>
            </a:r>
            <a:r>
              <a:rPr dirty="0"/>
              <a:t>：</a:t>
            </a:r>
            <a:endParaRPr lang="en-US" dirty="0"/>
          </a:p>
          <a:p>
            <a:r>
              <a:rPr dirty="0" err="1"/>
              <a:t>一、用拉普拉斯加</a:t>
            </a:r>
            <a:r>
              <a:rPr lang="en-US" altLang="zh-TW" sz="1200" dirty="0" err="1"/>
              <a:t>Median</a:t>
            </a:r>
            <a:r>
              <a:rPr lang="en-US" altLang="zh-TW" sz="1200" dirty="0"/>
              <a:t> Residual</a:t>
            </a:r>
            <a:r>
              <a:rPr lang="zh-TW" altLang="en-US" sz="1200" dirty="0"/>
              <a:t>以</a:t>
            </a:r>
            <a:r>
              <a:rPr dirty="0" err="1"/>
              <a:t>亮度</a:t>
            </a:r>
            <a:r>
              <a:rPr lang="zh-TW" altLang="en-US" dirty="0"/>
              <a:t>作為</a:t>
            </a:r>
            <a:r>
              <a:rPr dirty="0" err="1"/>
              <a:t>閾值找出候選像素，再透過CCA與方差過濾去除誤報，得到精準遮罩</a:t>
            </a:r>
            <a:r>
              <a:rPr dirty="0"/>
              <a:t>；</a:t>
            </a:r>
            <a:endParaRPr lang="en-US" dirty="0"/>
          </a:p>
          <a:p>
            <a:r>
              <a:rPr dirty="0" err="1"/>
              <a:t>二、交給Telea</a:t>
            </a:r>
            <a:r>
              <a:rPr dirty="0"/>
              <a:t> </a:t>
            </a:r>
            <a:r>
              <a:rPr dirty="0" err="1"/>
              <a:t>FMM進行修補</a:t>
            </a:r>
            <a:r>
              <a:rPr dirty="0"/>
              <a:t>；</a:t>
            </a:r>
            <a:endParaRPr lang="en-US" dirty="0"/>
          </a:p>
          <a:p>
            <a:r>
              <a:rPr dirty="0" err="1"/>
              <a:t>三、提供帶紅色遮罩預覽的GUI供即時參數調整</a:t>
            </a:r>
            <a:r>
              <a:rPr lang="zh-TW" altLang="en-US" dirty="0"/>
              <a:t>甚至讓使用者對遮罩進行編輯</a:t>
            </a:r>
            <a:r>
              <a:rPr dirty="0"/>
              <a:t>；</a:t>
            </a:r>
            <a:endParaRPr lang="en-US" dirty="0"/>
          </a:p>
          <a:p>
            <a:endParaRPr lang="en-US" dirty="0"/>
          </a:p>
          <a:p>
            <a:endParaRPr lang="en-US" dirty="0"/>
          </a:p>
          <a:p>
            <a:r>
              <a:rPr lang="zh-TW" altLang="en-US" dirty="0"/>
              <a:t>此計畫的難點在於：</a:t>
            </a:r>
            <a:endParaRPr lang="en-US" dirty="0"/>
          </a:p>
          <a:p>
            <a:r>
              <a:rPr lang="zh-TW" altLang="en-US" dirty="0"/>
              <a:t>一 、</a:t>
            </a:r>
            <a:r>
              <a:rPr dirty="0" err="1"/>
              <a:t>合法亮點與artifact</a:t>
            </a:r>
            <a:r>
              <a:rPr lang="zh-TW" altLang="en-US" dirty="0"/>
              <a:t>有時候非常相似，難以區分他們</a:t>
            </a:r>
            <a:endParaRPr lang="en-US" altLang="zh-TW" dirty="0"/>
          </a:p>
          <a:p>
            <a:r>
              <a:rPr lang="zh-TW" altLang="en-US" dirty="0"/>
              <a:t>二、有時候噪點並非表現為亮度非常凸顯，而是呈現微與周圍格格不入的純色塊</a:t>
            </a:r>
            <a:endParaRPr lang="en-US" altLang="zh-TW" dirty="0"/>
          </a:p>
          <a:p>
            <a:r>
              <a:rPr lang="zh-TW" altLang="en-US" dirty="0"/>
              <a:t>三、細長自然結構（如髮絲、細線）具有極高的局部對比與銳利度。局部梯度偵測很容易將這些銳利細節的片段誤判為孤立的噪點。</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最後是參考資料。論文部分引用三篇：Telea 2004年的FMM inpainting原始論文、Barnes 2009年的PatchMatch，以及Lugmayr 2022年的RePaint。開源函式庫使用OpenCV的cv2.inpaint做FMM修補、NumPy做遮罩計算、ComfyUI做節點打包、Pillow做圖片格式轉換。以上是我的報告，謝謝大家。</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385" y="1846333"/>
            <a:ext cx="6670010" cy="1323439"/>
          </a:xfrm>
          <a:prstGeom prst="rect">
            <a:avLst/>
          </a:prstGeom>
          <a:noFill/>
        </p:spPr>
        <p:txBody>
          <a:bodyPr wrap="square">
            <a:spAutoFit/>
          </a:bodyPr>
          <a:lstStyle/>
          <a:p>
            <a:pPr>
              <a:defRPr sz="4000" b="1">
                <a:solidFill>
                  <a:srgbClr val="1E293B"/>
                </a:solidFill>
                <a:latin typeface="Trebuchet MS"/>
              </a:defRPr>
            </a:pPr>
            <a:r>
              <a:rPr dirty="0"/>
              <a:t>Fixing S</a:t>
            </a:r>
            <a:r>
              <a:rPr lang="en-US" dirty="0"/>
              <a:t>table Diffusion</a:t>
            </a:r>
            <a:br>
              <a:rPr dirty="0"/>
            </a:br>
            <a:r>
              <a:rPr lang="en-US" altLang="zh-TW" dirty="0"/>
              <a:t>VAE </a:t>
            </a:r>
            <a:r>
              <a:rPr lang="en-US" altLang="zh-TW" sz="4000" b="1" dirty="0"/>
              <a:t>Spurious Bright Pixels</a:t>
            </a:r>
            <a:endParaRPr dirty="0"/>
          </a:p>
        </p:txBody>
      </p:sp>
      <p:sp>
        <p:nvSpPr>
          <p:cNvPr id="4" name="TextBox 3"/>
          <p:cNvSpPr txBox="1"/>
          <p:nvPr/>
        </p:nvSpPr>
        <p:spPr>
          <a:xfrm>
            <a:off x="524540" y="3200400"/>
            <a:ext cx="5486400" cy="461665"/>
          </a:xfrm>
          <a:prstGeom prst="rect">
            <a:avLst/>
          </a:prstGeom>
          <a:noFill/>
        </p:spPr>
        <p:txBody>
          <a:bodyPr wrap="square">
            <a:spAutoFit/>
          </a:bodyPr>
          <a:lstStyle/>
          <a:p>
            <a:pPr algn="l">
              <a:spcAft>
                <a:spcPts val="0"/>
              </a:spcAft>
              <a:defRPr sz="1800" b="0">
                <a:solidFill>
                  <a:srgbClr val="2D6AD4"/>
                </a:solidFill>
                <a:latin typeface="Calibri"/>
              </a:defRPr>
            </a:pPr>
            <a:r>
              <a:rPr sz="2400" dirty="0"/>
              <a:t>A Lightweight Traditional CV Approach</a:t>
            </a:r>
          </a:p>
        </p:txBody>
      </p:sp>
      <p:sp>
        <p:nvSpPr>
          <p:cNvPr id="5" name="Rectangle 4"/>
          <p:cNvSpPr/>
          <p:nvPr/>
        </p:nvSpPr>
        <p:spPr>
          <a:xfrm>
            <a:off x="524540" y="3749039"/>
            <a:ext cx="1828800" cy="27432"/>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524540" y="3977639"/>
            <a:ext cx="5486400" cy="276999"/>
          </a:xfrm>
          <a:prstGeom prst="rect">
            <a:avLst/>
          </a:prstGeom>
          <a:noFill/>
        </p:spPr>
        <p:txBody>
          <a:bodyPr wrap="square">
            <a:spAutoFit/>
          </a:bodyPr>
          <a:lstStyle/>
          <a:p>
            <a:pPr algn="l">
              <a:spcAft>
                <a:spcPts val="0"/>
              </a:spcAft>
              <a:defRPr sz="1300" b="0">
                <a:solidFill>
                  <a:srgbClr val="6B7280"/>
                </a:solidFill>
                <a:latin typeface="Calibri"/>
              </a:defRPr>
            </a:pPr>
            <a:r>
              <a:rPr sz="1200" dirty="0"/>
              <a:t>Image Processing &amp; Visual Effects  |  </a:t>
            </a:r>
            <a:r>
              <a:rPr lang="en-US" sz="1200" dirty="0"/>
              <a:t>Term</a:t>
            </a:r>
            <a:r>
              <a:rPr sz="1200" dirty="0"/>
              <a:t> Proposal</a:t>
            </a:r>
          </a:p>
        </p:txBody>
      </p:sp>
      <p:sp>
        <p:nvSpPr>
          <p:cNvPr id="7" name="TextBox 6"/>
          <p:cNvSpPr txBox="1"/>
          <p:nvPr/>
        </p:nvSpPr>
        <p:spPr>
          <a:xfrm>
            <a:off x="524540" y="4297680"/>
            <a:ext cx="5486400" cy="261610"/>
          </a:xfrm>
          <a:prstGeom prst="rect">
            <a:avLst/>
          </a:prstGeom>
          <a:noFill/>
        </p:spPr>
        <p:txBody>
          <a:bodyPr wrap="square">
            <a:spAutoFit/>
          </a:bodyPr>
          <a:lstStyle/>
          <a:p>
            <a:pPr algn="l">
              <a:spcAft>
                <a:spcPts val="0"/>
              </a:spcAft>
              <a:defRPr sz="1200" b="0">
                <a:solidFill>
                  <a:srgbClr val="6B7280"/>
                </a:solidFill>
                <a:latin typeface="Calibri"/>
              </a:defRPr>
            </a:pPr>
            <a:r>
              <a:rPr sz="1100"/>
              <a:t>NYCU  |  Spring 2026</a:t>
            </a:r>
          </a:p>
        </p:txBody>
      </p:sp>
      <p:pic>
        <p:nvPicPr>
          <p:cNvPr id="8" name="Picture 7" descr="003.png"/>
          <p:cNvPicPr>
            <a:picLocks noChangeAspect="1"/>
          </p:cNvPicPr>
          <p:nvPr/>
        </p:nvPicPr>
        <p:blipFill>
          <a:blip r:embed="rId3"/>
          <a:stretch>
            <a:fillRect/>
          </a:stretch>
        </p:blipFill>
        <p:spPr>
          <a:xfrm>
            <a:off x="6343649" y="274673"/>
            <a:ext cx="5671141" cy="5671141"/>
          </a:xfrm>
          <a:prstGeom prst="rect">
            <a:avLst/>
          </a:prstGeom>
        </p:spPr>
      </p:pic>
      <p:sp>
        <p:nvSpPr>
          <p:cNvPr id="9" name="Rectangle 8"/>
          <p:cNvSpPr/>
          <p:nvPr/>
        </p:nvSpPr>
        <p:spPr>
          <a:xfrm>
            <a:off x="0" y="6537960"/>
            <a:ext cx="12191695" cy="32004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76999"/>
          </a:xfrm>
          <a:prstGeom prst="rect">
            <a:avLst/>
          </a:prstGeom>
          <a:noFill/>
        </p:spPr>
        <p:txBody>
          <a:bodyPr wrap="square">
            <a:spAutoFit/>
          </a:bodyPr>
          <a:lstStyle/>
          <a:p>
            <a:pPr algn="l">
              <a:spcAft>
                <a:spcPts val="0"/>
              </a:spcAft>
              <a:defRPr sz="1000" b="1">
                <a:solidFill>
                  <a:srgbClr val="2D6AD4"/>
                </a:solidFill>
                <a:latin typeface="Calibri"/>
              </a:defRPr>
            </a:pPr>
            <a:r>
              <a:rPr sz="1200" dirty="0"/>
              <a:t>01  PROBLEM &amp; MOTIVATION</a:t>
            </a:r>
          </a:p>
        </p:txBody>
      </p:sp>
      <p:sp>
        <p:nvSpPr>
          <p:cNvPr id="4" name="TextBox 3"/>
          <p:cNvSpPr txBox="1"/>
          <p:nvPr/>
        </p:nvSpPr>
        <p:spPr>
          <a:xfrm>
            <a:off x="640080" y="457200"/>
            <a:ext cx="6400800" cy="523220"/>
          </a:xfrm>
          <a:prstGeom prst="rect">
            <a:avLst/>
          </a:prstGeom>
          <a:noFill/>
        </p:spPr>
        <p:txBody>
          <a:bodyPr wrap="square">
            <a:spAutoFit/>
          </a:bodyPr>
          <a:lstStyle/>
          <a:p>
            <a:pPr>
              <a:defRPr sz="2800" b="1">
                <a:solidFill>
                  <a:srgbClr val="1E293B"/>
                </a:solidFill>
                <a:latin typeface="Trebuchet MS"/>
              </a:defRPr>
            </a:pPr>
            <a:r>
              <a:rPr dirty="0"/>
              <a:t>What Are VAE </a:t>
            </a:r>
            <a:r>
              <a:rPr lang="en-US" altLang="zh-TW" sz="2800" b="1" dirty="0"/>
              <a:t>Spurious Bright Pixels</a:t>
            </a:r>
            <a:r>
              <a:rPr dirty="0"/>
              <a:t>?</a:t>
            </a:r>
          </a:p>
        </p:txBody>
      </p:sp>
      <p:pic>
        <p:nvPicPr>
          <p:cNvPr id="19" name="圖片 18">
            <a:extLst>
              <a:ext uri="{FF2B5EF4-FFF2-40B4-BE49-F238E27FC236}">
                <a16:creationId xmlns:a16="http://schemas.microsoft.com/office/drawing/2014/main" id="{C792860D-1FEF-7945-2DDD-9F811A015BD9}"/>
              </a:ext>
            </a:extLst>
          </p:cNvPr>
          <p:cNvPicPr>
            <a:picLocks noChangeAspect="1"/>
          </p:cNvPicPr>
          <p:nvPr/>
        </p:nvPicPr>
        <p:blipFill>
          <a:blip r:embed="rId3"/>
          <a:srcRect t="10064"/>
          <a:stretch>
            <a:fillRect/>
          </a:stretch>
        </p:blipFill>
        <p:spPr>
          <a:xfrm>
            <a:off x="-305" y="980420"/>
            <a:ext cx="12192000" cy="54824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76999"/>
          </a:xfrm>
          <a:prstGeom prst="rect">
            <a:avLst/>
          </a:prstGeom>
          <a:noFill/>
        </p:spPr>
        <p:txBody>
          <a:bodyPr wrap="square">
            <a:spAutoFit/>
          </a:bodyPr>
          <a:lstStyle/>
          <a:p>
            <a:pPr algn="l">
              <a:spcAft>
                <a:spcPts val="0"/>
              </a:spcAft>
              <a:defRPr sz="1000" b="1">
                <a:solidFill>
                  <a:srgbClr val="2D6AD4"/>
                </a:solidFill>
                <a:latin typeface="Calibri"/>
              </a:defRPr>
            </a:pPr>
            <a:r>
              <a:rPr sz="1200" dirty="0"/>
              <a:t>02  RELATED WORK</a:t>
            </a:r>
          </a:p>
        </p:txBody>
      </p:sp>
      <p:sp>
        <p:nvSpPr>
          <p:cNvPr id="4" name="TextBox 3"/>
          <p:cNvSpPr txBox="1"/>
          <p:nvPr/>
        </p:nvSpPr>
        <p:spPr>
          <a:xfrm>
            <a:off x="640080" y="457200"/>
            <a:ext cx="9144000" cy="411480"/>
          </a:xfrm>
          <a:prstGeom prst="rect">
            <a:avLst/>
          </a:prstGeom>
          <a:noFill/>
        </p:spPr>
        <p:txBody>
          <a:bodyPr wrap="square">
            <a:spAutoFit/>
          </a:bodyPr>
          <a:lstStyle/>
          <a:p>
            <a:pPr algn="l">
              <a:spcAft>
                <a:spcPts val="0"/>
              </a:spcAft>
              <a:defRPr sz="2800" b="1">
                <a:solidFill>
                  <a:srgbClr val="1E293B"/>
                </a:solidFill>
                <a:latin typeface="Trebuchet MS"/>
              </a:defRPr>
            </a:pPr>
            <a:r>
              <a:rPr dirty="0"/>
              <a:t>Three Inpainting Paradigms</a:t>
            </a:r>
          </a:p>
        </p:txBody>
      </p:sp>
      <p:sp>
        <p:nvSpPr>
          <p:cNvPr id="5" name="TextBox 4"/>
          <p:cNvSpPr txBox="1"/>
          <p:nvPr/>
        </p:nvSpPr>
        <p:spPr>
          <a:xfrm>
            <a:off x="640080" y="868680"/>
            <a:ext cx="9144000" cy="274320"/>
          </a:xfrm>
          <a:prstGeom prst="rect">
            <a:avLst/>
          </a:prstGeom>
          <a:noFill/>
        </p:spPr>
        <p:txBody>
          <a:bodyPr wrap="square">
            <a:spAutoFit/>
          </a:bodyPr>
          <a:lstStyle/>
          <a:p>
            <a:pPr algn="l">
              <a:spcAft>
                <a:spcPts val="0"/>
              </a:spcAft>
              <a:defRPr sz="1300" b="0">
                <a:solidFill>
                  <a:srgbClr val="6B7280"/>
                </a:solidFill>
                <a:latin typeface="Calibri"/>
              </a:defRPr>
            </a:pPr>
            <a:r>
              <a:rPr dirty="0"/>
              <a:t>Which method best suits micro-scale VAE artifact repair?</a:t>
            </a:r>
          </a:p>
        </p:txBody>
      </p:sp>
      <p:sp>
        <p:nvSpPr>
          <p:cNvPr id="6" name="Rectangle 5"/>
          <p:cNvSpPr/>
          <p:nvPr/>
        </p:nvSpPr>
        <p:spPr>
          <a:xfrm>
            <a:off x="640080" y="1280160"/>
            <a:ext cx="3383280" cy="5029200"/>
          </a:xfrm>
          <a:prstGeom prst="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280160"/>
            <a:ext cx="3383280" cy="5029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14700" y="1577340"/>
            <a:ext cx="3017520" cy="201168"/>
          </a:xfrm>
          <a:prstGeom prst="rect">
            <a:avLst/>
          </a:prstGeom>
          <a:noFill/>
        </p:spPr>
        <p:txBody>
          <a:bodyPr wrap="square">
            <a:spAutoFit/>
          </a:bodyPr>
          <a:lstStyle/>
          <a:p>
            <a:pPr algn="l">
              <a:spcAft>
                <a:spcPts val="0"/>
              </a:spcAft>
              <a:defRPr sz="1000" b="0">
                <a:solidFill>
                  <a:srgbClr val="FFFFFF"/>
                </a:solidFill>
                <a:latin typeface="Calibri"/>
              </a:defRPr>
            </a:pPr>
            <a:r>
              <a:rPr dirty="0"/>
              <a:t>CVPR 2022</a:t>
            </a:r>
          </a:p>
        </p:txBody>
      </p:sp>
      <p:sp>
        <p:nvSpPr>
          <p:cNvPr id="9" name="TextBox 8"/>
          <p:cNvSpPr txBox="1"/>
          <p:nvPr/>
        </p:nvSpPr>
        <p:spPr>
          <a:xfrm>
            <a:off x="1037435" y="1428690"/>
            <a:ext cx="1289453" cy="400110"/>
          </a:xfrm>
          <a:prstGeom prst="rect">
            <a:avLst/>
          </a:prstGeom>
          <a:noFill/>
        </p:spPr>
        <p:txBody>
          <a:bodyPr wrap="square">
            <a:spAutoFit/>
          </a:bodyPr>
          <a:lstStyle/>
          <a:p>
            <a:pPr algn="l">
              <a:spcAft>
                <a:spcPts val="0"/>
              </a:spcAft>
              <a:defRPr sz="2000" b="1">
                <a:solidFill>
                  <a:srgbClr val="FFFFFF"/>
                </a:solidFill>
                <a:latin typeface="Trebuchet MS"/>
              </a:defRPr>
            </a:pPr>
            <a:r>
              <a:rPr dirty="0" err="1"/>
              <a:t>RePaint</a:t>
            </a:r>
            <a:endParaRPr dirty="0"/>
          </a:p>
        </p:txBody>
      </p:sp>
      <p:sp>
        <p:nvSpPr>
          <p:cNvPr id="10" name="TextBox 9"/>
          <p:cNvSpPr txBox="1"/>
          <p:nvPr/>
        </p:nvSpPr>
        <p:spPr>
          <a:xfrm>
            <a:off x="822960" y="1920240"/>
            <a:ext cx="3017520" cy="228600"/>
          </a:xfrm>
          <a:prstGeom prst="rect">
            <a:avLst/>
          </a:prstGeom>
          <a:noFill/>
        </p:spPr>
        <p:txBody>
          <a:bodyPr wrap="square">
            <a:spAutoFit/>
          </a:bodyPr>
          <a:lstStyle/>
          <a:p>
            <a:pPr algn="l">
              <a:spcAft>
                <a:spcPts val="0"/>
              </a:spcAft>
              <a:defRPr sz="1200" b="1">
                <a:solidFill>
                  <a:srgbClr val="DC2626"/>
                </a:solidFill>
                <a:latin typeface="Calibri"/>
              </a:defRPr>
            </a:pPr>
            <a:r>
              <a:rPr dirty="0"/>
              <a:t>Diffusion-Based</a:t>
            </a:r>
          </a:p>
        </p:txBody>
      </p:sp>
      <p:sp>
        <p:nvSpPr>
          <p:cNvPr id="11" name="TextBox 10"/>
          <p:cNvSpPr txBox="1"/>
          <p:nvPr/>
        </p:nvSpPr>
        <p:spPr>
          <a:xfrm>
            <a:off x="822960" y="2240280"/>
            <a:ext cx="3017520" cy="731520"/>
          </a:xfrm>
          <a:prstGeom prst="rect">
            <a:avLst/>
          </a:prstGeom>
          <a:noFill/>
        </p:spPr>
        <p:txBody>
          <a:bodyPr wrap="square">
            <a:spAutoFit/>
          </a:bodyPr>
          <a:lstStyle/>
          <a:p>
            <a:pPr algn="l">
              <a:spcAft>
                <a:spcPts val="0"/>
              </a:spcAft>
              <a:defRPr sz="1100" b="0">
                <a:solidFill>
                  <a:srgbClr val="4B5563"/>
                </a:solidFill>
                <a:latin typeface="Calibri"/>
              </a:defRPr>
            </a:pPr>
            <a:r>
              <a:rPr dirty="0"/>
              <a:t>Pretrained DDPM prior;</a:t>
            </a:r>
            <a:br>
              <a:rPr dirty="0"/>
            </a:br>
            <a:r>
              <a:rPr dirty="0"/>
              <a:t>resample for coherence</a:t>
            </a:r>
          </a:p>
        </p:txBody>
      </p:sp>
      <p:pic>
        <p:nvPicPr>
          <p:cNvPr id="12" name="Picture 11" descr="repaint_diagram.png"/>
          <p:cNvPicPr>
            <a:picLocks noChangeAspect="1"/>
          </p:cNvPicPr>
          <p:nvPr/>
        </p:nvPicPr>
        <p:blipFill>
          <a:blip r:embed="rId3"/>
          <a:stretch>
            <a:fillRect/>
          </a:stretch>
        </p:blipFill>
        <p:spPr>
          <a:xfrm>
            <a:off x="731520" y="3203079"/>
            <a:ext cx="3200400" cy="1318366"/>
          </a:xfrm>
          <a:prstGeom prst="rect">
            <a:avLst/>
          </a:prstGeom>
        </p:spPr>
      </p:pic>
      <p:sp>
        <p:nvSpPr>
          <p:cNvPr id="13" name="Rectangle 12"/>
          <p:cNvSpPr/>
          <p:nvPr/>
        </p:nvSpPr>
        <p:spPr>
          <a:xfrm>
            <a:off x="731520" y="5760720"/>
            <a:ext cx="3200400" cy="3657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7435" y="5858515"/>
            <a:ext cx="3017520" cy="261610"/>
          </a:xfrm>
          <a:prstGeom prst="rect">
            <a:avLst/>
          </a:prstGeom>
          <a:noFill/>
        </p:spPr>
        <p:txBody>
          <a:bodyPr wrap="square">
            <a:spAutoFit/>
          </a:bodyPr>
          <a:lstStyle/>
          <a:p>
            <a:pPr algn="ctr">
              <a:spcAft>
                <a:spcPts val="0"/>
              </a:spcAft>
              <a:defRPr sz="1100" b="1">
                <a:solidFill>
                  <a:srgbClr val="DC2626"/>
                </a:solidFill>
                <a:latin typeface="Calibri"/>
              </a:defRPr>
            </a:pPr>
            <a:r>
              <a:rPr dirty="0"/>
              <a:t>Too heavy for </a:t>
            </a:r>
            <a:r>
              <a:rPr lang="en-US" dirty="0"/>
              <a:t>small</a:t>
            </a:r>
            <a:r>
              <a:rPr dirty="0"/>
              <a:t> pixels</a:t>
            </a:r>
          </a:p>
        </p:txBody>
      </p:sp>
      <p:sp>
        <p:nvSpPr>
          <p:cNvPr id="15" name="Rectangle 14"/>
          <p:cNvSpPr/>
          <p:nvPr/>
        </p:nvSpPr>
        <p:spPr>
          <a:xfrm>
            <a:off x="4434840" y="1280160"/>
            <a:ext cx="3383280" cy="5029200"/>
          </a:xfrm>
          <a:prstGeom prst="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434840" y="1280160"/>
            <a:ext cx="3383280" cy="502920"/>
          </a:xfrm>
          <a:prstGeom prst="rect">
            <a:avLst/>
          </a:prstGeom>
          <a:solidFill>
            <a:srgbClr val="EA8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8452" y="1553419"/>
            <a:ext cx="3017520" cy="246221"/>
          </a:xfrm>
          <a:prstGeom prst="rect">
            <a:avLst/>
          </a:prstGeom>
          <a:noFill/>
        </p:spPr>
        <p:txBody>
          <a:bodyPr wrap="square">
            <a:spAutoFit/>
          </a:bodyPr>
          <a:lstStyle/>
          <a:p>
            <a:pPr algn="l">
              <a:spcAft>
                <a:spcPts val="0"/>
              </a:spcAft>
              <a:defRPr sz="1000" b="0">
                <a:solidFill>
                  <a:srgbClr val="FFFFFF"/>
                </a:solidFill>
                <a:latin typeface="Calibri"/>
              </a:defRPr>
            </a:pPr>
            <a:r>
              <a:rPr lang="en-US" altLang="zh-TW" dirty="0"/>
              <a:t>ACM</a:t>
            </a:r>
            <a:r>
              <a:rPr dirty="0"/>
              <a:t> 2009</a:t>
            </a:r>
          </a:p>
        </p:txBody>
      </p:sp>
      <p:sp>
        <p:nvSpPr>
          <p:cNvPr id="18" name="TextBox 17"/>
          <p:cNvSpPr txBox="1"/>
          <p:nvPr/>
        </p:nvSpPr>
        <p:spPr>
          <a:xfrm>
            <a:off x="4617720" y="1428690"/>
            <a:ext cx="3108960" cy="400110"/>
          </a:xfrm>
          <a:prstGeom prst="rect">
            <a:avLst/>
          </a:prstGeom>
          <a:noFill/>
        </p:spPr>
        <p:txBody>
          <a:bodyPr wrap="square">
            <a:spAutoFit/>
          </a:bodyPr>
          <a:lstStyle/>
          <a:p>
            <a:pPr algn="l">
              <a:spcAft>
                <a:spcPts val="0"/>
              </a:spcAft>
              <a:defRPr sz="2000" b="1">
                <a:solidFill>
                  <a:srgbClr val="FFFFFF"/>
                </a:solidFill>
                <a:latin typeface="Trebuchet MS"/>
              </a:defRPr>
            </a:pPr>
            <a:r>
              <a:rPr dirty="0" err="1"/>
              <a:t>PatchMatch</a:t>
            </a:r>
            <a:endParaRPr dirty="0"/>
          </a:p>
        </p:txBody>
      </p:sp>
      <p:sp>
        <p:nvSpPr>
          <p:cNvPr id="19" name="TextBox 18"/>
          <p:cNvSpPr txBox="1"/>
          <p:nvPr/>
        </p:nvSpPr>
        <p:spPr>
          <a:xfrm>
            <a:off x="4617720" y="1920240"/>
            <a:ext cx="3017520" cy="228600"/>
          </a:xfrm>
          <a:prstGeom prst="rect">
            <a:avLst/>
          </a:prstGeom>
          <a:noFill/>
        </p:spPr>
        <p:txBody>
          <a:bodyPr wrap="square">
            <a:spAutoFit/>
          </a:bodyPr>
          <a:lstStyle/>
          <a:p>
            <a:pPr algn="l">
              <a:spcAft>
                <a:spcPts val="0"/>
              </a:spcAft>
              <a:defRPr sz="1200" b="1">
                <a:solidFill>
                  <a:srgbClr val="EA880F"/>
                </a:solidFill>
                <a:latin typeface="Calibri"/>
              </a:defRPr>
            </a:pPr>
            <a:r>
              <a:rPr dirty="0"/>
              <a:t>Patch-Based NNF</a:t>
            </a:r>
          </a:p>
        </p:txBody>
      </p:sp>
      <p:sp>
        <p:nvSpPr>
          <p:cNvPr id="20" name="TextBox 19"/>
          <p:cNvSpPr txBox="1"/>
          <p:nvPr/>
        </p:nvSpPr>
        <p:spPr>
          <a:xfrm>
            <a:off x="4617720" y="2240280"/>
            <a:ext cx="3017520" cy="731520"/>
          </a:xfrm>
          <a:prstGeom prst="rect">
            <a:avLst/>
          </a:prstGeom>
          <a:noFill/>
        </p:spPr>
        <p:txBody>
          <a:bodyPr wrap="square">
            <a:spAutoFit/>
          </a:bodyPr>
          <a:lstStyle/>
          <a:p>
            <a:pPr algn="l">
              <a:spcAft>
                <a:spcPts val="0"/>
              </a:spcAft>
              <a:defRPr sz="1100" b="0">
                <a:solidFill>
                  <a:srgbClr val="4B5563"/>
                </a:solidFill>
                <a:latin typeface="Calibri"/>
              </a:defRPr>
            </a:pPr>
            <a:r>
              <a:t>Randomized NNF search;</a:t>
            </a:r>
            <a:br/>
            <a:r>
              <a:t>patch copy from full image</a:t>
            </a:r>
          </a:p>
        </p:txBody>
      </p:sp>
      <p:pic>
        <p:nvPicPr>
          <p:cNvPr id="21" name="Picture 20" descr="patchmatch_diagram.png"/>
          <p:cNvPicPr>
            <a:picLocks noChangeAspect="1"/>
          </p:cNvPicPr>
          <p:nvPr/>
        </p:nvPicPr>
        <p:blipFill>
          <a:blip r:embed="rId4"/>
          <a:stretch>
            <a:fillRect/>
          </a:stretch>
        </p:blipFill>
        <p:spPr>
          <a:xfrm>
            <a:off x="4526280" y="3108960"/>
            <a:ext cx="3200400" cy="1197291"/>
          </a:xfrm>
          <a:prstGeom prst="rect">
            <a:avLst/>
          </a:prstGeom>
        </p:spPr>
      </p:pic>
      <p:sp>
        <p:nvSpPr>
          <p:cNvPr id="22" name="Rectangle 21"/>
          <p:cNvSpPr/>
          <p:nvPr/>
        </p:nvSpPr>
        <p:spPr>
          <a:xfrm>
            <a:off x="4495647" y="5742432"/>
            <a:ext cx="3200400" cy="3657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17720" y="5788152"/>
            <a:ext cx="3017520" cy="274320"/>
          </a:xfrm>
          <a:prstGeom prst="rect">
            <a:avLst/>
          </a:prstGeom>
          <a:noFill/>
        </p:spPr>
        <p:txBody>
          <a:bodyPr wrap="square">
            <a:spAutoFit/>
          </a:bodyPr>
          <a:lstStyle/>
          <a:p>
            <a:pPr algn="ctr">
              <a:spcAft>
                <a:spcPts val="0"/>
              </a:spcAft>
              <a:defRPr sz="1100" b="1">
                <a:solidFill>
                  <a:srgbClr val="EA880F"/>
                </a:solidFill>
                <a:latin typeface="Calibri"/>
              </a:defRPr>
            </a:pPr>
            <a:r>
              <a:rPr dirty="0"/>
              <a:t>Over-engineered for tiny holes</a:t>
            </a:r>
          </a:p>
        </p:txBody>
      </p:sp>
      <p:sp>
        <p:nvSpPr>
          <p:cNvPr id="24" name="Rectangle 23"/>
          <p:cNvSpPr/>
          <p:nvPr/>
        </p:nvSpPr>
        <p:spPr>
          <a:xfrm>
            <a:off x="8229600" y="1280160"/>
            <a:ext cx="3383280" cy="5029200"/>
          </a:xfrm>
          <a:prstGeom prst="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29600" y="1280160"/>
            <a:ext cx="3383280" cy="502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99563" y="1559610"/>
            <a:ext cx="3017520" cy="201168"/>
          </a:xfrm>
          <a:prstGeom prst="rect">
            <a:avLst/>
          </a:prstGeom>
          <a:noFill/>
        </p:spPr>
        <p:txBody>
          <a:bodyPr wrap="square">
            <a:spAutoFit/>
          </a:bodyPr>
          <a:lstStyle/>
          <a:p>
            <a:pPr algn="l">
              <a:spcAft>
                <a:spcPts val="0"/>
              </a:spcAft>
              <a:defRPr sz="1000" b="0">
                <a:solidFill>
                  <a:srgbClr val="FFFFFF"/>
                </a:solidFill>
                <a:latin typeface="Calibri"/>
              </a:defRPr>
            </a:pPr>
            <a:r>
              <a:rPr dirty="0"/>
              <a:t>JGT 2004</a:t>
            </a:r>
          </a:p>
        </p:txBody>
      </p:sp>
      <p:sp>
        <p:nvSpPr>
          <p:cNvPr id="27" name="TextBox 26"/>
          <p:cNvSpPr txBox="1"/>
          <p:nvPr/>
        </p:nvSpPr>
        <p:spPr>
          <a:xfrm>
            <a:off x="8412480" y="1415089"/>
            <a:ext cx="3017520" cy="256032"/>
          </a:xfrm>
          <a:prstGeom prst="rect">
            <a:avLst/>
          </a:prstGeom>
          <a:noFill/>
        </p:spPr>
        <p:txBody>
          <a:bodyPr wrap="square">
            <a:spAutoFit/>
          </a:bodyPr>
          <a:lstStyle/>
          <a:p>
            <a:pPr algn="l">
              <a:spcAft>
                <a:spcPts val="0"/>
              </a:spcAft>
              <a:defRPr sz="2000" b="1">
                <a:solidFill>
                  <a:srgbClr val="FFFFFF"/>
                </a:solidFill>
                <a:latin typeface="Trebuchet MS"/>
              </a:defRPr>
            </a:pPr>
            <a:r>
              <a:rPr dirty="0" err="1"/>
              <a:t>Telea</a:t>
            </a:r>
            <a:r>
              <a:rPr dirty="0"/>
              <a:t> FMM</a:t>
            </a:r>
          </a:p>
        </p:txBody>
      </p:sp>
      <p:sp>
        <p:nvSpPr>
          <p:cNvPr id="28" name="TextBox 27"/>
          <p:cNvSpPr txBox="1"/>
          <p:nvPr/>
        </p:nvSpPr>
        <p:spPr>
          <a:xfrm>
            <a:off x="8412480" y="1920240"/>
            <a:ext cx="3017520" cy="276999"/>
          </a:xfrm>
          <a:prstGeom prst="rect">
            <a:avLst/>
          </a:prstGeom>
          <a:noFill/>
        </p:spPr>
        <p:txBody>
          <a:bodyPr wrap="square">
            <a:spAutoFit/>
          </a:bodyPr>
          <a:lstStyle/>
          <a:p>
            <a:pPr>
              <a:defRPr sz="1200" b="1">
                <a:solidFill>
                  <a:srgbClr val="16A34A"/>
                </a:solidFill>
                <a:latin typeface="Calibri"/>
              </a:defRPr>
            </a:pPr>
            <a:r>
              <a:rPr lang="en-US" altLang="zh-TW" sz="1200" b="1" dirty="0"/>
              <a:t>Boundary Diffusion</a:t>
            </a:r>
            <a:endParaRPr dirty="0"/>
          </a:p>
        </p:txBody>
      </p:sp>
      <p:sp>
        <p:nvSpPr>
          <p:cNvPr id="29" name="TextBox 28"/>
          <p:cNvSpPr txBox="1"/>
          <p:nvPr/>
        </p:nvSpPr>
        <p:spPr>
          <a:xfrm>
            <a:off x="8412480" y="2240280"/>
            <a:ext cx="3017520" cy="731520"/>
          </a:xfrm>
          <a:prstGeom prst="rect">
            <a:avLst/>
          </a:prstGeom>
          <a:noFill/>
        </p:spPr>
        <p:txBody>
          <a:bodyPr wrap="square">
            <a:spAutoFit/>
          </a:bodyPr>
          <a:lstStyle/>
          <a:p>
            <a:pPr algn="l">
              <a:spcAft>
                <a:spcPts val="0"/>
              </a:spcAft>
              <a:defRPr sz="1100" b="0">
                <a:solidFill>
                  <a:srgbClr val="4B5563"/>
                </a:solidFill>
                <a:latin typeface="Calibri"/>
              </a:defRPr>
            </a:pPr>
            <a:r>
              <a:t>Boundary propagation;</a:t>
            </a:r>
            <a:br/>
            <a:r>
              <a:t>isophote-preserving avg</a:t>
            </a:r>
          </a:p>
        </p:txBody>
      </p:sp>
      <p:pic>
        <p:nvPicPr>
          <p:cNvPr id="30" name="Picture 29" descr="telea_fmm_diagram.png"/>
          <p:cNvPicPr>
            <a:picLocks noChangeAspect="1"/>
          </p:cNvPicPr>
          <p:nvPr/>
        </p:nvPicPr>
        <p:blipFill>
          <a:blip r:embed="rId5"/>
          <a:stretch>
            <a:fillRect/>
          </a:stretch>
        </p:blipFill>
        <p:spPr>
          <a:xfrm>
            <a:off x="8321040" y="3108960"/>
            <a:ext cx="3200400" cy="1459264"/>
          </a:xfrm>
          <a:prstGeom prst="rect">
            <a:avLst/>
          </a:prstGeom>
        </p:spPr>
      </p:pic>
      <p:sp>
        <p:nvSpPr>
          <p:cNvPr id="31" name="Rectangle 30"/>
          <p:cNvSpPr/>
          <p:nvPr/>
        </p:nvSpPr>
        <p:spPr>
          <a:xfrm>
            <a:off x="8321040" y="5760720"/>
            <a:ext cx="3200400" cy="36576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80" y="5788152"/>
            <a:ext cx="3017520" cy="261610"/>
          </a:xfrm>
          <a:prstGeom prst="rect">
            <a:avLst/>
          </a:prstGeom>
          <a:noFill/>
        </p:spPr>
        <p:txBody>
          <a:bodyPr wrap="square">
            <a:spAutoFit/>
          </a:bodyPr>
          <a:lstStyle/>
          <a:p>
            <a:pPr algn="ctr">
              <a:spcAft>
                <a:spcPts val="0"/>
              </a:spcAft>
              <a:defRPr sz="1100" b="1">
                <a:solidFill>
                  <a:srgbClr val="16A34A"/>
                </a:solidFill>
                <a:latin typeface="Calibri"/>
              </a:defRPr>
            </a:pPr>
            <a:r>
              <a:rPr lang="en-US" altLang="zh-TW" sz="1100" dirty="0"/>
              <a:t>Suitable</a:t>
            </a:r>
            <a:r>
              <a:rPr dirty="0"/>
              <a:t> for </a:t>
            </a:r>
            <a:r>
              <a:rPr lang="en-US" dirty="0"/>
              <a:t>small region </a:t>
            </a:r>
            <a:r>
              <a:rPr dirty="0"/>
              <a:t>repair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pic>
        <p:nvPicPr>
          <p:cNvPr id="21" name="圖片 20">
            <a:extLst>
              <a:ext uri="{FF2B5EF4-FFF2-40B4-BE49-F238E27FC236}">
                <a16:creationId xmlns:a16="http://schemas.microsoft.com/office/drawing/2014/main" id="{E32918A6-0BBC-EF7D-0A0C-BB9800302A82}"/>
              </a:ext>
            </a:extLst>
          </p:cNvPr>
          <p:cNvPicPr>
            <a:picLocks noChangeAspect="1"/>
          </p:cNvPicPr>
          <p:nvPr/>
        </p:nvPicPr>
        <p:blipFill>
          <a:blip r:embed="rId3"/>
          <a:srcRect/>
          <a:stretch/>
        </p:blipFill>
        <p:spPr>
          <a:xfrm>
            <a:off x="367343" y="950688"/>
            <a:ext cx="11457008" cy="5875724"/>
          </a:xfrm>
          <a:prstGeom prst="rect">
            <a:avLst/>
          </a:prstGeom>
        </p:spPr>
      </p:pic>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76999"/>
          </a:xfrm>
          <a:prstGeom prst="rect">
            <a:avLst/>
          </a:prstGeom>
          <a:noFill/>
        </p:spPr>
        <p:txBody>
          <a:bodyPr wrap="square">
            <a:spAutoFit/>
          </a:bodyPr>
          <a:lstStyle/>
          <a:p>
            <a:pPr algn="l">
              <a:spcAft>
                <a:spcPts val="0"/>
              </a:spcAft>
              <a:defRPr sz="1000" b="1">
                <a:solidFill>
                  <a:srgbClr val="2D6AD4"/>
                </a:solidFill>
                <a:latin typeface="Calibri"/>
              </a:defRPr>
            </a:pPr>
            <a:r>
              <a:rPr sz="1200" dirty="0"/>
              <a:t>02  RELATED WORK  ▸  </a:t>
            </a:r>
            <a:r>
              <a:rPr sz="1200" dirty="0" err="1"/>
              <a:t>RePaint</a:t>
            </a:r>
            <a:r>
              <a:rPr sz="1200" dirty="0"/>
              <a:t> (CVPR 2022)</a:t>
            </a:r>
          </a:p>
        </p:txBody>
      </p:sp>
      <p:sp>
        <p:nvSpPr>
          <p:cNvPr id="4" name="TextBox 3"/>
          <p:cNvSpPr txBox="1"/>
          <p:nvPr/>
        </p:nvSpPr>
        <p:spPr>
          <a:xfrm>
            <a:off x="640080" y="457200"/>
            <a:ext cx="9144000" cy="411480"/>
          </a:xfrm>
          <a:prstGeom prst="rect">
            <a:avLst/>
          </a:prstGeom>
          <a:noFill/>
        </p:spPr>
        <p:txBody>
          <a:bodyPr wrap="square">
            <a:spAutoFit/>
          </a:bodyPr>
          <a:lstStyle/>
          <a:p>
            <a:pPr algn="l">
              <a:spcAft>
                <a:spcPts val="0"/>
              </a:spcAft>
              <a:defRPr sz="2600" b="1">
                <a:solidFill>
                  <a:srgbClr val="1E293B"/>
                </a:solidFill>
                <a:latin typeface="Trebuchet MS"/>
              </a:defRPr>
            </a:pPr>
            <a:r>
              <a:t>RePaint: Diffusion-Based Inpainting</a:t>
            </a:r>
          </a:p>
        </p:txBody>
      </p:sp>
      <p:sp>
        <p:nvSpPr>
          <p:cNvPr id="9" name="Rectangle 8"/>
          <p:cNvSpPr/>
          <p:nvPr/>
        </p:nvSpPr>
        <p:spPr>
          <a:xfrm>
            <a:off x="640080" y="3566160"/>
            <a:ext cx="10789920" cy="2743200"/>
          </a:xfrm>
          <a:prstGeom prst="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657600"/>
            <a:ext cx="5486400" cy="274320"/>
          </a:xfrm>
          <a:prstGeom prst="rect">
            <a:avLst/>
          </a:prstGeom>
          <a:noFill/>
        </p:spPr>
        <p:txBody>
          <a:bodyPr wrap="square">
            <a:spAutoFit/>
          </a:bodyPr>
          <a:lstStyle/>
          <a:p>
            <a:pPr algn="l">
              <a:spcAft>
                <a:spcPts val="0"/>
              </a:spcAft>
              <a:defRPr sz="1600" b="1">
                <a:solidFill>
                  <a:srgbClr val="DC2626"/>
                </a:solidFill>
                <a:latin typeface="Calibri"/>
              </a:defRPr>
            </a:pPr>
            <a:r>
              <a:rPr dirty="0"/>
              <a:t>Why NOT Suitable for Our Problem?</a:t>
            </a:r>
          </a:p>
        </p:txBody>
      </p:sp>
      <p:sp>
        <p:nvSpPr>
          <p:cNvPr id="11" name="TextBox 10"/>
          <p:cNvSpPr txBox="1"/>
          <p:nvPr/>
        </p:nvSpPr>
        <p:spPr>
          <a:xfrm>
            <a:off x="914400" y="4114800"/>
            <a:ext cx="2743200" cy="548640"/>
          </a:xfrm>
          <a:prstGeom prst="rect">
            <a:avLst/>
          </a:prstGeom>
          <a:noFill/>
        </p:spPr>
        <p:txBody>
          <a:bodyPr wrap="square">
            <a:spAutoFit/>
          </a:bodyPr>
          <a:lstStyle/>
          <a:p>
            <a:pPr algn="l">
              <a:spcAft>
                <a:spcPts val="0"/>
              </a:spcAft>
              <a:defRPr sz="2600" b="1">
                <a:solidFill>
                  <a:srgbClr val="DC2626"/>
                </a:solidFill>
                <a:latin typeface="Trebuchet MS"/>
              </a:defRPr>
            </a:pPr>
            <a:r>
              <a:rPr dirty="0"/>
              <a:t>250-1000</a:t>
            </a:r>
          </a:p>
        </p:txBody>
      </p:sp>
      <p:sp>
        <p:nvSpPr>
          <p:cNvPr id="12" name="TextBox 11"/>
          <p:cNvSpPr txBox="1"/>
          <p:nvPr/>
        </p:nvSpPr>
        <p:spPr>
          <a:xfrm>
            <a:off x="914400" y="4754880"/>
            <a:ext cx="2743200" cy="640080"/>
          </a:xfrm>
          <a:prstGeom prst="rect">
            <a:avLst/>
          </a:prstGeom>
          <a:noFill/>
        </p:spPr>
        <p:txBody>
          <a:bodyPr wrap="square">
            <a:spAutoFit/>
          </a:bodyPr>
          <a:lstStyle/>
          <a:p>
            <a:pPr algn="l">
              <a:spcAft>
                <a:spcPts val="0"/>
              </a:spcAft>
              <a:defRPr sz="1200" b="0">
                <a:solidFill>
                  <a:srgbClr val="4B5563"/>
                </a:solidFill>
                <a:latin typeface="Calibri"/>
              </a:defRPr>
            </a:pPr>
            <a:r>
              <a:rPr dirty="0"/>
              <a:t>diffusion steps</a:t>
            </a:r>
            <a:br>
              <a:rPr dirty="0"/>
            </a:br>
            <a:r>
              <a:rPr dirty="0"/>
              <a:t>for 3 pixels</a:t>
            </a:r>
          </a:p>
        </p:txBody>
      </p:sp>
      <p:sp>
        <p:nvSpPr>
          <p:cNvPr id="13" name="TextBox 12"/>
          <p:cNvSpPr txBox="1"/>
          <p:nvPr/>
        </p:nvSpPr>
        <p:spPr>
          <a:xfrm>
            <a:off x="4572000" y="4114800"/>
            <a:ext cx="2743200" cy="548640"/>
          </a:xfrm>
          <a:prstGeom prst="rect">
            <a:avLst/>
          </a:prstGeom>
          <a:noFill/>
        </p:spPr>
        <p:txBody>
          <a:bodyPr wrap="square">
            <a:spAutoFit/>
          </a:bodyPr>
          <a:lstStyle/>
          <a:p>
            <a:pPr algn="l">
              <a:spcAft>
                <a:spcPts val="0"/>
              </a:spcAft>
              <a:defRPr sz="2600" b="1">
                <a:solidFill>
                  <a:srgbClr val="DC2626"/>
                </a:solidFill>
                <a:latin typeface="Trebuchet MS"/>
              </a:defRPr>
            </a:pPr>
            <a:r>
              <a:rPr dirty="0"/>
              <a:t>8-12 GB</a:t>
            </a:r>
          </a:p>
        </p:txBody>
      </p:sp>
      <p:sp>
        <p:nvSpPr>
          <p:cNvPr id="14" name="TextBox 13"/>
          <p:cNvSpPr txBox="1"/>
          <p:nvPr/>
        </p:nvSpPr>
        <p:spPr>
          <a:xfrm>
            <a:off x="4572000" y="4754880"/>
            <a:ext cx="2743200" cy="461665"/>
          </a:xfrm>
          <a:prstGeom prst="rect">
            <a:avLst/>
          </a:prstGeom>
          <a:noFill/>
        </p:spPr>
        <p:txBody>
          <a:bodyPr wrap="square">
            <a:spAutoFit/>
          </a:bodyPr>
          <a:lstStyle/>
          <a:p>
            <a:pPr algn="l">
              <a:spcAft>
                <a:spcPts val="0"/>
              </a:spcAft>
              <a:defRPr sz="1200" b="0">
                <a:solidFill>
                  <a:srgbClr val="4B5563"/>
                </a:solidFill>
                <a:latin typeface="Calibri"/>
              </a:defRPr>
            </a:pPr>
            <a:r>
              <a:rPr dirty="0"/>
              <a:t>VRAM</a:t>
            </a:r>
            <a:r>
              <a:rPr lang="en-US" dirty="0"/>
              <a:t> at</a:t>
            </a:r>
          </a:p>
          <a:p>
            <a:pPr algn="l">
              <a:spcAft>
                <a:spcPts val="0"/>
              </a:spcAft>
              <a:defRPr sz="1200" b="0">
                <a:solidFill>
                  <a:srgbClr val="4B5563"/>
                </a:solidFill>
                <a:latin typeface="Calibri"/>
              </a:defRPr>
            </a:pPr>
            <a:r>
              <a:rPr lang="en-US" dirty="0"/>
              <a:t>256x256</a:t>
            </a:r>
            <a:endParaRPr dirty="0"/>
          </a:p>
        </p:txBody>
      </p:sp>
      <p:sp>
        <p:nvSpPr>
          <p:cNvPr id="15" name="TextBox 14"/>
          <p:cNvSpPr txBox="1"/>
          <p:nvPr/>
        </p:nvSpPr>
        <p:spPr>
          <a:xfrm>
            <a:off x="8229600" y="4114800"/>
            <a:ext cx="2743200" cy="548640"/>
          </a:xfrm>
          <a:prstGeom prst="rect">
            <a:avLst/>
          </a:prstGeom>
          <a:noFill/>
        </p:spPr>
        <p:txBody>
          <a:bodyPr wrap="square">
            <a:spAutoFit/>
          </a:bodyPr>
          <a:lstStyle/>
          <a:p>
            <a:pPr algn="l">
              <a:spcAft>
                <a:spcPts val="0"/>
              </a:spcAft>
              <a:defRPr sz="2600" b="1">
                <a:solidFill>
                  <a:srgbClr val="DC2626"/>
                </a:solidFill>
                <a:latin typeface="Trebuchet MS"/>
              </a:defRPr>
            </a:pPr>
            <a:r>
              <a:t>sec ~ min</a:t>
            </a:r>
          </a:p>
        </p:txBody>
      </p:sp>
      <p:sp>
        <p:nvSpPr>
          <p:cNvPr id="16" name="TextBox 15"/>
          <p:cNvSpPr txBox="1"/>
          <p:nvPr/>
        </p:nvSpPr>
        <p:spPr>
          <a:xfrm>
            <a:off x="8229600" y="4754880"/>
            <a:ext cx="2743200" cy="640080"/>
          </a:xfrm>
          <a:prstGeom prst="rect">
            <a:avLst/>
          </a:prstGeom>
          <a:noFill/>
        </p:spPr>
        <p:txBody>
          <a:bodyPr wrap="square">
            <a:spAutoFit/>
          </a:bodyPr>
          <a:lstStyle/>
          <a:p>
            <a:pPr algn="l">
              <a:spcAft>
                <a:spcPts val="0"/>
              </a:spcAft>
              <a:defRPr sz="1200" b="0">
                <a:solidFill>
                  <a:srgbClr val="4B5563"/>
                </a:solidFill>
                <a:latin typeface="Calibri"/>
              </a:defRPr>
            </a:pPr>
            <a:r>
              <a:t>latency per</a:t>
            </a:r>
            <a:br/>
            <a:r>
              <a:t>single image</a:t>
            </a:r>
          </a:p>
        </p:txBody>
      </p:sp>
      <p:sp>
        <p:nvSpPr>
          <p:cNvPr id="17" name="TextBox 16"/>
          <p:cNvSpPr txBox="1"/>
          <p:nvPr/>
        </p:nvSpPr>
        <p:spPr>
          <a:xfrm>
            <a:off x="914400" y="5669280"/>
            <a:ext cx="10058400" cy="365760"/>
          </a:xfrm>
          <a:prstGeom prst="rect">
            <a:avLst/>
          </a:prstGeom>
          <a:noFill/>
        </p:spPr>
        <p:txBody>
          <a:bodyPr wrap="square">
            <a:spAutoFit/>
          </a:bodyPr>
          <a:lstStyle/>
          <a:p>
            <a:pPr algn="l">
              <a:spcAft>
                <a:spcPts val="0"/>
              </a:spcAft>
              <a:defRPr sz="1300" b="0">
                <a:solidFill>
                  <a:srgbClr val="6B7280"/>
                </a:solidFill>
                <a:latin typeface="Calibri"/>
              </a:defRPr>
            </a:pPr>
            <a:r>
              <a:t>Semantic generation is powerful — but unnecessary for impulse noise repair.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p:bldP spid="13" grpId="0"/>
      <p:bldP spid="14" grpId="0"/>
      <p:bldP spid="15" grpId="0"/>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pic>
        <p:nvPicPr>
          <p:cNvPr id="18" name="圖片 17">
            <a:extLst>
              <a:ext uri="{FF2B5EF4-FFF2-40B4-BE49-F238E27FC236}">
                <a16:creationId xmlns:a16="http://schemas.microsoft.com/office/drawing/2014/main" id="{E1C59898-B19F-E1CF-75B0-A8BEDDFE89D3}"/>
              </a:ext>
            </a:extLst>
          </p:cNvPr>
          <p:cNvPicPr>
            <a:picLocks noChangeAspect="1"/>
          </p:cNvPicPr>
          <p:nvPr/>
        </p:nvPicPr>
        <p:blipFill>
          <a:blip r:embed="rId3"/>
          <a:stretch>
            <a:fillRect/>
          </a:stretch>
        </p:blipFill>
        <p:spPr>
          <a:xfrm>
            <a:off x="0" y="1185545"/>
            <a:ext cx="12192000" cy="4730750"/>
          </a:xfrm>
          <a:prstGeom prst="rect">
            <a:avLst/>
          </a:prstGeom>
        </p:spPr>
      </p:pic>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46221"/>
          </a:xfrm>
          <a:prstGeom prst="rect">
            <a:avLst/>
          </a:prstGeom>
          <a:noFill/>
        </p:spPr>
        <p:txBody>
          <a:bodyPr wrap="square">
            <a:spAutoFit/>
          </a:bodyPr>
          <a:lstStyle/>
          <a:p>
            <a:pPr>
              <a:defRPr sz="1000" b="1">
                <a:solidFill>
                  <a:srgbClr val="2D6AD4"/>
                </a:solidFill>
                <a:latin typeface="Calibri"/>
              </a:defRPr>
            </a:pPr>
            <a:r>
              <a:rPr dirty="0"/>
              <a:t>02  RELATED WORK  ▸  </a:t>
            </a:r>
            <a:r>
              <a:rPr dirty="0" err="1"/>
              <a:t>PatchMatch</a:t>
            </a:r>
            <a:r>
              <a:rPr dirty="0"/>
              <a:t> (</a:t>
            </a:r>
            <a:r>
              <a:rPr lang="en-US" altLang="zh-TW" sz="1000" b="1" dirty="0"/>
              <a:t>ACM SIGGRAPH 2009</a:t>
            </a:r>
            <a:r>
              <a:rPr dirty="0"/>
              <a:t>)</a:t>
            </a:r>
          </a:p>
        </p:txBody>
      </p:sp>
      <p:sp>
        <p:nvSpPr>
          <p:cNvPr id="4" name="TextBox 3"/>
          <p:cNvSpPr txBox="1"/>
          <p:nvPr/>
        </p:nvSpPr>
        <p:spPr>
          <a:xfrm>
            <a:off x="640080" y="457200"/>
            <a:ext cx="9144000" cy="411480"/>
          </a:xfrm>
          <a:prstGeom prst="rect">
            <a:avLst/>
          </a:prstGeom>
          <a:noFill/>
        </p:spPr>
        <p:txBody>
          <a:bodyPr wrap="square">
            <a:spAutoFit/>
          </a:bodyPr>
          <a:lstStyle/>
          <a:p>
            <a:pPr algn="l">
              <a:spcAft>
                <a:spcPts val="0"/>
              </a:spcAft>
              <a:defRPr sz="2400" b="1">
                <a:solidFill>
                  <a:srgbClr val="1E293B"/>
                </a:solidFill>
                <a:latin typeface="Trebuchet MS"/>
              </a:defRPr>
            </a:pPr>
            <a:r>
              <a:t>PatchMatch: Randomized Patch-Based Synthesis</a:t>
            </a:r>
          </a:p>
        </p:txBody>
      </p:sp>
      <p:sp>
        <p:nvSpPr>
          <p:cNvPr id="9" name="Rectangle 8"/>
          <p:cNvSpPr/>
          <p:nvPr/>
        </p:nvSpPr>
        <p:spPr>
          <a:xfrm>
            <a:off x="640080" y="3383280"/>
            <a:ext cx="5029200" cy="2468880"/>
          </a:xfrm>
          <a:prstGeom prst="rect">
            <a:avLst/>
          </a:prstGeom>
          <a:solidFill>
            <a:srgbClr val="FFFFFF"/>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474720"/>
            <a:ext cx="4572000" cy="400110"/>
          </a:xfrm>
          <a:prstGeom prst="rect">
            <a:avLst/>
          </a:prstGeom>
          <a:noFill/>
        </p:spPr>
        <p:txBody>
          <a:bodyPr wrap="square">
            <a:spAutoFit/>
          </a:bodyPr>
          <a:lstStyle/>
          <a:p>
            <a:pPr algn="l">
              <a:spcAft>
                <a:spcPts val="0"/>
              </a:spcAft>
              <a:defRPr sz="1400" b="1">
                <a:solidFill>
                  <a:srgbClr val="16A34A"/>
                </a:solidFill>
                <a:latin typeface="Calibri"/>
              </a:defRPr>
            </a:pPr>
            <a:r>
              <a:rPr sz="2000" dirty="0"/>
              <a:t>Strengths</a:t>
            </a:r>
          </a:p>
        </p:txBody>
      </p:sp>
      <p:sp>
        <p:nvSpPr>
          <p:cNvPr id="11" name="TextBox 10"/>
          <p:cNvSpPr txBox="1"/>
          <p:nvPr/>
        </p:nvSpPr>
        <p:spPr>
          <a:xfrm>
            <a:off x="1144270" y="4125277"/>
            <a:ext cx="4020820" cy="984885"/>
          </a:xfrm>
          <a:prstGeom prst="rect">
            <a:avLst/>
          </a:prstGeom>
          <a:noFill/>
        </p:spPr>
        <p:txBody>
          <a:bodyPr wrap="square">
            <a:spAutoFit/>
          </a:bodyPr>
          <a:lstStyle/>
          <a:p>
            <a:pPr marL="171450" indent="-171450">
              <a:spcAft>
                <a:spcPts val="600"/>
              </a:spcAft>
              <a:buFont typeface="Arial" panose="020B0604020202020204" pitchFamily="34" charset="0"/>
              <a:buChar char="•"/>
              <a:defRPr sz="1200">
                <a:solidFill>
                  <a:srgbClr val="4B5563"/>
                </a:solidFill>
                <a:latin typeface="Calibri"/>
              </a:defRPr>
            </a:pPr>
            <a:r>
              <a:rPr sz="1600" dirty="0"/>
              <a:t>Excellent for large object removal</a:t>
            </a:r>
          </a:p>
          <a:p>
            <a:pPr marL="171450" indent="-171450">
              <a:spcAft>
                <a:spcPts val="600"/>
              </a:spcAft>
              <a:buFont typeface="Arial" panose="020B0604020202020204" pitchFamily="34" charset="0"/>
              <a:buChar char="•"/>
              <a:defRPr sz="1200">
                <a:solidFill>
                  <a:srgbClr val="4B5563"/>
                </a:solidFill>
                <a:latin typeface="Calibri"/>
              </a:defRPr>
            </a:pPr>
            <a:r>
              <a:rPr sz="1600" dirty="0"/>
              <a:t>Preserves complex textures (grass, brick)</a:t>
            </a:r>
          </a:p>
          <a:p>
            <a:pPr marL="171450" indent="-171450">
              <a:spcAft>
                <a:spcPts val="600"/>
              </a:spcAft>
              <a:buFont typeface="Arial" panose="020B0604020202020204" pitchFamily="34" charset="0"/>
              <a:buChar char="•"/>
              <a:defRPr sz="1200">
                <a:solidFill>
                  <a:srgbClr val="4B5563"/>
                </a:solidFill>
                <a:latin typeface="Calibri"/>
              </a:defRPr>
            </a:pPr>
            <a:r>
              <a:rPr sz="1600" dirty="0"/>
              <a:t>20-100x faster than prior NNF methods</a:t>
            </a:r>
          </a:p>
        </p:txBody>
      </p:sp>
      <p:sp>
        <p:nvSpPr>
          <p:cNvPr id="12" name="Rectangle 11"/>
          <p:cNvSpPr/>
          <p:nvPr/>
        </p:nvSpPr>
        <p:spPr>
          <a:xfrm>
            <a:off x="6217920" y="3383280"/>
            <a:ext cx="5212080" cy="2468880"/>
          </a:xfrm>
          <a:prstGeom prst="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3474720"/>
            <a:ext cx="4572000" cy="400110"/>
          </a:xfrm>
          <a:prstGeom prst="rect">
            <a:avLst/>
          </a:prstGeom>
          <a:noFill/>
        </p:spPr>
        <p:txBody>
          <a:bodyPr wrap="square">
            <a:spAutoFit/>
          </a:bodyPr>
          <a:lstStyle/>
          <a:p>
            <a:pPr algn="l">
              <a:spcAft>
                <a:spcPts val="0"/>
              </a:spcAft>
              <a:defRPr sz="1400" b="1">
                <a:solidFill>
                  <a:srgbClr val="DC2626"/>
                </a:solidFill>
                <a:latin typeface="Calibri"/>
              </a:defRPr>
            </a:pPr>
            <a:r>
              <a:rPr sz="2000" dirty="0"/>
              <a:t>Why NOT for </a:t>
            </a:r>
            <a:r>
              <a:rPr lang="en-US" sz="2000" dirty="0"/>
              <a:t>Here</a:t>
            </a:r>
            <a:r>
              <a:rPr sz="2000" dirty="0"/>
              <a:t>?</a:t>
            </a:r>
          </a:p>
        </p:txBody>
      </p:sp>
      <p:sp>
        <p:nvSpPr>
          <p:cNvPr id="14" name="TextBox 13"/>
          <p:cNvSpPr txBox="1"/>
          <p:nvPr/>
        </p:nvSpPr>
        <p:spPr>
          <a:xfrm>
            <a:off x="6675120" y="4125276"/>
            <a:ext cx="4572000" cy="984885"/>
          </a:xfrm>
          <a:prstGeom prst="rect">
            <a:avLst/>
          </a:prstGeom>
          <a:noFill/>
        </p:spPr>
        <p:txBody>
          <a:bodyPr wrap="square">
            <a:spAutoFit/>
          </a:bodyPr>
          <a:lstStyle/>
          <a:p>
            <a:pPr marL="171450" indent="-171450">
              <a:spcAft>
                <a:spcPts val="600"/>
              </a:spcAft>
              <a:buFont typeface="Arial" panose="020B0604020202020204" pitchFamily="34" charset="0"/>
              <a:buChar char="•"/>
              <a:defRPr sz="1200">
                <a:solidFill>
                  <a:srgbClr val="4B5563"/>
                </a:solidFill>
                <a:latin typeface="Calibri"/>
              </a:defRPr>
            </a:pPr>
            <a:r>
              <a:rPr sz="1600" dirty="0"/>
              <a:t>Full-image search for </a:t>
            </a:r>
            <a:r>
              <a:rPr lang="en-US" sz="1600" dirty="0"/>
              <a:t>small</a:t>
            </a:r>
            <a:r>
              <a:rPr sz="1600" dirty="0"/>
              <a:t> hole = waste</a:t>
            </a:r>
          </a:p>
          <a:p>
            <a:pPr marL="171450" indent="-171450">
              <a:spcAft>
                <a:spcPts val="600"/>
              </a:spcAft>
              <a:buFont typeface="Arial" panose="020B0604020202020204" pitchFamily="34" charset="0"/>
              <a:buChar char="•"/>
              <a:defRPr sz="1200">
                <a:solidFill>
                  <a:srgbClr val="4B5563"/>
                </a:solidFill>
                <a:latin typeface="Calibri"/>
              </a:defRPr>
            </a:pPr>
            <a:r>
              <a:rPr sz="1600" dirty="0"/>
              <a:t>May copy unrelated distant textures</a:t>
            </a:r>
          </a:p>
          <a:p>
            <a:pPr marL="171450" indent="-171450">
              <a:spcAft>
                <a:spcPts val="600"/>
              </a:spcAft>
              <a:buFont typeface="Arial" panose="020B0604020202020204" pitchFamily="34" charset="0"/>
              <a:buChar char="•"/>
              <a:defRPr sz="1200">
                <a:solidFill>
                  <a:srgbClr val="4B5563"/>
                </a:solidFill>
                <a:latin typeface="Calibri"/>
              </a:defRPr>
            </a:pPr>
            <a:r>
              <a:rPr sz="1600" dirty="0"/>
              <a:t>Designed for macro, not micro repair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animBg="1"/>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28600"/>
          </a:xfrm>
          <a:prstGeom prst="rect">
            <a:avLst/>
          </a:prstGeom>
          <a:noFill/>
        </p:spPr>
        <p:txBody>
          <a:bodyPr wrap="square">
            <a:spAutoFit/>
          </a:bodyPr>
          <a:lstStyle/>
          <a:p>
            <a:pPr algn="l">
              <a:spcAft>
                <a:spcPts val="0"/>
              </a:spcAft>
              <a:defRPr sz="1000" b="1">
                <a:solidFill>
                  <a:srgbClr val="2D6AD4"/>
                </a:solidFill>
                <a:latin typeface="Calibri"/>
              </a:defRPr>
            </a:pPr>
            <a:r>
              <a:t>02  RELATED WORK  ▸  Telea FMM (JGT 2004)</a:t>
            </a:r>
          </a:p>
        </p:txBody>
      </p:sp>
      <p:sp>
        <p:nvSpPr>
          <p:cNvPr id="4" name="TextBox 3"/>
          <p:cNvSpPr txBox="1"/>
          <p:nvPr/>
        </p:nvSpPr>
        <p:spPr>
          <a:xfrm>
            <a:off x="640080" y="457200"/>
            <a:ext cx="9144000" cy="411480"/>
          </a:xfrm>
          <a:prstGeom prst="rect">
            <a:avLst/>
          </a:prstGeom>
          <a:noFill/>
        </p:spPr>
        <p:txBody>
          <a:bodyPr wrap="square">
            <a:spAutoFit/>
          </a:bodyPr>
          <a:lstStyle/>
          <a:p>
            <a:pPr algn="l">
              <a:spcAft>
                <a:spcPts val="0"/>
              </a:spcAft>
              <a:defRPr sz="2600" b="1">
                <a:solidFill>
                  <a:srgbClr val="1E293B"/>
                </a:solidFill>
                <a:latin typeface="Trebuchet MS"/>
              </a:defRPr>
            </a:pPr>
            <a:r>
              <a:rPr dirty="0" err="1"/>
              <a:t>Telea</a:t>
            </a:r>
            <a:r>
              <a:rPr dirty="0"/>
              <a:t> FMM: Fast Marching Boundary Diffusion</a:t>
            </a:r>
          </a:p>
        </p:txBody>
      </p:sp>
      <p:pic>
        <p:nvPicPr>
          <p:cNvPr id="5" name="Picture 4" descr="telea_fmm_diagram.png"/>
          <p:cNvPicPr>
            <a:picLocks noChangeAspect="1"/>
          </p:cNvPicPr>
          <p:nvPr/>
        </p:nvPicPr>
        <p:blipFill>
          <a:blip r:embed="rId3"/>
          <a:stretch>
            <a:fillRect/>
          </a:stretch>
        </p:blipFill>
        <p:spPr>
          <a:xfrm>
            <a:off x="7857665" y="532183"/>
            <a:ext cx="4150953" cy="1892681"/>
          </a:xfrm>
          <a:prstGeom prst="rect">
            <a:avLst/>
          </a:prstGeom>
        </p:spPr>
      </p:pic>
      <p:sp>
        <p:nvSpPr>
          <p:cNvPr id="10" name="Rectangle 9"/>
          <p:cNvSpPr/>
          <p:nvPr/>
        </p:nvSpPr>
        <p:spPr>
          <a:xfrm>
            <a:off x="274320" y="6217920"/>
            <a:ext cx="11612880" cy="3200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236208"/>
            <a:ext cx="11064240" cy="261610"/>
          </a:xfrm>
          <a:prstGeom prst="rect">
            <a:avLst/>
          </a:prstGeom>
          <a:noFill/>
        </p:spPr>
        <p:txBody>
          <a:bodyPr wrap="square">
            <a:spAutoFit/>
          </a:bodyPr>
          <a:lstStyle/>
          <a:p>
            <a:pPr algn="ctr">
              <a:spcAft>
                <a:spcPts val="0"/>
              </a:spcAft>
              <a:defRPr sz="1100" b="1">
                <a:solidFill>
                  <a:srgbClr val="FFFFFF"/>
                </a:solidFill>
                <a:latin typeface="Calibri"/>
              </a:defRPr>
            </a:pPr>
            <a:r>
              <a:rPr lang="en-US" altLang="zh-TW" dirty="0"/>
              <a:t>PERFECT for Our Problem</a:t>
            </a:r>
            <a:endParaRPr dirty="0"/>
          </a:p>
        </p:txBody>
      </p:sp>
      <p:pic>
        <p:nvPicPr>
          <p:cNvPr id="13" name="圖片 12">
            <a:extLst>
              <a:ext uri="{FF2B5EF4-FFF2-40B4-BE49-F238E27FC236}">
                <a16:creationId xmlns:a16="http://schemas.microsoft.com/office/drawing/2014/main" id="{F317BD78-7A79-7B13-048E-3AC23DEC35AD}"/>
              </a:ext>
            </a:extLst>
          </p:cNvPr>
          <p:cNvPicPr>
            <a:picLocks noChangeAspect="1"/>
          </p:cNvPicPr>
          <p:nvPr/>
        </p:nvPicPr>
        <p:blipFill>
          <a:blip r:embed="rId4"/>
          <a:stretch>
            <a:fillRect/>
          </a:stretch>
        </p:blipFill>
        <p:spPr>
          <a:xfrm>
            <a:off x="-305" y="2691515"/>
            <a:ext cx="12192000" cy="29346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28600"/>
          </a:xfrm>
          <a:prstGeom prst="rect">
            <a:avLst/>
          </a:prstGeom>
          <a:noFill/>
        </p:spPr>
        <p:txBody>
          <a:bodyPr wrap="square">
            <a:spAutoFit/>
          </a:bodyPr>
          <a:lstStyle/>
          <a:p>
            <a:pPr algn="l">
              <a:spcAft>
                <a:spcPts val="0"/>
              </a:spcAft>
              <a:defRPr sz="1000" b="1">
                <a:solidFill>
                  <a:srgbClr val="2D6AD4"/>
                </a:solidFill>
                <a:latin typeface="Calibri"/>
              </a:defRPr>
            </a:pPr>
            <a:r>
              <a:t>02  RELATED WORK  ▸  Telea FMM — Algorithm Detail</a:t>
            </a:r>
          </a:p>
        </p:txBody>
      </p:sp>
      <p:sp>
        <p:nvSpPr>
          <p:cNvPr id="35" name="TextBox 7"/>
          <p:cNvSpPr txBox="1"/>
          <p:nvPr/>
        </p:nvSpPr>
        <p:spPr>
          <a:xfrm>
            <a:off x="7680960" y="941832"/>
            <a:ext cx="3840480" cy="274320"/>
          </a:xfrm>
          <a:prstGeom prst="rect">
            <a:avLst/>
          </a:prstGeom>
          <a:noFill/>
        </p:spPr>
        <p:txBody>
          <a:bodyPr wrap="square">
            <a:spAutoFit/>
          </a:bodyPr>
          <a:lstStyle/>
          <a:p>
            <a:pPr algn="l">
              <a:spcAft>
                <a:spcPts val="0"/>
              </a:spcAft>
              <a:defRPr sz="1300" b="1">
                <a:solidFill>
                  <a:srgbClr val="FFFFFF"/>
                </a:solidFill>
                <a:latin typeface="Calibri"/>
              </a:defRPr>
            </a:pPr>
            <a:r>
              <a:rPr dirty="0"/>
              <a:t>Why PERFECT for Our Problem?</a:t>
            </a:r>
          </a:p>
        </p:txBody>
      </p:sp>
      <p:sp>
        <p:nvSpPr>
          <p:cNvPr id="37" name="TextBox 3">
            <a:extLst>
              <a:ext uri="{FF2B5EF4-FFF2-40B4-BE49-F238E27FC236}">
                <a16:creationId xmlns:a16="http://schemas.microsoft.com/office/drawing/2014/main" id="{161DF7A0-6979-3EBD-53F2-746F548FDF92}"/>
              </a:ext>
            </a:extLst>
          </p:cNvPr>
          <p:cNvSpPr txBox="1"/>
          <p:nvPr/>
        </p:nvSpPr>
        <p:spPr>
          <a:xfrm>
            <a:off x="640080" y="457200"/>
            <a:ext cx="9144000" cy="411480"/>
          </a:xfrm>
          <a:prstGeom prst="rect">
            <a:avLst/>
          </a:prstGeom>
          <a:noFill/>
        </p:spPr>
        <p:txBody>
          <a:bodyPr wrap="square">
            <a:spAutoFit/>
          </a:bodyPr>
          <a:lstStyle/>
          <a:p>
            <a:pPr algn="l">
              <a:spcAft>
                <a:spcPts val="0"/>
              </a:spcAft>
              <a:defRPr sz="2600" b="1">
                <a:solidFill>
                  <a:srgbClr val="1E293B"/>
                </a:solidFill>
                <a:latin typeface="Trebuchet MS"/>
              </a:defRPr>
            </a:pPr>
            <a:r>
              <a:rPr dirty="0" err="1"/>
              <a:t>Telea</a:t>
            </a:r>
            <a:r>
              <a:rPr dirty="0"/>
              <a:t> FMM: Fast Marching Boundary Diffusion</a:t>
            </a:r>
          </a:p>
        </p:txBody>
      </p:sp>
      <p:pic>
        <p:nvPicPr>
          <p:cNvPr id="39" name="圖片 38">
            <a:extLst>
              <a:ext uri="{FF2B5EF4-FFF2-40B4-BE49-F238E27FC236}">
                <a16:creationId xmlns:a16="http://schemas.microsoft.com/office/drawing/2014/main" id="{1A465622-9213-C4E3-FC0D-2488D94F4E72}"/>
              </a:ext>
            </a:extLst>
          </p:cNvPr>
          <p:cNvPicPr>
            <a:picLocks noChangeAspect="1"/>
          </p:cNvPicPr>
          <p:nvPr/>
        </p:nvPicPr>
        <p:blipFill>
          <a:blip r:embed="rId3"/>
          <a:stretch>
            <a:fillRect/>
          </a:stretch>
        </p:blipFill>
        <p:spPr>
          <a:xfrm>
            <a:off x="-305" y="960120"/>
            <a:ext cx="12192000" cy="3147653"/>
          </a:xfrm>
          <a:prstGeom prst="rect">
            <a:avLst/>
          </a:prstGeom>
        </p:spPr>
      </p:pic>
      <p:pic>
        <p:nvPicPr>
          <p:cNvPr id="45" name="圖片 44">
            <a:extLst>
              <a:ext uri="{FF2B5EF4-FFF2-40B4-BE49-F238E27FC236}">
                <a16:creationId xmlns:a16="http://schemas.microsoft.com/office/drawing/2014/main" id="{AD520E28-4099-7ABB-0DB9-C161AFB46092}"/>
              </a:ext>
            </a:extLst>
          </p:cNvPr>
          <p:cNvPicPr>
            <a:picLocks noChangeAspect="1"/>
          </p:cNvPicPr>
          <p:nvPr/>
        </p:nvPicPr>
        <p:blipFill>
          <a:blip r:embed="rId4"/>
          <a:stretch>
            <a:fillRect/>
          </a:stretch>
        </p:blipFill>
        <p:spPr>
          <a:xfrm>
            <a:off x="2100663" y="4199213"/>
            <a:ext cx="7990063" cy="23715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46221"/>
          </a:xfrm>
          <a:prstGeom prst="rect">
            <a:avLst/>
          </a:prstGeom>
          <a:noFill/>
        </p:spPr>
        <p:txBody>
          <a:bodyPr wrap="square">
            <a:spAutoFit/>
          </a:bodyPr>
          <a:lstStyle/>
          <a:p>
            <a:pPr algn="l">
              <a:spcAft>
                <a:spcPts val="0"/>
              </a:spcAft>
              <a:defRPr sz="1000" b="1">
                <a:solidFill>
                  <a:srgbClr val="2D6AD4"/>
                </a:solidFill>
                <a:latin typeface="Calibri"/>
              </a:defRPr>
            </a:pPr>
            <a:r>
              <a:rPr dirty="0"/>
              <a:t>03 </a:t>
            </a:r>
            <a:r>
              <a:rPr lang="en-US" altLang="zh-TW" dirty="0"/>
              <a:t>MY</a:t>
            </a:r>
            <a:r>
              <a:rPr lang="zh-TW" altLang="en-US" dirty="0"/>
              <a:t> </a:t>
            </a:r>
            <a:r>
              <a:rPr dirty="0"/>
              <a:t>PLAN</a:t>
            </a:r>
          </a:p>
        </p:txBody>
      </p:sp>
      <p:sp>
        <p:nvSpPr>
          <p:cNvPr id="4" name="TextBox 3"/>
          <p:cNvSpPr txBox="1"/>
          <p:nvPr/>
        </p:nvSpPr>
        <p:spPr>
          <a:xfrm>
            <a:off x="640080" y="457200"/>
            <a:ext cx="9144000" cy="411480"/>
          </a:xfrm>
          <a:prstGeom prst="rect">
            <a:avLst/>
          </a:prstGeom>
          <a:noFill/>
        </p:spPr>
        <p:txBody>
          <a:bodyPr wrap="square">
            <a:spAutoFit/>
          </a:bodyPr>
          <a:lstStyle/>
          <a:p>
            <a:pPr algn="l">
              <a:spcAft>
                <a:spcPts val="0"/>
              </a:spcAft>
              <a:defRPr sz="2800" b="1">
                <a:solidFill>
                  <a:srgbClr val="1E293B"/>
                </a:solidFill>
                <a:latin typeface="Trebuchet MS"/>
              </a:defRPr>
            </a:pPr>
            <a:r>
              <a:t>Plan &amp; Potential Challenges</a:t>
            </a:r>
          </a:p>
        </p:txBody>
      </p:sp>
      <p:pic>
        <p:nvPicPr>
          <p:cNvPr id="12" name="圖片 11">
            <a:extLst>
              <a:ext uri="{FF2B5EF4-FFF2-40B4-BE49-F238E27FC236}">
                <a16:creationId xmlns:a16="http://schemas.microsoft.com/office/drawing/2014/main" id="{F5503C5C-DDBA-9C2B-0C90-EAF7D9DE937F}"/>
              </a:ext>
            </a:extLst>
          </p:cNvPr>
          <p:cNvPicPr>
            <a:picLocks noChangeAspect="1"/>
          </p:cNvPicPr>
          <p:nvPr/>
        </p:nvPicPr>
        <p:blipFill>
          <a:blip r:embed="rId3"/>
          <a:stretch>
            <a:fillRect/>
          </a:stretch>
        </p:blipFill>
        <p:spPr>
          <a:xfrm>
            <a:off x="848411" y="960120"/>
            <a:ext cx="10494872" cy="5906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6576"/>
          </a:xfrm>
          <a:prstGeom prst="rect">
            <a:avLst/>
          </a:prstGeom>
          <a:solidFill>
            <a:srgbClr val="2D6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7160"/>
            <a:ext cx="4572000" cy="228600"/>
          </a:xfrm>
          <a:prstGeom prst="rect">
            <a:avLst/>
          </a:prstGeom>
          <a:noFill/>
        </p:spPr>
        <p:txBody>
          <a:bodyPr wrap="square">
            <a:spAutoFit/>
          </a:bodyPr>
          <a:lstStyle/>
          <a:p>
            <a:pPr algn="l">
              <a:spcAft>
                <a:spcPts val="0"/>
              </a:spcAft>
              <a:defRPr sz="1000" b="1">
                <a:solidFill>
                  <a:srgbClr val="2D6AD4"/>
                </a:solidFill>
                <a:latin typeface="Calibri"/>
              </a:defRPr>
            </a:pPr>
            <a:r>
              <a:t>REFERENCES</a:t>
            </a:r>
          </a:p>
        </p:txBody>
      </p:sp>
      <p:sp>
        <p:nvSpPr>
          <p:cNvPr id="4" name="TextBox 3"/>
          <p:cNvSpPr txBox="1"/>
          <p:nvPr/>
        </p:nvSpPr>
        <p:spPr>
          <a:xfrm>
            <a:off x="640080" y="457200"/>
            <a:ext cx="9144000" cy="411480"/>
          </a:xfrm>
          <a:prstGeom prst="rect">
            <a:avLst/>
          </a:prstGeom>
          <a:noFill/>
        </p:spPr>
        <p:txBody>
          <a:bodyPr wrap="square">
            <a:spAutoFit/>
          </a:bodyPr>
          <a:lstStyle/>
          <a:p>
            <a:pPr algn="l">
              <a:spcAft>
                <a:spcPts val="0"/>
              </a:spcAft>
              <a:defRPr sz="2800" b="1">
                <a:solidFill>
                  <a:srgbClr val="1E293B"/>
                </a:solidFill>
                <a:latin typeface="Trebuchet MS"/>
              </a:defRPr>
            </a:pPr>
            <a:r>
              <a:rPr dirty="0"/>
              <a:t>References &amp; Open-Source Libraries</a:t>
            </a:r>
          </a:p>
        </p:txBody>
      </p:sp>
      <p:sp>
        <p:nvSpPr>
          <p:cNvPr id="5" name="Card Papers"/>
          <p:cNvSpPr/>
          <p:nvPr/>
        </p:nvSpPr>
        <p:spPr>
          <a:xfrm>
            <a:off x="640080" y="1005840"/>
            <a:ext cx="10920960" cy="3200400"/>
          </a:xfrm>
          <a:prstGeom prst="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Papers Title"/>
          <p:cNvSpPr txBox="1"/>
          <p:nvPr/>
        </p:nvSpPr>
        <p:spPr>
          <a:xfrm>
            <a:off x="779488" y="1051560"/>
            <a:ext cx="10400760" cy="400110"/>
          </a:xfrm>
          <a:prstGeom prst="rect">
            <a:avLst/>
          </a:prstGeom>
          <a:noFill/>
        </p:spPr>
        <p:txBody>
          <a:bodyPr wrap="square">
            <a:spAutoFit/>
          </a:bodyPr>
          <a:lstStyle/>
          <a:p>
            <a:pPr algn="l">
              <a:spcAft>
                <a:spcPts val="0"/>
              </a:spcAft>
              <a:defRPr sz="1600" b="1">
                <a:solidFill>
                  <a:srgbClr val="2D6AD4"/>
                </a:solidFill>
                <a:latin typeface="Trebuchet MS"/>
              </a:defRPr>
            </a:pPr>
            <a:r>
              <a:rPr sz="2000" dirty="0"/>
              <a:t>Papers</a:t>
            </a:r>
          </a:p>
        </p:txBody>
      </p:sp>
      <p:sp>
        <p:nvSpPr>
          <p:cNvPr id="7" name="TextBox Papers Body"/>
          <p:cNvSpPr txBox="1"/>
          <p:nvPr/>
        </p:nvSpPr>
        <p:spPr>
          <a:xfrm>
            <a:off x="779488" y="1425204"/>
            <a:ext cx="11025266" cy="1733808"/>
          </a:xfrm>
          <a:prstGeom prst="rect">
            <a:avLst/>
          </a:prstGeom>
          <a:noFill/>
        </p:spPr>
        <p:txBody>
          <a:bodyPr wrap="square">
            <a:spAutoFit/>
          </a:bodyPr>
          <a:lstStyle/>
          <a:p>
            <a:pPr>
              <a:spcAft>
                <a:spcPts val="800"/>
              </a:spcAft>
              <a:defRPr sz="1300">
                <a:solidFill>
                  <a:srgbClr val="1E293B"/>
                </a:solidFill>
                <a:latin typeface="Calibri"/>
              </a:defRPr>
            </a:pPr>
            <a:r>
              <a:rPr sz="1600" b="1" dirty="0">
                <a:solidFill>
                  <a:srgbClr val="1E293B"/>
                </a:solidFill>
                <a:latin typeface="Calibri"/>
              </a:rPr>
              <a:t>[1]  </a:t>
            </a:r>
            <a:r>
              <a:rPr sz="1600" dirty="0" err="1">
                <a:solidFill>
                  <a:srgbClr val="4B5563"/>
                </a:solidFill>
                <a:latin typeface="Calibri"/>
              </a:rPr>
              <a:t>Telea</a:t>
            </a:r>
            <a:r>
              <a:rPr sz="1600" dirty="0">
                <a:solidFill>
                  <a:srgbClr val="4B5563"/>
                </a:solidFill>
                <a:latin typeface="Calibri"/>
              </a:rPr>
              <a:t>, A. “An Image Inpainting Technique Based on the Fast Marching Method.” Journal of Graphics Tools, 2004.</a:t>
            </a:r>
            <a:endParaRPr lang="en-US" sz="1600" dirty="0">
              <a:solidFill>
                <a:srgbClr val="4B5563"/>
              </a:solidFill>
              <a:latin typeface="Calibri"/>
            </a:endParaRPr>
          </a:p>
          <a:p>
            <a:pPr>
              <a:spcAft>
                <a:spcPts val="800"/>
              </a:spcAft>
              <a:defRPr sz="1300">
                <a:solidFill>
                  <a:srgbClr val="1E293B"/>
                </a:solidFill>
                <a:latin typeface="Calibri"/>
              </a:defRPr>
            </a:pPr>
            <a:endParaRPr sz="1600" dirty="0">
              <a:solidFill>
                <a:srgbClr val="4B5563"/>
              </a:solidFill>
              <a:latin typeface="Calibri"/>
            </a:endParaRPr>
          </a:p>
          <a:p>
            <a:pPr>
              <a:spcAft>
                <a:spcPts val="800"/>
              </a:spcAft>
              <a:defRPr sz="1300">
                <a:solidFill>
                  <a:srgbClr val="4B5563"/>
                </a:solidFill>
                <a:latin typeface="Calibri"/>
              </a:defRPr>
            </a:pPr>
            <a:r>
              <a:rPr sz="1600" b="1" dirty="0">
                <a:solidFill>
                  <a:srgbClr val="1E293B"/>
                </a:solidFill>
                <a:latin typeface="Calibri"/>
              </a:rPr>
              <a:t>[2]  </a:t>
            </a:r>
            <a:r>
              <a:rPr sz="1600" dirty="0">
                <a:solidFill>
                  <a:srgbClr val="4B5563"/>
                </a:solidFill>
                <a:latin typeface="Calibri"/>
              </a:rPr>
              <a:t>Barnes, C. et al. “</a:t>
            </a:r>
            <a:r>
              <a:rPr sz="1600" dirty="0" err="1">
                <a:solidFill>
                  <a:srgbClr val="4B5563"/>
                </a:solidFill>
                <a:latin typeface="Calibri"/>
              </a:rPr>
              <a:t>PatchMatch</a:t>
            </a:r>
            <a:r>
              <a:rPr sz="1600" dirty="0">
                <a:solidFill>
                  <a:srgbClr val="4B5563"/>
                </a:solidFill>
                <a:latin typeface="Calibri"/>
              </a:rPr>
              <a:t>: A Randomized Correspondence Algorithm for Structural Image Editing.” ACM SIGGRAPH, 2009.</a:t>
            </a:r>
            <a:endParaRPr lang="en-US" sz="1600" dirty="0">
              <a:solidFill>
                <a:srgbClr val="4B5563"/>
              </a:solidFill>
              <a:latin typeface="Calibri"/>
            </a:endParaRPr>
          </a:p>
          <a:p>
            <a:pPr>
              <a:spcAft>
                <a:spcPts val="800"/>
              </a:spcAft>
              <a:defRPr sz="1300">
                <a:solidFill>
                  <a:srgbClr val="4B5563"/>
                </a:solidFill>
                <a:latin typeface="Calibri"/>
              </a:defRPr>
            </a:pPr>
            <a:endParaRPr sz="1600" dirty="0">
              <a:solidFill>
                <a:srgbClr val="4B5563"/>
              </a:solidFill>
              <a:latin typeface="Calibri"/>
            </a:endParaRPr>
          </a:p>
          <a:p>
            <a:pPr>
              <a:spcAft>
                <a:spcPts val="600"/>
              </a:spcAft>
              <a:defRPr sz="1300">
                <a:solidFill>
                  <a:srgbClr val="4B5563"/>
                </a:solidFill>
                <a:latin typeface="Calibri"/>
              </a:defRPr>
            </a:pPr>
            <a:r>
              <a:rPr sz="1600" b="1" dirty="0">
                <a:solidFill>
                  <a:srgbClr val="1E293B"/>
                </a:solidFill>
                <a:latin typeface="Calibri"/>
              </a:rPr>
              <a:t>[3]  </a:t>
            </a:r>
            <a:r>
              <a:rPr sz="1600" dirty="0" err="1">
                <a:solidFill>
                  <a:srgbClr val="4B5563"/>
                </a:solidFill>
                <a:latin typeface="Calibri"/>
              </a:rPr>
              <a:t>Lugmayr</a:t>
            </a:r>
            <a:r>
              <a:rPr sz="1600" dirty="0">
                <a:solidFill>
                  <a:srgbClr val="4B5563"/>
                </a:solidFill>
                <a:latin typeface="Calibri"/>
              </a:rPr>
              <a:t>, A. et al. “</a:t>
            </a:r>
            <a:r>
              <a:rPr sz="1600" dirty="0" err="1">
                <a:solidFill>
                  <a:srgbClr val="4B5563"/>
                </a:solidFill>
                <a:latin typeface="Calibri"/>
              </a:rPr>
              <a:t>RePaint</a:t>
            </a:r>
            <a:r>
              <a:rPr sz="1600" dirty="0">
                <a:solidFill>
                  <a:srgbClr val="4B5563"/>
                </a:solidFill>
                <a:latin typeface="Calibri"/>
              </a:rPr>
              <a:t>: Inpainting using Denoising Diffusion Probabilistic Models.” CVPR, 2022.</a:t>
            </a:r>
          </a:p>
        </p:txBody>
      </p:sp>
      <p:sp>
        <p:nvSpPr>
          <p:cNvPr id="8" name="Card Libraries"/>
          <p:cNvSpPr/>
          <p:nvPr/>
        </p:nvSpPr>
        <p:spPr>
          <a:xfrm>
            <a:off x="640080" y="4389120"/>
            <a:ext cx="10920960" cy="2103720"/>
          </a:xfrm>
          <a:prstGeom prst="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Libraries Title"/>
          <p:cNvSpPr txBox="1"/>
          <p:nvPr/>
        </p:nvSpPr>
        <p:spPr>
          <a:xfrm>
            <a:off x="914400" y="4434840"/>
            <a:ext cx="10400760" cy="400110"/>
          </a:xfrm>
          <a:prstGeom prst="rect">
            <a:avLst/>
          </a:prstGeom>
          <a:noFill/>
        </p:spPr>
        <p:txBody>
          <a:bodyPr wrap="square">
            <a:spAutoFit/>
          </a:bodyPr>
          <a:lstStyle/>
          <a:p>
            <a:pPr algn="l">
              <a:spcAft>
                <a:spcPts val="0"/>
              </a:spcAft>
              <a:defRPr sz="1600" b="1">
                <a:solidFill>
                  <a:srgbClr val="16A34A"/>
                </a:solidFill>
                <a:latin typeface="Trebuchet MS"/>
              </a:defRPr>
            </a:pPr>
            <a:r>
              <a:rPr sz="2000" dirty="0"/>
              <a:t>Open-Source Libraries</a:t>
            </a:r>
          </a:p>
        </p:txBody>
      </p:sp>
      <p:sp>
        <p:nvSpPr>
          <p:cNvPr id="10" name="TextBox Libraries Body"/>
          <p:cNvSpPr txBox="1"/>
          <p:nvPr/>
        </p:nvSpPr>
        <p:spPr>
          <a:xfrm>
            <a:off x="914400" y="4876173"/>
            <a:ext cx="10400760" cy="1269578"/>
          </a:xfrm>
          <a:prstGeom prst="rect">
            <a:avLst/>
          </a:prstGeom>
          <a:noFill/>
        </p:spPr>
        <p:txBody>
          <a:bodyPr wrap="square">
            <a:spAutoFit/>
          </a:bodyPr>
          <a:lstStyle/>
          <a:p>
            <a:pPr>
              <a:spcAft>
                <a:spcPts val="500"/>
              </a:spcAft>
              <a:defRPr sz="1200">
                <a:solidFill>
                  <a:srgbClr val="4B5563"/>
                </a:solidFill>
                <a:latin typeface="Calibri"/>
              </a:defRPr>
            </a:pPr>
            <a:r>
              <a:rPr sz="1600" b="1" dirty="0">
                <a:solidFill>
                  <a:srgbClr val="1E293B"/>
                </a:solidFill>
                <a:latin typeface="Calibri"/>
              </a:rPr>
              <a:t>OpenCV</a:t>
            </a:r>
            <a:r>
              <a:rPr sz="1600" dirty="0">
                <a:solidFill>
                  <a:srgbClr val="4B5563"/>
                </a:solidFill>
                <a:latin typeface="Calibri"/>
              </a:rPr>
              <a:t>  —  cv2.inpaint (</a:t>
            </a:r>
            <a:r>
              <a:rPr sz="1600" dirty="0" err="1">
                <a:solidFill>
                  <a:srgbClr val="4B5563"/>
                </a:solidFill>
                <a:latin typeface="Calibri"/>
              </a:rPr>
              <a:t>Telea</a:t>
            </a:r>
            <a:r>
              <a:rPr sz="1600" dirty="0">
                <a:solidFill>
                  <a:srgbClr val="4B5563"/>
                </a:solidFill>
                <a:latin typeface="Calibri"/>
              </a:rPr>
              <a:t> FMM implementation) + image I/O</a:t>
            </a:r>
          </a:p>
          <a:p>
            <a:pPr>
              <a:spcAft>
                <a:spcPts val="500"/>
              </a:spcAft>
              <a:defRPr sz="1200">
                <a:solidFill>
                  <a:srgbClr val="4B5563"/>
                </a:solidFill>
                <a:latin typeface="Calibri"/>
              </a:defRPr>
            </a:pPr>
            <a:r>
              <a:rPr sz="1600" b="1" dirty="0">
                <a:solidFill>
                  <a:srgbClr val="1E293B"/>
                </a:solidFill>
                <a:latin typeface="Calibri"/>
              </a:rPr>
              <a:t>NumPy</a:t>
            </a:r>
            <a:r>
              <a:rPr sz="1600" dirty="0">
                <a:solidFill>
                  <a:srgbClr val="4B5563"/>
                </a:solidFill>
                <a:latin typeface="Calibri"/>
              </a:rPr>
              <a:t>  —  array operations, mask generation</a:t>
            </a:r>
          </a:p>
          <a:p>
            <a:pPr>
              <a:spcAft>
                <a:spcPts val="500"/>
              </a:spcAft>
              <a:defRPr sz="1200">
                <a:solidFill>
                  <a:srgbClr val="4B5563"/>
                </a:solidFill>
                <a:latin typeface="Calibri"/>
              </a:defRPr>
            </a:pPr>
            <a:r>
              <a:rPr sz="1600" b="1" dirty="0" err="1">
                <a:solidFill>
                  <a:srgbClr val="1E293B"/>
                </a:solidFill>
                <a:latin typeface="Calibri"/>
              </a:rPr>
              <a:t>ComfyUI</a:t>
            </a:r>
            <a:r>
              <a:rPr sz="1600" dirty="0">
                <a:solidFill>
                  <a:srgbClr val="4B5563"/>
                </a:solidFill>
                <a:latin typeface="Calibri"/>
              </a:rPr>
              <a:t>  —  custom node framework for Stable Diffusion workflow integration</a:t>
            </a:r>
          </a:p>
          <a:p>
            <a:pPr>
              <a:spcAft>
                <a:spcPts val="500"/>
              </a:spcAft>
              <a:defRPr sz="1200">
                <a:solidFill>
                  <a:srgbClr val="4B5563"/>
                </a:solidFill>
                <a:latin typeface="Calibri"/>
              </a:defRPr>
            </a:pPr>
            <a:r>
              <a:rPr sz="1600" b="1" dirty="0">
                <a:solidFill>
                  <a:srgbClr val="1E293B"/>
                </a:solidFill>
                <a:latin typeface="Calibri"/>
              </a:rPr>
              <a:t>Pillow (PIL)</a:t>
            </a:r>
            <a:r>
              <a:rPr sz="1600" dirty="0">
                <a:solidFill>
                  <a:srgbClr val="4B5563"/>
                </a:solidFill>
                <a:latin typeface="Calibri"/>
              </a:rPr>
              <a:t>  —  image format conversion and preprocessing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552</TotalTime>
  <Words>2698</Words>
  <Application>Microsoft Office PowerPoint</Application>
  <PresentationFormat>寬螢幕</PresentationFormat>
  <Paragraphs>164</Paragraphs>
  <Slides>9</Slides>
  <Notes>9</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9</vt:i4>
      </vt:variant>
    </vt:vector>
  </HeadingPairs>
  <TitlesOfParts>
    <vt:vector size="12" baseType="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Phecda</cp:lastModifiedBy>
  <cp:revision>16</cp:revision>
  <dcterms:created xsi:type="dcterms:W3CDTF">2013-01-27T09:14:16Z</dcterms:created>
  <dcterms:modified xsi:type="dcterms:W3CDTF">2026-05-12T04:02:32Z</dcterms:modified>
  <cp:category/>
</cp:coreProperties>
</file>