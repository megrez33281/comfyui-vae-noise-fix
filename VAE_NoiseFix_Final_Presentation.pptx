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9156" autoAdjust="0"/>
  </p:normalViewPr>
  <p:slideViewPr>
    <p:cSldViewPr snapToGrid="0" snapToObjects="1">
      <p:cViewPr varScale="1">
        <p:scale>
          <a:sx n="126" d="100"/>
          <a:sy n="126" d="100"/>
        </p:scale>
        <p:origin x="38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610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The problem I’m solving is a specific SDXL artifact. </a:t>
            </a:r>
          </a:p>
          <a:p>
            <a:r>
              <a:rPr lang="en-US" altLang="zh-TW" dirty="0"/>
              <a:t>The root cause is a bandwidth bottleneck. </a:t>
            </a:r>
          </a:p>
          <a:p>
            <a:r>
              <a:rPr lang="en-US" altLang="zh-TW" dirty="0"/>
              <a:t>The VAE has to squeeze </a:t>
            </a:r>
            <a:r>
              <a:rPr lang="en-US" altLang="zh-TW" dirty="0" err="1"/>
              <a:t>latents</a:t>
            </a:r>
            <a:r>
              <a:rPr lang="en-US" altLang="zh-TW" dirty="0"/>
              <a:t> through an 8 times compression with just four channels. </a:t>
            </a:r>
          </a:p>
          <a:p>
            <a:r>
              <a:rPr lang="en-US" altLang="zh-TW" dirty="0"/>
              <a:t>When use a high CFG scale, it pushes </a:t>
            </a:r>
            <a:r>
              <a:rPr lang="en-US" altLang="zh-TW" dirty="0" err="1"/>
              <a:t>latents</a:t>
            </a:r>
            <a:r>
              <a:rPr lang="en-US" altLang="zh-TW" dirty="0"/>
              <a:t> out of distribution, causing the final layers to clip them. </a:t>
            </a:r>
          </a:p>
          <a:p>
            <a:r>
              <a:rPr lang="en-US" altLang="zh-TW" dirty="0"/>
              <a:t>These isolated dead pixels appear as white, black, or pure color dots, </a:t>
            </a:r>
            <a:r>
              <a:rPr lang="en-US" altLang="zh-TW" b="1" dirty="0"/>
              <a:t>and they are especially noticeable in dark areas.</a:t>
            </a:r>
            <a:endParaRPr lang="en-US" altLang="zh-TW" dirty="0"/>
          </a:p>
          <a:p>
            <a:r>
              <a:rPr lang="en-US" altLang="zh-TW" dirty="0"/>
              <a:t>Although these pixels cover less than one percent of the image, </a:t>
            </a:r>
            <a:r>
              <a:rPr lang="en-US" altLang="zh-TW" b="1" dirty="0"/>
              <a:t>fixing them manually is incredibly tedious, and using a model to repair them is far too computationally expensive.</a:t>
            </a:r>
          </a:p>
          <a:p>
            <a:r>
              <a:rPr lang="en-US" altLang="zh-TW" dirty="0"/>
              <a:t>The goal of this project is to locate and repair these pixels using traditional algorithms without relying on any models, solving the issue at a much lower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Here, I chose the </a:t>
            </a:r>
            <a:r>
              <a:rPr lang="en-US" altLang="zh-TW" b="1" dirty="0" err="1"/>
              <a:t>Telea</a:t>
            </a:r>
            <a:r>
              <a:rPr lang="en-US" altLang="zh-TW" b="1" dirty="0"/>
              <a:t> FMM</a:t>
            </a:r>
            <a:r>
              <a:rPr lang="en-US" altLang="zh-TW" dirty="0"/>
              <a:t> algorithm for the inpainting process. </a:t>
            </a:r>
          </a:p>
          <a:p>
            <a:r>
              <a:rPr lang="en-US" altLang="zh-TW" dirty="0"/>
              <a:t>Compared to the other two methods, it is significantly more lightweight and faster.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此處選使用</a:t>
            </a:r>
            <a:r>
              <a:rPr lang="en-US" altLang="zh-TW" dirty="0" err="1"/>
              <a:t>Telea</a:t>
            </a:r>
            <a:r>
              <a:rPr lang="en-US" altLang="zh-TW" dirty="0"/>
              <a:t> FMM</a:t>
            </a:r>
            <a:r>
              <a:rPr lang="zh-TW" altLang="en-US" dirty="0"/>
              <a:t>進行修補</a:t>
            </a:r>
            <a:endParaRPr lang="en-US" altLang="zh-TW" dirty="0"/>
          </a:p>
          <a:p>
            <a:r>
              <a:rPr lang="zh-TW" altLang="en-US" dirty="0"/>
              <a:t>因為其相較其他兩種方法更為輕便、快捷</a:t>
            </a:r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需要優化流程圖的可讀性</a:t>
            </a:r>
            <a:endParaRPr lang="en-US" altLang="zh-TW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10972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11247120" y="182880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9966960" y="8686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1521440" y="283464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0332720" y="33832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11064240" y="420624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9784080" y="457200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11430000" y="52120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0058400" y="576072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11155680" y="61264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66928" y="1993392"/>
            <a:ext cx="109728" cy="2103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1248" y="1417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MANIPULATION TECHNIQUES &amp; VISUAL EFFECTS  ·  FINAL PRESENTATION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1874520"/>
            <a:ext cx="1060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 SDXL VAE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Spurious Bright Pixels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41248" y="37947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Traditional Computer-Vision </a:t>
            </a:r>
            <a:r>
              <a:rPr lang="en-US" sz="17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ComfyUI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Node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41248" y="4709160"/>
            <a:ext cx="5669280" cy="0"/>
          </a:xfrm>
          <a:prstGeom prst="line">
            <a:avLst/>
          </a:prstGeom>
          <a:noFill/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41248" y="4892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314551028 </a:t>
            </a: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范家齊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+ Median Residual  ›  CCA  ›  LAB-Cliff Verification  ›  Telea FMM Inpainting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· PROBLEM &amp; MOTIVATION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VAE Spurious Bright Pixels?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from the proposal</a:t>
            </a:r>
          </a:p>
          <a:p>
            <a:pPr marL="0" indent="0">
              <a:buNone/>
            </a:pP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SDXL’s 8× / 4-channel VAE plus high CFG clips latent outliers into isolated white / black / purple dead pixels, and it worst on dark, smooth backgrounds.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1802892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802892" y="2587752"/>
            <a:ext cx="82296" cy="21488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040636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8× / 4-ch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40636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has to squeeze </a:t>
            </a:r>
            <a:r>
              <a:rPr lang="en-US" sz="16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latents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an 8 times compression with just four channels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68796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6368796" y="2587752"/>
            <a:ext cx="82296" cy="21488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606540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606540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pixels cover less than one percent of the image</a:t>
            </a:r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86868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5074920"/>
            <a:ext cx="82296" cy="8686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5074920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goal:  L</a:t>
            </a:r>
            <a:r>
              <a:rPr lang="en-US" altLang="zh-TW" sz="1400" b="1" dirty="0">
                <a:solidFill>
                  <a:schemeClr val="bg2">
                    <a:lumMod val="50000"/>
                  </a:schemeClr>
                </a:solidFill>
              </a:rPr>
              <a:t>ocate and repair these pixels using traditional algorithms without relying on any models, solving the issue at a much lower cost.</a:t>
            </a:r>
            <a:endParaRPr 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· RELATED 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</a:t>
            </a:r>
            <a:r>
              <a:rPr lang="en-US" sz="3000" b="1" dirty="0" err="1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Telea</a:t>
            </a: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FMM?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34010"/>
            <a:ext cx="11486388" cy="868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in the proposal</a:t>
            </a:r>
          </a:p>
          <a:p>
            <a:pPr marL="0" indent="0">
              <a:buNone/>
            </a:pP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3-pixel hole shouldn’t cost a full diffusion pass — of three inpainting paradigms, Telea FMM fits micro-scale repair best.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Rectangle 5">
            <a:extLst>
              <a:ext uri="{FF2B5EF4-FFF2-40B4-BE49-F238E27FC236}">
                <a16:creationId xmlns:a16="http://schemas.microsoft.com/office/drawing/2014/main" id="{590102FD-CA16-FCF4-4616-418B2401D521}"/>
              </a:ext>
            </a:extLst>
          </p:cNvPr>
          <p:cNvSpPr/>
          <p:nvPr/>
        </p:nvSpPr>
        <p:spPr>
          <a:xfrm>
            <a:off x="64008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6">
            <a:extLst>
              <a:ext uri="{FF2B5EF4-FFF2-40B4-BE49-F238E27FC236}">
                <a16:creationId xmlns:a16="http://schemas.microsoft.com/office/drawing/2014/main" id="{71B16C02-7DDC-149F-F6C9-4853DA0DA943}"/>
              </a:ext>
            </a:extLst>
          </p:cNvPr>
          <p:cNvSpPr/>
          <p:nvPr/>
        </p:nvSpPr>
        <p:spPr>
          <a:xfrm>
            <a:off x="640080" y="2407920"/>
            <a:ext cx="33832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7">
            <a:extLst>
              <a:ext uri="{FF2B5EF4-FFF2-40B4-BE49-F238E27FC236}">
                <a16:creationId xmlns:a16="http://schemas.microsoft.com/office/drawing/2014/main" id="{90DA41A3-7AD8-91F7-DF3D-D3BA905CB72A}"/>
              </a:ext>
            </a:extLst>
          </p:cNvPr>
          <p:cNvSpPr txBox="1"/>
          <p:nvPr/>
        </p:nvSpPr>
        <p:spPr>
          <a:xfrm>
            <a:off x="3314700" y="270510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CVPR 2022</a:t>
            </a:r>
          </a:p>
        </p:txBody>
      </p:sp>
      <p:sp>
        <p:nvSpPr>
          <p:cNvPr id="57" name="TextBox 8">
            <a:extLst>
              <a:ext uri="{FF2B5EF4-FFF2-40B4-BE49-F238E27FC236}">
                <a16:creationId xmlns:a16="http://schemas.microsoft.com/office/drawing/2014/main" id="{170FC516-2904-5DC9-491C-B6F087E73915}"/>
              </a:ext>
            </a:extLst>
          </p:cNvPr>
          <p:cNvSpPr txBox="1"/>
          <p:nvPr/>
        </p:nvSpPr>
        <p:spPr>
          <a:xfrm>
            <a:off x="1037435" y="2556450"/>
            <a:ext cx="12894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RePaint</a:t>
            </a:r>
            <a:endParaRPr dirty="0"/>
          </a:p>
        </p:txBody>
      </p:sp>
      <p:sp>
        <p:nvSpPr>
          <p:cNvPr id="58" name="TextBox 9">
            <a:extLst>
              <a:ext uri="{FF2B5EF4-FFF2-40B4-BE49-F238E27FC236}">
                <a16:creationId xmlns:a16="http://schemas.microsoft.com/office/drawing/2014/main" id="{F77A6E00-173F-4A09-F8B9-854095551784}"/>
              </a:ext>
            </a:extLst>
          </p:cNvPr>
          <p:cNvSpPr txBox="1"/>
          <p:nvPr/>
        </p:nvSpPr>
        <p:spPr>
          <a:xfrm>
            <a:off x="822960" y="304800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C2626"/>
                </a:solidFill>
                <a:latin typeface="Calibri"/>
              </a:defRPr>
            </a:pPr>
            <a:r>
              <a:rPr dirty="0"/>
              <a:t>Diffusion-Based</a:t>
            </a:r>
          </a:p>
        </p:txBody>
      </p:sp>
      <p:sp>
        <p:nvSpPr>
          <p:cNvPr id="59" name="TextBox 10">
            <a:extLst>
              <a:ext uri="{FF2B5EF4-FFF2-40B4-BE49-F238E27FC236}">
                <a16:creationId xmlns:a16="http://schemas.microsoft.com/office/drawing/2014/main" id="{9B30AF6F-8E30-620A-C96E-A339B62FC90C}"/>
              </a:ext>
            </a:extLst>
          </p:cNvPr>
          <p:cNvSpPr txBox="1"/>
          <p:nvPr/>
        </p:nvSpPr>
        <p:spPr>
          <a:xfrm>
            <a:off x="82296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rPr dirty="0"/>
              <a:t>Pretrained DDPM prior;</a:t>
            </a:r>
            <a:br>
              <a:rPr dirty="0"/>
            </a:br>
            <a:r>
              <a:rPr dirty="0"/>
              <a:t>resample for coherence</a:t>
            </a:r>
          </a:p>
        </p:txBody>
      </p:sp>
      <p:pic>
        <p:nvPicPr>
          <p:cNvPr id="60" name="Picture 11" descr="repaint_diagram.png">
            <a:extLst>
              <a:ext uri="{FF2B5EF4-FFF2-40B4-BE49-F238E27FC236}">
                <a16:creationId xmlns:a16="http://schemas.microsoft.com/office/drawing/2014/main" id="{55DDC0AF-F4B4-0DEA-9388-FFE0EF80D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330839"/>
            <a:ext cx="3200400" cy="1318366"/>
          </a:xfrm>
          <a:prstGeom prst="rect">
            <a:avLst/>
          </a:prstGeom>
        </p:spPr>
      </p:pic>
      <p:sp>
        <p:nvSpPr>
          <p:cNvPr id="61" name="Rectangle 12">
            <a:extLst>
              <a:ext uri="{FF2B5EF4-FFF2-40B4-BE49-F238E27FC236}">
                <a16:creationId xmlns:a16="http://schemas.microsoft.com/office/drawing/2014/main" id="{D67090E9-A503-B4D1-3D0A-93EF33979B57}"/>
              </a:ext>
            </a:extLst>
          </p:cNvPr>
          <p:cNvSpPr/>
          <p:nvPr/>
        </p:nvSpPr>
        <p:spPr>
          <a:xfrm>
            <a:off x="731520" y="5730240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13">
            <a:extLst>
              <a:ext uri="{FF2B5EF4-FFF2-40B4-BE49-F238E27FC236}">
                <a16:creationId xmlns:a16="http://schemas.microsoft.com/office/drawing/2014/main" id="{0AB2F876-26F0-079C-7975-90488EAEB1DF}"/>
              </a:ext>
            </a:extLst>
          </p:cNvPr>
          <p:cNvSpPr txBox="1"/>
          <p:nvPr/>
        </p:nvSpPr>
        <p:spPr>
          <a:xfrm>
            <a:off x="1037435" y="5828035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DC2626"/>
                </a:solidFill>
                <a:latin typeface="Calibri"/>
              </a:defRPr>
            </a:pPr>
            <a:r>
              <a:rPr dirty="0"/>
              <a:t>Too heavy for </a:t>
            </a:r>
            <a:r>
              <a:rPr lang="en-US" dirty="0"/>
              <a:t>small</a:t>
            </a:r>
            <a:r>
              <a:rPr dirty="0"/>
              <a:t> pixels</a:t>
            </a:r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2D417FB3-25C8-F3EE-80DE-CF6D7A48EF41}"/>
              </a:ext>
            </a:extLst>
          </p:cNvPr>
          <p:cNvSpPr/>
          <p:nvPr/>
        </p:nvSpPr>
        <p:spPr>
          <a:xfrm>
            <a:off x="443484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15">
            <a:extLst>
              <a:ext uri="{FF2B5EF4-FFF2-40B4-BE49-F238E27FC236}">
                <a16:creationId xmlns:a16="http://schemas.microsoft.com/office/drawing/2014/main" id="{0BBFA166-04E5-C5D6-0076-884BABF028F5}"/>
              </a:ext>
            </a:extLst>
          </p:cNvPr>
          <p:cNvSpPr/>
          <p:nvPr/>
        </p:nvSpPr>
        <p:spPr>
          <a:xfrm>
            <a:off x="4434840" y="2407920"/>
            <a:ext cx="3383280" cy="502920"/>
          </a:xfrm>
          <a:prstGeom prst="rect">
            <a:avLst/>
          </a:prstGeom>
          <a:solidFill>
            <a:srgbClr val="EA8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6">
            <a:extLst>
              <a:ext uri="{FF2B5EF4-FFF2-40B4-BE49-F238E27FC236}">
                <a16:creationId xmlns:a16="http://schemas.microsoft.com/office/drawing/2014/main" id="{CF835506-6914-A7F7-A7C1-BF6054E8264D}"/>
              </a:ext>
            </a:extLst>
          </p:cNvPr>
          <p:cNvSpPr txBox="1"/>
          <p:nvPr/>
        </p:nvSpPr>
        <p:spPr>
          <a:xfrm>
            <a:off x="7138452" y="2681179"/>
            <a:ext cx="3017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lang="en-US" altLang="zh-TW" dirty="0"/>
              <a:t>ACM</a:t>
            </a:r>
            <a:r>
              <a:rPr dirty="0"/>
              <a:t> 2009</a:t>
            </a: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5556B1EA-6C49-6FAA-9906-DC6B4193E44A}"/>
              </a:ext>
            </a:extLst>
          </p:cNvPr>
          <p:cNvSpPr txBox="1"/>
          <p:nvPr/>
        </p:nvSpPr>
        <p:spPr>
          <a:xfrm>
            <a:off x="4617720" y="2556450"/>
            <a:ext cx="3108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PatchMatch</a:t>
            </a:r>
            <a:endParaRPr dirty="0"/>
          </a:p>
        </p:txBody>
      </p:sp>
      <p:sp>
        <p:nvSpPr>
          <p:cNvPr id="67" name="TextBox 18">
            <a:extLst>
              <a:ext uri="{FF2B5EF4-FFF2-40B4-BE49-F238E27FC236}">
                <a16:creationId xmlns:a16="http://schemas.microsoft.com/office/drawing/2014/main" id="{BF3D94C7-147C-CB1A-FA94-2695BC616393}"/>
              </a:ext>
            </a:extLst>
          </p:cNvPr>
          <p:cNvSpPr txBox="1"/>
          <p:nvPr/>
        </p:nvSpPr>
        <p:spPr>
          <a:xfrm>
            <a:off x="4617720" y="304800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A880F"/>
                </a:solidFill>
                <a:latin typeface="Calibri"/>
              </a:defRPr>
            </a:pPr>
            <a:r>
              <a:rPr dirty="0"/>
              <a:t>Patch-Based NNF</a:t>
            </a:r>
          </a:p>
        </p:txBody>
      </p:sp>
      <p:sp>
        <p:nvSpPr>
          <p:cNvPr id="68" name="TextBox 19">
            <a:extLst>
              <a:ext uri="{FF2B5EF4-FFF2-40B4-BE49-F238E27FC236}">
                <a16:creationId xmlns:a16="http://schemas.microsoft.com/office/drawing/2014/main" id="{4247F4DD-2E92-5755-455F-A3AB4245D6FA}"/>
              </a:ext>
            </a:extLst>
          </p:cNvPr>
          <p:cNvSpPr txBox="1"/>
          <p:nvPr/>
        </p:nvSpPr>
        <p:spPr>
          <a:xfrm>
            <a:off x="461772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t>Randomized NNF search;</a:t>
            </a:r>
            <a:br/>
            <a:r>
              <a:t>patch copy from full image</a:t>
            </a:r>
          </a:p>
        </p:txBody>
      </p:sp>
      <p:pic>
        <p:nvPicPr>
          <p:cNvPr id="69" name="Picture 20" descr="patchmatch_diagram.png">
            <a:extLst>
              <a:ext uri="{FF2B5EF4-FFF2-40B4-BE49-F238E27FC236}">
                <a16:creationId xmlns:a16="http://schemas.microsoft.com/office/drawing/2014/main" id="{9F4C1C64-034A-F3F4-E6DB-5DAA08635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236720"/>
            <a:ext cx="3200400" cy="1197291"/>
          </a:xfrm>
          <a:prstGeom prst="rect">
            <a:avLst/>
          </a:prstGeom>
        </p:spPr>
      </p:pic>
      <p:sp>
        <p:nvSpPr>
          <p:cNvPr id="70" name="Rectangle 21">
            <a:extLst>
              <a:ext uri="{FF2B5EF4-FFF2-40B4-BE49-F238E27FC236}">
                <a16:creationId xmlns:a16="http://schemas.microsoft.com/office/drawing/2014/main" id="{BFD4F685-D241-B5A4-768A-A3CCA61F7413}"/>
              </a:ext>
            </a:extLst>
          </p:cNvPr>
          <p:cNvSpPr/>
          <p:nvPr/>
        </p:nvSpPr>
        <p:spPr>
          <a:xfrm>
            <a:off x="4495647" y="5711952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22">
            <a:extLst>
              <a:ext uri="{FF2B5EF4-FFF2-40B4-BE49-F238E27FC236}">
                <a16:creationId xmlns:a16="http://schemas.microsoft.com/office/drawing/2014/main" id="{BF703962-0845-D6A3-444D-12EA26D2E687}"/>
              </a:ext>
            </a:extLst>
          </p:cNvPr>
          <p:cNvSpPr txBox="1"/>
          <p:nvPr/>
        </p:nvSpPr>
        <p:spPr>
          <a:xfrm>
            <a:off x="4617720" y="57576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EA880F"/>
                </a:solidFill>
                <a:latin typeface="Calibri"/>
              </a:defRPr>
            </a:pPr>
            <a:r>
              <a:rPr dirty="0"/>
              <a:t>Over-engineered for tiny holes</a:t>
            </a:r>
          </a:p>
        </p:txBody>
      </p:sp>
      <p:sp>
        <p:nvSpPr>
          <p:cNvPr id="72" name="Rectangle 23">
            <a:extLst>
              <a:ext uri="{FF2B5EF4-FFF2-40B4-BE49-F238E27FC236}">
                <a16:creationId xmlns:a16="http://schemas.microsoft.com/office/drawing/2014/main" id="{EE344E90-C7BC-5DC2-E5BA-4930809DC09C}"/>
              </a:ext>
            </a:extLst>
          </p:cNvPr>
          <p:cNvSpPr/>
          <p:nvPr/>
        </p:nvSpPr>
        <p:spPr>
          <a:xfrm>
            <a:off x="822960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24">
            <a:extLst>
              <a:ext uri="{FF2B5EF4-FFF2-40B4-BE49-F238E27FC236}">
                <a16:creationId xmlns:a16="http://schemas.microsoft.com/office/drawing/2014/main" id="{CF11B7E6-69A5-59C8-49E6-294FDA86C843}"/>
              </a:ext>
            </a:extLst>
          </p:cNvPr>
          <p:cNvSpPr/>
          <p:nvPr/>
        </p:nvSpPr>
        <p:spPr>
          <a:xfrm>
            <a:off x="8229600" y="2407920"/>
            <a:ext cx="338328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26">
            <a:extLst>
              <a:ext uri="{FF2B5EF4-FFF2-40B4-BE49-F238E27FC236}">
                <a16:creationId xmlns:a16="http://schemas.microsoft.com/office/drawing/2014/main" id="{4029B4A4-2D7C-5FA1-E7E7-9765C80AAB19}"/>
              </a:ext>
            </a:extLst>
          </p:cNvPr>
          <p:cNvSpPr txBox="1"/>
          <p:nvPr/>
        </p:nvSpPr>
        <p:spPr>
          <a:xfrm>
            <a:off x="8412480" y="2542849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Telea</a:t>
            </a:r>
            <a:r>
              <a:rPr dirty="0"/>
              <a:t> FMM</a:t>
            </a:r>
          </a:p>
        </p:txBody>
      </p:sp>
      <p:sp>
        <p:nvSpPr>
          <p:cNvPr id="75" name="TextBox 27">
            <a:extLst>
              <a:ext uri="{FF2B5EF4-FFF2-40B4-BE49-F238E27FC236}">
                <a16:creationId xmlns:a16="http://schemas.microsoft.com/office/drawing/2014/main" id="{FD72F84E-9B08-5452-6B32-244FF9D95A4D}"/>
              </a:ext>
            </a:extLst>
          </p:cNvPr>
          <p:cNvSpPr txBox="1"/>
          <p:nvPr/>
        </p:nvSpPr>
        <p:spPr>
          <a:xfrm>
            <a:off x="8412480" y="3048000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Calibri"/>
              </a:defRPr>
            </a:pPr>
            <a:r>
              <a:rPr lang="en-US" altLang="zh-TW" sz="1200" b="1" dirty="0"/>
              <a:t>Boundary Diffusion</a:t>
            </a:r>
            <a:endParaRPr dirty="0"/>
          </a:p>
        </p:txBody>
      </p:sp>
      <p:sp>
        <p:nvSpPr>
          <p:cNvPr id="76" name="TextBox 28">
            <a:extLst>
              <a:ext uri="{FF2B5EF4-FFF2-40B4-BE49-F238E27FC236}">
                <a16:creationId xmlns:a16="http://schemas.microsoft.com/office/drawing/2014/main" id="{2C80E8A8-502B-F2E4-365F-FC48BDCB577F}"/>
              </a:ext>
            </a:extLst>
          </p:cNvPr>
          <p:cNvSpPr txBox="1"/>
          <p:nvPr/>
        </p:nvSpPr>
        <p:spPr>
          <a:xfrm>
            <a:off x="841248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t>Boundary propagation;</a:t>
            </a:r>
            <a:br/>
            <a:r>
              <a:t>isophote-preserving avg</a:t>
            </a:r>
          </a:p>
        </p:txBody>
      </p:sp>
      <p:pic>
        <p:nvPicPr>
          <p:cNvPr id="77" name="Picture 29" descr="telea_fmm_diagram.png">
            <a:extLst>
              <a:ext uri="{FF2B5EF4-FFF2-40B4-BE49-F238E27FC236}">
                <a16:creationId xmlns:a16="http://schemas.microsoft.com/office/drawing/2014/main" id="{143EFA57-344C-81D8-D502-A76E97204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4236720"/>
            <a:ext cx="3200400" cy="1459264"/>
          </a:xfrm>
          <a:prstGeom prst="rect">
            <a:avLst/>
          </a:prstGeom>
        </p:spPr>
      </p:pic>
      <p:sp>
        <p:nvSpPr>
          <p:cNvPr id="78" name="Rectangle 30">
            <a:extLst>
              <a:ext uri="{FF2B5EF4-FFF2-40B4-BE49-F238E27FC236}">
                <a16:creationId xmlns:a16="http://schemas.microsoft.com/office/drawing/2014/main" id="{7A13F7B6-D46C-C45C-F25E-4F087DA63CE0}"/>
              </a:ext>
            </a:extLst>
          </p:cNvPr>
          <p:cNvSpPr/>
          <p:nvPr/>
        </p:nvSpPr>
        <p:spPr>
          <a:xfrm>
            <a:off x="8321040" y="5730240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464139D0-0DC9-EF45-B539-58555874E773}"/>
              </a:ext>
            </a:extLst>
          </p:cNvPr>
          <p:cNvSpPr txBox="1"/>
          <p:nvPr/>
        </p:nvSpPr>
        <p:spPr>
          <a:xfrm>
            <a:off x="8412480" y="5757672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6A34A"/>
                </a:solidFill>
                <a:latin typeface="Calibri"/>
              </a:defRPr>
            </a:pPr>
            <a:r>
              <a:rPr lang="en-US" altLang="zh-TW" sz="1100" dirty="0"/>
              <a:t>Suitable</a:t>
            </a:r>
            <a:r>
              <a:rPr dirty="0"/>
              <a:t> for </a:t>
            </a:r>
            <a:r>
              <a:rPr lang="en-US" dirty="0"/>
              <a:t>small region </a:t>
            </a:r>
            <a:r>
              <a:rPr dirty="0"/>
              <a:t>repair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Overview — A Five-Stage CV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 ·  SDXL image (BGR)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53144" y="1600200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153144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 ·  Repaired image + MASK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66928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271016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271016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Dual-Path Energy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(sharp dots) + Median residual (flat blobs)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42032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827325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827325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531413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531413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55341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 Thresholds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55341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seed mask + loose context mask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2429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087722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5087722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5791810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791810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15738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 Filter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5738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CCA: area, seed-core, aspect-ratio rules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62826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48118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348118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8052206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8052206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476134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Verification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76134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vs falloff + color distance — protects stars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3222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608515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9608515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10312603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10312603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736531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Dilate + Telea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736531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mask, Fast-Marching inpaint (r ∈ [2,7])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566928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768096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NN dependency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768096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NumPy only — no model weights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Shape 45"/>
          <p:cNvSpPr/>
          <p:nvPr/>
        </p:nvSpPr>
        <p:spPr>
          <a:xfrm>
            <a:off x="4343400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8" name="Text 46"/>
          <p:cNvSpPr/>
          <p:nvPr/>
        </p:nvSpPr>
        <p:spPr>
          <a:xfrm>
            <a:off x="4544568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Resolution-adaptive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544568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max_noise_size auto-scales from 1024² baseline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19872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8119872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8321040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modular classes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8321040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Single-responsibility core/ + GUI + ComfyUI node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I — Dual-Path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filter catches both artifact shapes, so two complementary paths run in parallel and are OR-merged.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057400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804672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Laplacian energy path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2nd-derivative filter on BT.709 grayscale. Reacts wherever a pixel differs sharply from its neighbors — catches sharp-edged white / black dead pixels regardless of brightness.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T_lap  =  sensitivity × 255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27064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6227064" y="2057400"/>
            <a:ext cx="82296" cy="2331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64808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 residual path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64808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|source − median-blur|, per-pixel max channel. Median is immune to lone extremes, so the residual lights up flat, off-color blobs (purple / green bleed) that Laplacian misses.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T_med  =  20 + sensitivity × 80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617720"/>
            <a:ext cx="11055096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82296" cy="1463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4782312"/>
            <a:ext cx="1050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thresholds, two questions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129784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mask (strict)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“is there a real high-energy core here?”  Marks only the strongest pixels.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mask (loose, 0.25×)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“how far does the halo extend?”  Captures the full artifact outline for clean repair.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II — Structural &amp; LAB Verification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2296" cy="22860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77393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3 — Structural filter (CCA)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139696"/>
            <a:ext cx="5074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Isolation — component area ≤ 5 × max_noise_size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Seed core — must contain a seed pixel; seed area ≤ max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Shape — rotated-bbox aspect ratio ≤ 3.0 (rejects hair / scratches)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041648"/>
            <a:ext cx="548640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66928" y="4041648"/>
            <a:ext cx="82296" cy="206654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4 — LAB chromatic verification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4672" y="4553712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internal_drop_ratio &gt; 0.6 − 0.2·sens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‖Δa*b*‖ ≥ 3 + 15·sens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blob iff  cliff OR colored — this is what separates a VAE impulse from a real star.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627632"/>
            <a:ext cx="5266944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6355080" y="1627632"/>
            <a:ext cx="82296" cy="44805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592824" y="1773936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star  vs  VAE impulse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39128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7159752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580376" y="2286000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8421624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6739128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7159752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7580376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8001000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8421624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6739128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7159752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758037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800100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8421624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739128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159752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Shape 30"/>
          <p:cNvSpPr/>
          <p:nvPr/>
        </p:nvSpPr>
        <p:spPr>
          <a:xfrm>
            <a:off x="7580376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001000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8421624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6739128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7159752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7580376" y="3968496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8001000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8421624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693408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falloff → KEEP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171432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9592056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10012680" y="2286000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Shape 42"/>
          <p:cNvSpPr/>
          <p:nvPr/>
        </p:nvSpPr>
        <p:spPr>
          <a:xfrm>
            <a:off x="10433304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Shape 43"/>
          <p:cNvSpPr/>
          <p:nvPr/>
        </p:nvSpPr>
        <p:spPr>
          <a:xfrm>
            <a:off x="10853928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9171432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Shape 45"/>
          <p:cNvSpPr/>
          <p:nvPr/>
        </p:nvSpPr>
        <p:spPr>
          <a:xfrm>
            <a:off x="9592056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Shape 46"/>
          <p:cNvSpPr/>
          <p:nvPr/>
        </p:nvSpPr>
        <p:spPr>
          <a:xfrm>
            <a:off x="10012680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10433304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48"/>
          <p:cNvSpPr/>
          <p:nvPr/>
        </p:nvSpPr>
        <p:spPr>
          <a:xfrm>
            <a:off x="10853928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9171432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2" name="Shape 50"/>
          <p:cNvSpPr/>
          <p:nvPr/>
        </p:nvSpPr>
        <p:spPr>
          <a:xfrm>
            <a:off x="959205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Shape 51"/>
          <p:cNvSpPr/>
          <p:nvPr/>
        </p:nvSpPr>
        <p:spPr>
          <a:xfrm>
            <a:off x="1001268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hape 52"/>
          <p:cNvSpPr/>
          <p:nvPr/>
        </p:nvSpPr>
        <p:spPr>
          <a:xfrm>
            <a:off x="10433304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Shape 53"/>
          <p:cNvSpPr/>
          <p:nvPr/>
        </p:nvSpPr>
        <p:spPr>
          <a:xfrm>
            <a:off x="10853928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Shape 54"/>
          <p:cNvSpPr/>
          <p:nvPr/>
        </p:nvSpPr>
        <p:spPr>
          <a:xfrm>
            <a:off x="9171432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Shape 55"/>
          <p:cNvSpPr/>
          <p:nvPr/>
        </p:nvSpPr>
        <p:spPr>
          <a:xfrm>
            <a:off x="9592056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8" name="Shape 56"/>
          <p:cNvSpPr/>
          <p:nvPr/>
        </p:nvSpPr>
        <p:spPr>
          <a:xfrm>
            <a:off x="10012680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hape 57"/>
          <p:cNvSpPr/>
          <p:nvPr/>
        </p:nvSpPr>
        <p:spPr>
          <a:xfrm>
            <a:off x="10433304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Shape 58"/>
          <p:cNvSpPr/>
          <p:nvPr/>
        </p:nvSpPr>
        <p:spPr>
          <a:xfrm>
            <a:off x="10853928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Shape 59"/>
          <p:cNvSpPr/>
          <p:nvPr/>
        </p:nvSpPr>
        <p:spPr>
          <a:xfrm>
            <a:off x="9171432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2" name="Shape 60"/>
          <p:cNvSpPr/>
          <p:nvPr/>
        </p:nvSpPr>
        <p:spPr>
          <a:xfrm>
            <a:off x="9592056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61"/>
          <p:cNvSpPr/>
          <p:nvPr/>
        </p:nvSpPr>
        <p:spPr>
          <a:xfrm>
            <a:off x="10012680" y="3968496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Shape 62"/>
          <p:cNvSpPr/>
          <p:nvPr/>
        </p:nvSpPr>
        <p:spPr>
          <a:xfrm>
            <a:off x="10433304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Shape 63"/>
          <p:cNvSpPr/>
          <p:nvPr/>
        </p:nvSpPr>
        <p:spPr>
          <a:xfrm>
            <a:off x="10853928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6" name="Text 64"/>
          <p:cNvSpPr/>
          <p:nvPr/>
        </p:nvSpPr>
        <p:spPr>
          <a:xfrm>
            <a:off x="9125712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impulse → REPAIR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92824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 ramps up smoothly to its peak; an artifact spikes from background straight to 255. The LAB cliff ratio quantifies exactly this difference.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Implementation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77393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Modular core/ (11 classes)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13055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one single-responsibility class — energy, thresholding, structural, chromatic, morphology, detector, inpainter, pipeline — independently testable.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9924" y="162763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2763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87668" y="177393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Resolution-adaptive scaling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7668" y="213055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max_noise_size is calibrated at a 1024² baseline and auto-scales by pixel ratio, so one parameter behaves consistently from 768p to 2K+.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8211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804672" y="332841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Telea inpaint, radius-clamped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04672" y="368503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cv2.INPAINT_TELEA with radius = clip(⌈√A⌉, 2, 7); empty-mask fast-path copies the original untouched.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49924" y="318211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318211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87668" y="332841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Batch + tensor bridge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7668" y="368503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ComfyUI 4-D [B,H,W,C] tensors with a single GPU↔CPU transfer per batch — video / sequence friendly.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566928" y="473659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04672" y="488289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preview modes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04672" y="523951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Original, overlay, mask, repaired, side-by-side and every intermediate map — turns parameter tuning into direct inspection.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9924" y="473659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6249924" y="473659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487668" y="488289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front-ends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7668" y="523951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OpenCV GUI (live sliders, zoom lens, HUD stats) and a drop-in ComfyUI node exposing IMAGE + reusable MASK.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Before &amp; After Repair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029200" cy="4572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 ·  SDXL OUTPUT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before image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92824" y="1783080"/>
            <a:ext cx="502920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775704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 ·  TELEA-REPAIRED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92824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775704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fixed image 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83580" y="3278124"/>
            <a:ext cx="621792" cy="621792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783580" y="32049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66928" y="5596128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566928" y="5596128"/>
            <a:ext cx="82296" cy="71323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22960" y="5596128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 (portrait on black):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 spurious pixels detected and removed, ~0.17% coverage, repaired in </a:t>
            </a: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ms on the CPU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GPU, no VRAM, detail untouched.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Walkthrough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I’ll show on screen (also captured as a ~2:45 backup clip).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786384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Standalone GUI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noisy SDXL image; drag the sensitivity, max-size and dilate sliders and watch the mask update in real time.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282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399282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18738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618738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00450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preview modes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00450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1–0 / − step through original → overlay → Laplacian → median → seed → context → filtered → LAB-verified.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1636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6231636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451092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51092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32804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 &amp; side-by-side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32804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to Repaired and Side-by-Side; the HUD reports blob count, coverage and detection time 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3990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9063990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9283446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928344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65158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ComfyUI integration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265158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KSampler → VAE Decode → VAE Noise Fix → Save, with the MASK output wired to a downstream node.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532120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566928" y="5532120"/>
            <a:ext cx="82296" cy="7132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822960" y="5532120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repair finishes in tens of milliseconds on the CPU — the diffusion-based alternative would take seconds and a GPU.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· DIFFICULTIES &amp; UNIQUENESS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Hard — and What’s New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5413248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82296" cy="444398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Uniqueness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ComfyUI node combines automatic luminance + area + LAB filtering with integrated CV inpainting in a single drop-in node.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options are either deep-learning detailers (heavy, semantic-only) or manual-mask inpaint nodes — users otherwise wire a fragile “spaghetti” graph.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Hybrid-CV philosophy: encode domain knowledge as explicit, interpretable, deterministic rules instead of a black box.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MASK output lets downstream nodes share the detection.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664208"/>
            <a:ext cx="5422392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199632" y="1664208"/>
            <a:ext cx="82296" cy="444398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37376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Difficulties &amp; limitations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Star-vs-noise discrimination is the core challenge — both are small, bright and isolated; solved via the LAB cliff-ratio test.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sharp-edged points (e.g. a 2×2 pure-white star) have no falloff and can still be removed — an inherent edge case.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VAE collapse (large grid-like noise) exceeds a single max_noise_size and needs manual tuning.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4K+ CCA / LAB loops cost extra CPU time (still typically within 1–2 s).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841248" y="137160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· 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168249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 Tool, Not the Trendiest 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41248" y="2487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classical-CV pipeline removes SDXL VAE spurious bright pixels in milliseconds, on the CPU, with zero model weights — preserving the detail a full diffusion repaint would erase.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566928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sensitivity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thresholds so star fields and dark portraits coexist in one pass.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62856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62856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Temporal consistency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62856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Frame-to-frame coherence for video / animation sequences.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19872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8119872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339328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339328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learned fallback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39328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model only for severe, large-area VAE collapse.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532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 ·  Questions?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50024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Phecda  ·  NYCU  ·  Spring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1619</Words>
  <Application>Microsoft Office PowerPoint</Application>
  <PresentationFormat>寬螢幕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Trebuchet MS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Fixing SDXL VAE Spurious Bright Pixels</dc:title>
  <dc:subject>PptxGenJS Presentation</dc:subject>
  <dc:creator>Phecda</dc:creator>
  <cp:lastModifiedBy>范家齊</cp:lastModifiedBy>
  <cp:revision>7</cp:revision>
  <dcterms:created xsi:type="dcterms:W3CDTF">2026-05-21T13:14:37Z</dcterms:created>
  <dcterms:modified xsi:type="dcterms:W3CDTF">2026-05-23T14:09:32Z</dcterms:modified>
</cp:coreProperties>
</file>