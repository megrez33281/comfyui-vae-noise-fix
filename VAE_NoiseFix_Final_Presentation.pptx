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0" autoAdjust="0"/>
    <p:restoredTop sz="79156" autoAdjust="0"/>
  </p:normalViewPr>
  <p:slideViewPr>
    <p:cSldViewPr snapToGrid="0" snapToObjects="1">
      <p:cViewPr varScale="1">
        <p:scale>
          <a:sx n="126" d="100"/>
          <a:sy n="126" d="100"/>
        </p:scale>
        <p:origin x="381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3610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The problem I’m solving is a specific SDXL artifact. </a:t>
            </a:r>
          </a:p>
          <a:p>
            <a:r>
              <a:rPr lang="en-US" altLang="zh-TW" dirty="0"/>
              <a:t>The root cause is a bandwidth bottleneck. </a:t>
            </a:r>
          </a:p>
          <a:p>
            <a:r>
              <a:rPr lang="en-US" altLang="zh-TW" dirty="0"/>
              <a:t>The VAE has to squeeze </a:t>
            </a:r>
            <a:r>
              <a:rPr lang="en-US" altLang="zh-TW" dirty="0" err="1"/>
              <a:t>latents</a:t>
            </a:r>
            <a:r>
              <a:rPr lang="en-US" altLang="zh-TW" dirty="0"/>
              <a:t> through an 8 times compression with just four channels. </a:t>
            </a:r>
          </a:p>
          <a:p>
            <a:r>
              <a:rPr lang="en-US" altLang="zh-TW" dirty="0"/>
              <a:t>When use a high CFG scale, it pushes </a:t>
            </a:r>
            <a:r>
              <a:rPr lang="en-US" altLang="zh-TW" dirty="0" err="1"/>
              <a:t>latents</a:t>
            </a:r>
            <a:r>
              <a:rPr lang="en-US" altLang="zh-TW" dirty="0"/>
              <a:t> out of distribution, causing the final layers to clip them. </a:t>
            </a:r>
          </a:p>
          <a:p>
            <a:r>
              <a:rPr lang="en-US" altLang="zh-TW" dirty="0"/>
              <a:t>These isolated dead pixels appear as white, black, or pure color dots, </a:t>
            </a:r>
            <a:r>
              <a:rPr lang="en-US" altLang="zh-TW" b="1" dirty="0"/>
              <a:t>and they are especially noticeable in dark areas.</a:t>
            </a:r>
            <a:endParaRPr lang="en-US" altLang="zh-TW" dirty="0"/>
          </a:p>
          <a:p>
            <a:r>
              <a:rPr lang="en-US" altLang="zh-TW" dirty="0"/>
              <a:t>Although these pixels cover less than one percent of the image, </a:t>
            </a:r>
            <a:r>
              <a:rPr lang="en-US" altLang="zh-TW" b="1" dirty="0"/>
              <a:t>fixing them manually is incredibly tedious, and using a model to repair them is far too computationally expensive.</a:t>
            </a:r>
          </a:p>
          <a:p>
            <a:r>
              <a:rPr lang="en-US" altLang="zh-TW" dirty="0"/>
              <a:t>The goal of this project is to locate and repair these pixels using traditional algorithms without relying on any models, solving the issue at a much lower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Here, I chose the </a:t>
            </a:r>
            <a:r>
              <a:rPr lang="en-US" altLang="zh-TW" b="1" dirty="0" err="1"/>
              <a:t>Telea</a:t>
            </a:r>
            <a:r>
              <a:rPr lang="en-US" altLang="zh-TW" b="1" dirty="0"/>
              <a:t> FMM</a:t>
            </a:r>
            <a:r>
              <a:rPr lang="en-US" altLang="zh-TW" dirty="0"/>
              <a:t> algorithm for the inpainting process. </a:t>
            </a:r>
          </a:p>
          <a:p>
            <a:r>
              <a:rPr lang="en-US" altLang="zh-TW" dirty="0"/>
              <a:t>Compared to the other two methods, it is significantly more lightweight and faster.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此處選使用</a:t>
            </a:r>
            <a:r>
              <a:rPr lang="en-US" altLang="zh-TW" dirty="0" err="1"/>
              <a:t>Telea</a:t>
            </a:r>
            <a:r>
              <a:rPr lang="en-US" altLang="zh-TW" dirty="0"/>
              <a:t> FMM</a:t>
            </a:r>
            <a:r>
              <a:rPr lang="zh-TW" altLang="en-US" dirty="0"/>
              <a:t>進行修補</a:t>
            </a:r>
            <a:endParaRPr lang="en-US" altLang="zh-TW" dirty="0"/>
          </a:p>
          <a:p>
            <a:r>
              <a:rPr lang="zh-TW" altLang="en-US" dirty="0"/>
              <a:t>因為其相較其他兩種方法更為輕便、快捷</a:t>
            </a:r>
            <a:endParaRPr lang="en-US" altLang="zh-TW" dirty="0"/>
          </a:p>
          <a:p>
            <a:endParaRPr lang="en-US" altLang="zh-TW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整個系統分成三個步驟</a:t>
            </a:r>
            <a:endParaRPr lang="en-US" altLang="zh-TW" dirty="0"/>
          </a:p>
          <a:p>
            <a:r>
              <a:rPr lang="zh-TW" altLang="en-US" dirty="0"/>
              <a:t>一、用拉普拉斯加</a:t>
            </a:r>
            <a:r>
              <a:rPr lang="en-US" altLang="zh-TW" sz="1200" dirty="0"/>
              <a:t>Median</a:t>
            </a:r>
            <a:r>
              <a:rPr lang="zh-TW" altLang="en-US" sz="1200" dirty="0"/>
              <a:t> </a:t>
            </a:r>
            <a:r>
              <a:rPr lang="en-US" altLang="zh-TW" sz="1200" dirty="0"/>
              <a:t>Residual</a:t>
            </a:r>
            <a:r>
              <a:rPr lang="zh-TW" altLang="en-US" sz="1200" dirty="0"/>
              <a:t>以</a:t>
            </a:r>
            <a:r>
              <a:rPr lang="zh-TW" altLang="en-US" dirty="0"/>
              <a:t>亮度作為閾值找出候選像素，再透過</a:t>
            </a:r>
            <a:r>
              <a:rPr lang="en-US" altLang="zh-TW" dirty="0"/>
              <a:t>CCA</a:t>
            </a:r>
            <a:r>
              <a:rPr lang="zh-TW" altLang="en-US" dirty="0"/>
              <a:t>與方差過濾去除誤報，得到精準遮罩；</a:t>
            </a:r>
          </a:p>
          <a:p>
            <a:r>
              <a:rPr lang="zh-TW" altLang="en-US" dirty="0"/>
              <a:t>二、交給</a:t>
            </a:r>
            <a:r>
              <a:rPr lang="en-US" altLang="zh-TW" dirty="0" err="1"/>
              <a:t>Telea</a:t>
            </a:r>
            <a:r>
              <a:rPr lang="zh-TW" altLang="en-US" dirty="0"/>
              <a:t> </a:t>
            </a:r>
            <a:r>
              <a:rPr lang="en-US" altLang="zh-TW" dirty="0"/>
              <a:t>FMM</a:t>
            </a:r>
            <a:r>
              <a:rPr lang="zh-TW" altLang="en-US" dirty="0"/>
              <a:t>進行修補；</a:t>
            </a:r>
          </a:p>
          <a:p>
            <a:r>
              <a:rPr lang="zh-TW" altLang="en-US" dirty="0"/>
              <a:t>三、提供帶紅色遮罩預覽的</a:t>
            </a:r>
            <a:r>
              <a:rPr lang="en-US" altLang="zh-TW" dirty="0"/>
              <a:t>GUI</a:t>
            </a:r>
            <a:r>
              <a:rPr lang="zh-TW" altLang="en-US" dirty="0"/>
              <a:t>供即時參數調整甚至讓使用者對遮罩進行編輯；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109728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11247120" y="182880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9966960" y="8686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11521440" y="283464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10332720" y="33832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11064240" y="420624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Shape 6"/>
          <p:cNvSpPr/>
          <p:nvPr/>
        </p:nvSpPr>
        <p:spPr>
          <a:xfrm>
            <a:off x="9784080" y="457200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11430000" y="521208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10058400" y="5760720"/>
            <a:ext cx="82296" cy="8229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11155680" y="6126480"/>
            <a:ext cx="82296" cy="82296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566928" y="1993392"/>
            <a:ext cx="109728" cy="21031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841248" y="141732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 MANIPULATION TECHNIQUES &amp; VISUAL EFFECTS  ·  FINAL PRESENTATION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1874520"/>
            <a:ext cx="10607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Fixing SDXL VAE</a:t>
            </a:r>
            <a:endParaRPr lang="en-US" sz="4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Spurious Bright Pixels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41248" y="37947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Traditional Computer-Vision </a:t>
            </a:r>
            <a:r>
              <a:rPr lang="en-US" sz="1700" i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ComfyUI</a:t>
            </a: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Node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41248" y="4709160"/>
            <a:ext cx="5669280" cy="0"/>
          </a:xfrm>
          <a:prstGeom prst="line">
            <a:avLst/>
          </a:prstGeom>
          <a:noFill/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841248" y="48920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314551028 </a:t>
            </a:r>
            <a:r>
              <a:rPr lang="zh-TW" alt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范家齊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" y="5989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Laplacian + Median Residual  ›  CCA  ›  LAB-Cliff Verification  ›  Telea FMM Inpainting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 · PROBLEM &amp; MOTIVATION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Are VAE Spurious Bright Pixels?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36192"/>
            <a:ext cx="11055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from the proposal</a:t>
            </a:r>
          </a:p>
          <a:p>
            <a:pPr marL="0" indent="0">
              <a:buNone/>
            </a:pP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SDXL’s 8× / 4-channel VAE plus high CFG clips latent outliers into isolated white / black / purple dead pixels, and it worst on dark, smooth backgrounds.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1802892" y="2587752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1802892" y="2587752"/>
            <a:ext cx="82296" cy="21488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2040636" y="284378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D9770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8× / 4-ch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040636" y="3758184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VAE has to squeeze </a:t>
            </a:r>
            <a:r>
              <a:rPr lang="en-US" sz="16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latents</a:t>
            </a: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through an 8 times compression with just four channels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68796" y="2587752"/>
            <a:ext cx="3502152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6368796" y="2587752"/>
            <a:ext cx="82296" cy="21488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606540" y="2843784"/>
            <a:ext cx="3044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1%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606540" y="3758184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pixels cover less than one percent of the image</a:t>
            </a:r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55096" cy="868680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66928" y="5074920"/>
            <a:ext cx="82296" cy="8686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822960" y="5074920"/>
            <a:ext cx="10597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goal:  L</a:t>
            </a:r>
            <a:r>
              <a:rPr lang="en-US" altLang="zh-TW" sz="1400" b="1" dirty="0">
                <a:solidFill>
                  <a:schemeClr val="bg2">
                    <a:lumMod val="50000"/>
                  </a:schemeClr>
                </a:solidFill>
              </a:rPr>
              <a:t>ocate and repair these pixels using traditional algorithms without relying on any models, solving the issue at a much lower cost.</a:t>
            </a:r>
            <a:endParaRPr 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 · RELATED WORK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</a:t>
            </a:r>
            <a:r>
              <a:rPr lang="en-US" sz="3000" b="1" dirty="0" err="1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Telea</a:t>
            </a: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FMM?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34010"/>
            <a:ext cx="11486388" cy="868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in the proposal</a:t>
            </a:r>
          </a:p>
          <a:p>
            <a:pPr marL="0" indent="0">
              <a:buNone/>
            </a:pPr>
            <a:r>
              <a:rPr lang="en-US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3-pixel hole shouldn’t cost a full diffusion pass — of three inpainting paradigms, Telea FMM fits micro-scale repair best.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4" name="Rectangle 5">
            <a:extLst>
              <a:ext uri="{FF2B5EF4-FFF2-40B4-BE49-F238E27FC236}">
                <a16:creationId xmlns:a16="http://schemas.microsoft.com/office/drawing/2014/main" id="{590102FD-CA16-FCF4-4616-418B2401D521}"/>
              </a:ext>
            </a:extLst>
          </p:cNvPr>
          <p:cNvSpPr/>
          <p:nvPr/>
        </p:nvSpPr>
        <p:spPr>
          <a:xfrm>
            <a:off x="640080" y="2407919"/>
            <a:ext cx="3383280" cy="3712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6">
            <a:extLst>
              <a:ext uri="{FF2B5EF4-FFF2-40B4-BE49-F238E27FC236}">
                <a16:creationId xmlns:a16="http://schemas.microsoft.com/office/drawing/2014/main" id="{71B16C02-7DDC-149F-F6C9-4853DA0DA943}"/>
              </a:ext>
            </a:extLst>
          </p:cNvPr>
          <p:cNvSpPr/>
          <p:nvPr/>
        </p:nvSpPr>
        <p:spPr>
          <a:xfrm>
            <a:off x="640080" y="2407920"/>
            <a:ext cx="33832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7">
            <a:extLst>
              <a:ext uri="{FF2B5EF4-FFF2-40B4-BE49-F238E27FC236}">
                <a16:creationId xmlns:a16="http://schemas.microsoft.com/office/drawing/2014/main" id="{90DA41A3-7AD8-91F7-DF3D-D3BA905CB72A}"/>
              </a:ext>
            </a:extLst>
          </p:cNvPr>
          <p:cNvSpPr txBox="1"/>
          <p:nvPr/>
        </p:nvSpPr>
        <p:spPr>
          <a:xfrm>
            <a:off x="3314700" y="2705100"/>
            <a:ext cx="3017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rPr dirty="0"/>
              <a:t>CVPR 2022</a:t>
            </a:r>
          </a:p>
        </p:txBody>
      </p:sp>
      <p:sp>
        <p:nvSpPr>
          <p:cNvPr id="57" name="TextBox 8">
            <a:extLst>
              <a:ext uri="{FF2B5EF4-FFF2-40B4-BE49-F238E27FC236}">
                <a16:creationId xmlns:a16="http://schemas.microsoft.com/office/drawing/2014/main" id="{170FC516-2904-5DC9-491C-B6F087E73915}"/>
              </a:ext>
            </a:extLst>
          </p:cNvPr>
          <p:cNvSpPr txBox="1"/>
          <p:nvPr/>
        </p:nvSpPr>
        <p:spPr>
          <a:xfrm>
            <a:off x="1037435" y="2556450"/>
            <a:ext cx="12894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rPr dirty="0" err="1"/>
              <a:t>RePaint</a:t>
            </a:r>
            <a:endParaRPr dirty="0"/>
          </a:p>
        </p:txBody>
      </p:sp>
      <p:sp>
        <p:nvSpPr>
          <p:cNvPr id="58" name="TextBox 9">
            <a:extLst>
              <a:ext uri="{FF2B5EF4-FFF2-40B4-BE49-F238E27FC236}">
                <a16:creationId xmlns:a16="http://schemas.microsoft.com/office/drawing/2014/main" id="{F77A6E00-173F-4A09-F8B9-854095551784}"/>
              </a:ext>
            </a:extLst>
          </p:cNvPr>
          <p:cNvSpPr txBox="1"/>
          <p:nvPr/>
        </p:nvSpPr>
        <p:spPr>
          <a:xfrm>
            <a:off x="822960" y="304800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C2626"/>
                </a:solidFill>
                <a:latin typeface="Calibri"/>
              </a:defRPr>
            </a:pPr>
            <a:r>
              <a:rPr dirty="0"/>
              <a:t>Diffusion-Based</a:t>
            </a:r>
          </a:p>
        </p:txBody>
      </p:sp>
      <p:sp>
        <p:nvSpPr>
          <p:cNvPr id="59" name="TextBox 10">
            <a:extLst>
              <a:ext uri="{FF2B5EF4-FFF2-40B4-BE49-F238E27FC236}">
                <a16:creationId xmlns:a16="http://schemas.microsoft.com/office/drawing/2014/main" id="{9B30AF6F-8E30-620A-C96E-A339B62FC90C}"/>
              </a:ext>
            </a:extLst>
          </p:cNvPr>
          <p:cNvSpPr txBox="1"/>
          <p:nvPr/>
        </p:nvSpPr>
        <p:spPr>
          <a:xfrm>
            <a:off x="822960" y="33680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B5563"/>
                </a:solidFill>
                <a:latin typeface="Calibri"/>
              </a:defRPr>
            </a:pPr>
            <a:r>
              <a:rPr dirty="0"/>
              <a:t>Pretrained DDPM prior;</a:t>
            </a:r>
            <a:br>
              <a:rPr dirty="0"/>
            </a:br>
            <a:r>
              <a:rPr dirty="0"/>
              <a:t>resample for coherence</a:t>
            </a:r>
          </a:p>
        </p:txBody>
      </p:sp>
      <p:pic>
        <p:nvPicPr>
          <p:cNvPr id="60" name="Picture 11" descr="repaint_diagram.png">
            <a:extLst>
              <a:ext uri="{FF2B5EF4-FFF2-40B4-BE49-F238E27FC236}">
                <a16:creationId xmlns:a16="http://schemas.microsoft.com/office/drawing/2014/main" id="{55DDC0AF-F4B4-0DEA-9388-FFE0EF80D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330839"/>
            <a:ext cx="3200400" cy="1318366"/>
          </a:xfrm>
          <a:prstGeom prst="rect">
            <a:avLst/>
          </a:prstGeom>
        </p:spPr>
      </p:pic>
      <p:sp>
        <p:nvSpPr>
          <p:cNvPr id="61" name="Rectangle 12">
            <a:extLst>
              <a:ext uri="{FF2B5EF4-FFF2-40B4-BE49-F238E27FC236}">
                <a16:creationId xmlns:a16="http://schemas.microsoft.com/office/drawing/2014/main" id="{D67090E9-A503-B4D1-3D0A-93EF33979B57}"/>
              </a:ext>
            </a:extLst>
          </p:cNvPr>
          <p:cNvSpPr/>
          <p:nvPr/>
        </p:nvSpPr>
        <p:spPr>
          <a:xfrm>
            <a:off x="731520" y="5730240"/>
            <a:ext cx="3200400" cy="3657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13">
            <a:extLst>
              <a:ext uri="{FF2B5EF4-FFF2-40B4-BE49-F238E27FC236}">
                <a16:creationId xmlns:a16="http://schemas.microsoft.com/office/drawing/2014/main" id="{0AB2F876-26F0-079C-7975-90488EAEB1DF}"/>
              </a:ext>
            </a:extLst>
          </p:cNvPr>
          <p:cNvSpPr txBox="1"/>
          <p:nvPr/>
        </p:nvSpPr>
        <p:spPr>
          <a:xfrm>
            <a:off x="1037435" y="5828035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DC2626"/>
                </a:solidFill>
                <a:latin typeface="Calibri"/>
              </a:defRPr>
            </a:pPr>
            <a:r>
              <a:rPr dirty="0"/>
              <a:t>Too heavy for </a:t>
            </a:r>
            <a:r>
              <a:rPr lang="en-US" dirty="0"/>
              <a:t>small</a:t>
            </a:r>
            <a:r>
              <a:rPr dirty="0"/>
              <a:t> pixels</a:t>
            </a:r>
          </a:p>
        </p:txBody>
      </p:sp>
      <p:sp>
        <p:nvSpPr>
          <p:cNvPr id="63" name="Rectangle 14">
            <a:extLst>
              <a:ext uri="{FF2B5EF4-FFF2-40B4-BE49-F238E27FC236}">
                <a16:creationId xmlns:a16="http://schemas.microsoft.com/office/drawing/2014/main" id="{2D417FB3-25C8-F3EE-80DE-CF6D7A48EF41}"/>
              </a:ext>
            </a:extLst>
          </p:cNvPr>
          <p:cNvSpPr/>
          <p:nvPr/>
        </p:nvSpPr>
        <p:spPr>
          <a:xfrm>
            <a:off x="4434840" y="2407919"/>
            <a:ext cx="3383280" cy="3712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15">
            <a:extLst>
              <a:ext uri="{FF2B5EF4-FFF2-40B4-BE49-F238E27FC236}">
                <a16:creationId xmlns:a16="http://schemas.microsoft.com/office/drawing/2014/main" id="{0BBFA166-04E5-C5D6-0076-884BABF028F5}"/>
              </a:ext>
            </a:extLst>
          </p:cNvPr>
          <p:cNvSpPr/>
          <p:nvPr/>
        </p:nvSpPr>
        <p:spPr>
          <a:xfrm>
            <a:off x="4434840" y="2407920"/>
            <a:ext cx="3383280" cy="502920"/>
          </a:xfrm>
          <a:prstGeom prst="rect">
            <a:avLst/>
          </a:prstGeom>
          <a:solidFill>
            <a:srgbClr val="EA88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16">
            <a:extLst>
              <a:ext uri="{FF2B5EF4-FFF2-40B4-BE49-F238E27FC236}">
                <a16:creationId xmlns:a16="http://schemas.microsoft.com/office/drawing/2014/main" id="{CF835506-6914-A7F7-A7C1-BF6054E8264D}"/>
              </a:ext>
            </a:extLst>
          </p:cNvPr>
          <p:cNvSpPr txBox="1"/>
          <p:nvPr/>
        </p:nvSpPr>
        <p:spPr>
          <a:xfrm>
            <a:off x="7138452" y="2681179"/>
            <a:ext cx="30175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FFFFF"/>
                </a:solidFill>
                <a:latin typeface="Calibri"/>
              </a:defRPr>
            </a:pPr>
            <a:r>
              <a:rPr lang="en-US" altLang="zh-TW" dirty="0"/>
              <a:t>ACM</a:t>
            </a:r>
            <a:r>
              <a:rPr dirty="0"/>
              <a:t> 2009</a:t>
            </a: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5556B1EA-6C49-6FAA-9906-DC6B4193E44A}"/>
              </a:ext>
            </a:extLst>
          </p:cNvPr>
          <p:cNvSpPr txBox="1"/>
          <p:nvPr/>
        </p:nvSpPr>
        <p:spPr>
          <a:xfrm>
            <a:off x="4617720" y="2556450"/>
            <a:ext cx="3108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rPr dirty="0" err="1"/>
              <a:t>PatchMatch</a:t>
            </a:r>
            <a:endParaRPr dirty="0"/>
          </a:p>
        </p:txBody>
      </p:sp>
      <p:sp>
        <p:nvSpPr>
          <p:cNvPr id="67" name="TextBox 18">
            <a:extLst>
              <a:ext uri="{FF2B5EF4-FFF2-40B4-BE49-F238E27FC236}">
                <a16:creationId xmlns:a16="http://schemas.microsoft.com/office/drawing/2014/main" id="{BF3D94C7-147C-CB1A-FA94-2695BC616393}"/>
              </a:ext>
            </a:extLst>
          </p:cNvPr>
          <p:cNvSpPr txBox="1"/>
          <p:nvPr/>
        </p:nvSpPr>
        <p:spPr>
          <a:xfrm>
            <a:off x="4617720" y="304800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EA880F"/>
                </a:solidFill>
                <a:latin typeface="Calibri"/>
              </a:defRPr>
            </a:pPr>
            <a:r>
              <a:rPr dirty="0"/>
              <a:t>Patch-Based NNF</a:t>
            </a:r>
          </a:p>
        </p:txBody>
      </p:sp>
      <p:sp>
        <p:nvSpPr>
          <p:cNvPr id="68" name="TextBox 19">
            <a:extLst>
              <a:ext uri="{FF2B5EF4-FFF2-40B4-BE49-F238E27FC236}">
                <a16:creationId xmlns:a16="http://schemas.microsoft.com/office/drawing/2014/main" id="{4247F4DD-2E92-5755-455F-A3AB4245D6FA}"/>
              </a:ext>
            </a:extLst>
          </p:cNvPr>
          <p:cNvSpPr txBox="1"/>
          <p:nvPr/>
        </p:nvSpPr>
        <p:spPr>
          <a:xfrm>
            <a:off x="4617720" y="33680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B5563"/>
                </a:solidFill>
                <a:latin typeface="Calibri"/>
              </a:defRPr>
            </a:pPr>
            <a:r>
              <a:t>Randomized NNF search;</a:t>
            </a:r>
            <a:br/>
            <a:r>
              <a:t>patch copy from full image</a:t>
            </a:r>
          </a:p>
        </p:txBody>
      </p:sp>
      <p:pic>
        <p:nvPicPr>
          <p:cNvPr id="69" name="Picture 20" descr="patchmatch_diagram.png">
            <a:extLst>
              <a:ext uri="{FF2B5EF4-FFF2-40B4-BE49-F238E27FC236}">
                <a16:creationId xmlns:a16="http://schemas.microsoft.com/office/drawing/2014/main" id="{9F4C1C64-034A-F3F4-E6DB-5DAA08635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236720"/>
            <a:ext cx="3200400" cy="1197291"/>
          </a:xfrm>
          <a:prstGeom prst="rect">
            <a:avLst/>
          </a:prstGeom>
        </p:spPr>
      </p:pic>
      <p:sp>
        <p:nvSpPr>
          <p:cNvPr id="70" name="Rectangle 21">
            <a:extLst>
              <a:ext uri="{FF2B5EF4-FFF2-40B4-BE49-F238E27FC236}">
                <a16:creationId xmlns:a16="http://schemas.microsoft.com/office/drawing/2014/main" id="{BFD4F685-D241-B5A4-768A-A3CCA61F7413}"/>
              </a:ext>
            </a:extLst>
          </p:cNvPr>
          <p:cNvSpPr/>
          <p:nvPr/>
        </p:nvSpPr>
        <p:spPr>
          <a:xfrm>
            <a:off x="4495647" y="5711952"/>
            <a:ext cx="3200400" cy="3657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22">
            <a:extLst>
              <a:ext uri="{FF2B5EF4-FFF2-40B4-BE49-F238E27FC236}">
                <a16:creationId xmlns:a16="http://schemas.microsoft.com/office/drawing/2014/main" id="{BF703962-0845-D6A3-444D-12EA26D2E687}"/>
              </a:ext>
            </a:extLst>
          </p:cNvPr>
          <p:cNvSpPr txBox="1"/>
          <p:nvPr/>
        </p:nvSpPr>
        <p:spPr>
          <a:xfrm>
            <a:off x="4617720" y="575767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EA880F"/>
                </a:solidFill>
                <a:latin typeface="Calibri"/>
              </a:defRPr>
            </a:pPr>
            <a:r>
              <a:rPr dirty="0"/>
              <a:t>Over-engineered for tiny holes</a:t>
            </a:r>
          </a:p>
        </p:txBody>
      </p:sp>
      <p:sp>
        <p:nvSpPr>
          <p:cNvPr id="72" name="Rectangle 23">
            <a:extLst>
              <a:ext uri="{FF2B5EF4-FFF2-40B4-BE49-F238E27FC236}">
                <a16:creationId xmlns:a16="http://schemas.microsoft.com/office/drawing/2014/main" id="{EE344E90-C7BC-5DC2-E5BA-4930809DC09C}"/>
              </a:ext>
            </a:extLst>
          </p:cNvPr>
          <p:cNvSpPr/>
          <p:nvPr/>
        </p:nvSpPr>
        <p:spPr>
          <a:xfrm>
            <a:off x="8229600" y="2407919"/>
            <a:ext cx="3383280" cy="3712465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24">
            <a:extLst>
              <a:ext uri="{FF2B5EF4-FFF2-40B4-BE49-F238E27FC236}">
                <a16:creationId xmlns:a16="http://schemas.microsoft.com/office/drawing/2014/main" id="{CF11B7E6-69A5-59C8-49E6-294FDA86C843}"/>
              </a:ext>
            </a:extLst>
          </p:cNvPr>
          <p:cNvSpPr/>
          <p:nvPr/>
        </p:nvSpPr>
        <p:spPr>
          <a:xfrm>
            <a:off x="8229600" y="2407920"/>
            <a:ext cx="338328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26">
            <a:extLst>
              <a:ext uri="{FF2B5EF4-FFF2-40B4-BE49-F238E27FC236}">
                <a16:creationId xmlns:a16="http://schemas.microsoft.com/office/drawing/2014/main" id="{4029B4A4-2D7C-5FA1-E7E7-9765C80AAB19}"/>
              </a:ext>
            </a:extLst>
          </p:cNvPr>
          <p:cNvSpPr txBox="1"/>
          <p:nvPr/>
        </p:nvSpPr>
        <p:spPr>
          <a:xfrm>
            <a:off x="8412480" y="2542849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000" b="1">
                <a:solidFill>
                  <a:srgbClr val="FFFFFF"/>
                </a:solidFill>
                <a:latin typeface="Trebuchet MS"/>
              </a:defRPr>
            </a:pPr>
            <a:r>
              <a:rPr dirty="0" err="1"/>
              <a:t>Telea</a:t>
            </a:r>
            <a:r>
              <a:rPr dirty="0"/>
              <a:t> FMM</a:t>
            </a:r>
          </a:p>
        </p:txBody>
      </p:sp>
      <p:sp>
        <p:nvSpPr>
          <p:cNvPr id="75" name="TextBox 27">
            <a:extLst>
              <a:ext uri="{FF2B5EF4-FFF2-40B4-BE49-F238E27FC236}">
                <a16:creationId xmlns:a16="http://schemas.microsoft.com/office/drawing/2014/main" id="{FD72F84E-9B08-5452-6B32-244FF9D95A4D}"/>
              </a:ext>
            </a:extLst>
          </p:cNvPr>
          <p:cNvSpPr txBox="1"/>
          <p:nvPr/>
        </p:nvSpPr>
        <p:spPr>
          <a:xfrm>
            <a:off x="8412480" y="3048000"/>
            <a:ext cx="3017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6A34A"/>
                </a:solidFill>
                <a:latin typeface="Calibri"/>
              </a:defRPr>
            </a:pPr>
            <a:r>
              <a:rPr lang="en-US" altLang="zh-TW" sz="1200" b="1" dirty="0"/>
              <a:t>Boundary Diffusion</a:t>
            </a:r>
            <a:endParaRPr dirty="0"/>
          </a:p>
        </p:txBody>
      </p:sp>
      <p:sp>
        <p:nvSpPr>
          <p:cNvPr id="76" name="TextBox 28">
            <a:extLst>
              <a:ext uri="{FF2B5EF4-FFF2-40B4-BE49-F238E27FC236}">
                <a16:creationId xmlns:a16="http://schemas.microsoft.com/office/drawing/2014/main" id="{2C80E8A8-502B-F2E4-365F-FC48BDCB577F}"/>
              </a:ext>
            </a:extLst>
          </p:cNvPr>
          <p:cNvSpPr txBox="1"/>
          <p:nvPr/>
        </p:nvSpPr>
        <p:spPr>
          <a:xfrm>
            <a:off x="8412480" y="33680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B5563"/>
                </a:solidFill>
                <a:latin typeface="Calibri"/>
              </a:defRPr>
            </a:pPr>
            <a:r>
              <a:t>Boundary propagation;</a:t>
            </a:r>
            <a:br/>
            <a:r>
              <a:t>isophote-preserving avg</a:t>
            </a:r>
          </a:p>
        </p:txBody>
      </p:sp>
      <p:pic>
        <p:nvPicPr>
          <p:cNvPr id="77" name="Picture 29" descr="telea_fmm_diagram.png">
            <a:extLst>
              <a:ext uri="{FF2B5EF4-FFF2-40B4-BE49-F238E27FC236}">
                <a16:creationId xmlns:a16="http://schemas.microsoft.com/office/drawing/2014/main" id="{143EFA57-344C-81D8-D502-A76E97204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4236720"/>
            <a:ext cx="3200400" cy="1459264"/>
          </a:xfrm>
          <a:prstGeom prst="rect">
            <a:avLst/>
          </a:prstGeom>
        </p:spPr>
      </p:pic>
      <p:sp>
        <p:nvSpPr>
          <p:cNvPr id="78" name="Rectangle 30">
            <a:extLst>
              <a:ext uri="{FF2B5EF4-FFF2-40B4-BE49-F238E27FC236}">
                <a16:creationId xmlns:a16="http://schemas.microsoft.com/office/drawing/2014/main" id="{7A13F7B6-D46C-C45C-F25E-4F087DA63CE0}"/>
              </a:ext>
            </a:extLst>
          </p:cNvPr>
          <p:cNvSpPr/>
          <p:nvPr/>
        </p:nvSpPr>
        <p:spPr>
          <a:xfrm>
            <a:off x="8321040" y="5730240"/>
            <a:ext cx="3200400" cy="3657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464139D0-0DC9-EF45-B539-58555874E773}"/>
              </a:ext>
            </a:extLst>
          </p:cNvPr>
          <p:cNvSpPr txBox="1"/>
          <p:nvPr/>
        </p:nvSpPr>
        <p:spPr>
          <a:xfrm>
            <a:off x="8412480" y="5757672"/>
            <a:ext cx="30175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16A34A"/>
                </a:solidFill>
                <a:latin typeface="Calibri"/>
              </a:defRPr>
            </a:pPr>
            <a:r>
              <a:rPr lang="en-US" altLang="zh-TW" sz="1100" dirty="0"/>
              <a:t>Suitable</a:t>
            </a:r>
            <a:r>
              <a:rPr dirty="0"/>
              <a:t> for </a:t>
            </a:r>
            <a:r>
              <a:rPr lang="en-US" dirty="0"/>
              <a:t>small region </a:t>
            </a:r>
            <a:r>
              <a:rPr dirty="0"/>
              <a:t>repair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54" name="Text 5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57" name="圖片 56">
            <a:extLst>
              <a:ext uri="{FF2B5EF4-FFF2-40B4-BE49-F238E27FC236}">
                <a16:creationId xmlns:a16="http://schemas.microsoft.com/office/drawing/2014/main" id="{53FAE844-3C0D-F66D-135F-04E421CF01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222"/>
          <a:stretch>
            <a:fillRect/>
          </a:stretch>
        </p:blipFill>
        <p:spPr>
          <a:xfrm>
            <a:off x="644748" y="1298160"/>
            <a:ext cx="10977276" cy="51757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TW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</a:t>
            </a: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Methodology I — Dual-Path Detection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filter catches both artifact shapes, so two complementary paths run in parallel and are OR-merged.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566928" y="2057400"/>
            <a:ext cx="82296" cy="233172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804672" y="2240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Laplacian energy path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2nd-derivative filter on BT.709 grayscale. Reacts wherever a pixel differs sharply from its neighbors — catches sharp-edged white / black dead pixels regardless of brightness.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" y="3785616"/>
            <a:ext cx="4919472" cy="420624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804672" y="3785616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T_lap  =  sensitivity × 255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27064" y="2057400"/>
            <a:ext cx="539496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6227064" y="2057400"/>
            <a:ext cx="82296" cy="233172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464808" y="2240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Median residual path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64808" y="2624328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|source − median-blur|, per-pixel max channel. Median is immune to lone extremes, so the residual lights up flat, off-color blobs (purple / green bleed) that Laplacian misses.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64808" y="3785616"/>
            <a:ext cx="4919472" cy="420624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6464808" y="3785616"/>
            <a:ext cx="4919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T_med  =  20 + sensitivity × 80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66928" y="4617720"/>
            <a:ext cx="11055096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566928" y="4617720"/>
            <a:ext cx="82296" cy="14630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822960" y="4782312"/>
            <a:ext cx="1050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thresholds, two questions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129784"/>
            <a:ext cx="10506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mask (strict)  </a:t>
            </a: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“is there a real high-energy core here?”  Marks only the strongest pixels.</a:t>
            </a:r>
            <a:endParaRPr lang="en-US" sz="1350" dirty="0"/>
          </a:p>
          <a:p>
            <a:pPr marL="0" indent="0">
              <a:buNone/>
            </a:pPr>
            <a:r>
              <a:rPr lang="en-US" sz="13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mask (loose, 0.25×)  </a:t>
            </a: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“how far does the halo extend?”  Captures the full artifact outline for clean repair.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· SYSTEM &amp; METHODS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Methodology II — Structural &amp; LAB Verification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82296" cy="22860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04672" y="177393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3 — Structural filter (CCA)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139696"/>
            <a:ext cx="5074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Isolation — component area ≤ 5 × max_noise_size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Seed core — must contain a seed pixel; seed area ≤ max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Shape — rotated-bbox aspect ratio ≤ 3.0 (rejects hair / scratches)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041648"/>
            <a:ext cx="5486400" cy="206654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566928" y="4041648"/>
            <a:ext cx="82296" cy="206654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804672" y="41879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Stage 4 — LAB chromatic verification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04672" y="4553712"/>
            <a:ext cx="5074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test:  </a:t>
            </a:r>
            <a:r>
              <a:rPr lang="en-US" sz="125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internal_drop_ratio &gt; 0.6 − 0.2·sens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test:  </a:t>
            </a:r>
            <a:r>
              <a:rPr lang="en-US" sz="125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‖Δa*b*‖ ≥ 3 + 15·sens</a:t>
            </a:r>
            <a:endParaRPr lang="en-US" sz="1300" dirty="0"/>
          </a:p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blob iff  cliff OR colored — this is what separates a VAE impulse from a real star.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55080" y="1627632"/>
            <a:ext cx="5266944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6355080" y="1627632"/>
            <a:ext cx="82296" cy="44805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6592824" y="1773936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Natural star  vs  VAE impulse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739128" y="2286000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7159752" y="2286000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7580376" y="2286000"/>
            <a:ext cx="420624" cy="420624"/>
          </a:xfrm>
          <a:prstGeom prst="rect">
            <a:avLst/>
          </a:prstGeom>
          <a:solidFill>
            <a:srgbClr val="C8C8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8001000" y="2286000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8421624" y="2286000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6739128" y="2706624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7159752" y="2706624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7580376" y="2706624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8001000" y="2706624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8421624" y="2706624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6739128" y="3127248"/>
            <a:ext cx="420624" cy="420624"/>
          </a:xfrm>
          <a:prstGeom prst="rect">
            <a:avLst/>
          </a:prstGeom>
          <a:solidFill>
            <a:srgbClr val="B4B4B4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4"/>
          <p:cNvSpPr/>
          <p:nvPr/>
        </p:nvSpPr>
        <p:spPr>
          <a:xfrm>
            <a:off x="7159752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7580376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8001000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8421624" y="3127248"/>
            <a:ext cx="420624" cy="420624"/>
          </a:xfrm>
          <a:prstGeom prst="rect">
            <a:avLst/>
          </a:prstGeom>
          <a:solidFill>
            <a:srgbClr val="B4B4B4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6739128" y="3547872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Shape 29"/>
          <p:cNvSpPr/>
          <p:nvPr/>
        </p:nvSpPr>
        <p:spPr>
          <a:xfrm>
            <a:off x="7159752" y="3547872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Shape 30"/>
          <p:cNvSpPr/>
          <p:nvPr/>
        </p:nvSpPr>
        <p:spPr>
          <a:xfrm>
            <a:off x="7580376" y="3547872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8001000" y="3547872"/>
            <a:ext cx="420624" cy="420624"/>
          </a:xfrm>
          <a:prstGeom prst="rect">
            <a:avLst/>
          </a:prstGeom>
          <a:solidFill>
            <a:srgbClr val="FAFAF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2"/>
          <p:cNvSpPr/>
          <p:nvPr/>
        </p:nvSpPr>
        <p:spPr>
          <a:xfrm>
            <a:off x="8421624" y="3547872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Shape 33"/>
          <p:cNvSpPr/>
          <p:nvPr/>
        </p:nvSpPr>
        <p:spPr>
          <a:xfrm>
            <a:off x="6739128" y="3968496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Shape 34"/>
          <p:cNvSpPr/>
          <p:nvPr/>
        </p:nvSpPr>
        <p:spPr>
          <a:xfrm>
            <a:off x="7159752" y="3968496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7580376" y="3968496"/>
            <a:ext cx="420624" cy="420624"/>
          </a:xfrm>
          <a:prstGeom prst="rect">
            <a:avLst/>
          </a:prstGeom>
          <a:solidFill>
            <a:srgbClr val="C8C8C8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6"/>
          <p:cNvSpPr/>
          <p:nvPr/>
        </p:nvSpPr>
        <p:spPr>
          <a:xfrm>
            <a:off x="8001000" y="3968496"/>
            <a:ext cx="420624" cy="420624"/>
          </a:xfrm>
          <a:prstGeom prst="rect">
            <a:avLst/>
          </a:prstGeom>
          <a:solidFill>
            <a:srgbClr val="969696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Shape 37"/>
          <p:cNvSpPr/>
          <p:nvPr/>
        </p:nvSpPr>
        <p:spPr>
          <a:xfrm>
            <a:off x="8421624" y="3968496"/>
            <a:ext cx="420624" cy="420624"/>
          </a:xfrm>
          <a:prstGeom prst="rect">
            <a:avLst/>
          </a:prstGeom>
          <a:solidFill>
            <a:srgbClr val="50505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6693408" y="44256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falloff → KEEP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171432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Shape 40"/>
          <p:cNvSpPr/>
          <p:nvPr/>
        </p:nvSpPr>
        <p:spPr>
          <a:xfrm>
            <a:off x="9592056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3" name="Shape 41"/>
          <p:cNvSpPr/>
          <p:nvPr/>
        </p:nvSpPr>
        <p:spPr>
          <a:xfrm>
            <a:off x="10012680" y="2286000"/>
            <a:ext cx="420624" cy="420624"/>
          </a:xfrm>
          <a:prstGeom prst="rect">
            <a:avLst/>
          </a:prstGeom>
          <a:solidFill>
            <a:srgbClr val="1010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4" name="Shape 42"/>
          <p:cNvSpPr/>
          <p:nvPr/>
        </p:nvSpPr>
        <p:spPr>
          <a:xfrm>
            <a:off x="10433304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Shape 43"/>
          <p:cNvSpPr/>
          <p:nvPr/>
        </p:nvSpPr>
        <p:spPr>
          <a:xfrm>
            <a:off x="10853928" y="2286000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Shape 44"/>
          <p:cNvSpPr/>
          <p:nvPr/>
        </p:nvSpPr>
        <p:spPr>
          <a:xfrm>
            <a:off x="9171432" y="2706624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7" name="Shape 45"/>
          <p:cNvSpPr/>
          <p:nvPr/>
        </p:nvSpPr>
        <p:spPr>
          <a:xfrm>
            <a:off x="9592056" y="2706624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Shape 46"/>
          <p:cNvSpPr/>
          <p:nvPr/>
        </p:nvSpPr>
        <p:spPr>
          <a:xfrm>
            <a:off x="10012680" y="2706624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9" name="Shape 47"/>
          <p:cNvSpPr/>
          <p:nvPr/>
        </p:nvSpPr>
        <p:spPr>
          <a:xfrm>
            <a:off x="10433304" y="2706624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Shape 48"/>
          <p:cNvSpPr/>
          <p:nvPr/>
        </p:nvSpPr>
        <p:spPr>
          <a:xfrm>
            <a:off x="10853928" y="2706624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Shape 49"/>
          <p:cNvSpPr/>
          <p:nvPr/>
        </p:nvSpPr>
        <p:spPr>
          <a:xfrm>
            <a:off x="9171432" y="3127248"/>
            <a:ext cx="420624" cy="420624"/>
          </a:xfrm>
          <a:prstGeom prst="rect">
            <a:avLst/>
          </a:prstGeom>
          <a:solidFill>
            <a:srgbClr val="0E0E0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2" name="Shape 50"/>
          <p:cNvSpPr/>
          <p:nvPr/>
        </p:nvSpPr>
        <p:spPr>
          <a:xfrm>
            <a:off x="9592056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Shape 51"/>
          <p:cNvSpPr/>
          <p:nvPr/>
        </p:nvSpPr>
        <p:spPr>
          <a:xfrm>
            <a:off x="10012680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Shape 52"/>
          <p:cNvSpPr/>
          <p:nvPr/>
        </p:nvSpPr>
        <p:spPr>
          <a:xfrm>
            <a:off x="10433304" y="3127248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5" name="Shape 53"/>
          <p:cNvSpPr/>
          <p:nvPr/>
        </p:nvSpPr>
        <p:spPr>
          <a:xfrm>
            <a:off x="10853928" y="3127248"/>
            <a:ext cx="420624" cy="420624"/>
          </a:xfrm>
          <a:prstGeom prst="rect">
            <a:avLst/>
          </a:prstGeom>
          <a:solidFill>
            <a:srgbClr val="0E0E0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6" name="Shape 54"/>
          <p:cNvSpPr/>
          <p:nvPr/>
        </p:nvSpPr>
        <p:spPr>
          <a:xfrm>
            <a:off x="9171432" y="3547872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7" name="Shape 55"/>
          <p:cNvSpPr/>
          <p:nvPr/>
        </p:nvSpPr>
        <p:spPr>
          <a:xfrm>
            <a:off x="9592056" y="3547872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8" name="Shape 56"/>
          <p:cNvSpPr/>
          <p:nvPr/>
        </p:nvSpPr>
        <p:spPr>
          <a:xfrm>
            <a:off x="10012680" y="3547872"/>
            <a:ext cx="420624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Shape 57"/>
          <p:cNvSpPr/>
          <p:nvPr/>
        </p:nvSpPr>
        <p:spPr>
          <a:xfrm>
            <a:off x="10433304" y="3547872"/>
            <a:ext cx="420624" cy="420624"/>
          </a:xfrm>
          <a:prstGeom prst="rect">
            <a:avLst/>
          </a:prstGeom>
          <a:solidFill>
            <a:srgbClr val="0C0C0C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0" name="Shape 58"/>
          <p:cNvSpPr/>
          <p:nvPr/>
        </p:nvSpPr>
        <p:spPr>
          <a:xfrm>
            <a:off x="10853928" y="3547872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1" name="Shape 59"/>
          <p:cNvSpPr/>
          <p:nvPr/>
        </p:nvSpPr>
        <p:spPr>
          <a:xfrm>
            <a:off x="9171432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2" name="Shape 60"/>
          <p:cNvSpPr/>
          <p:nvPr/>
        </p:nvSpPr>
        <p:spPr>
          <a:xfrm>
            <a:off x="9592056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Shape 61"/>
          <p:cNvSpPr/>
          <p:nvPr/>
        </p:nvSpPr>
        <p:spPr>
          <a:xfrm>
            <a:off x="10012680" y="3968496"/>
            <a:ext cx="420624" cy="420624"/>
          </a:xfrm>
          <a:prstGeom prst="rect">
            <a:avLst/>
          </a:prstGeom>
          <a:solidFill>
            <a:srgbClr val="101010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Shape 62"/>
          <p:cNvSpPr/>
          <p:nvPr/>
        </p:nvSpPr>
        <p:spPr>
          <a:xfrm>
            <a:off x="10433304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5" name="Shape 63"/>
          <p:cNvSpPr/>
          <p:nvPr/>
        </p:nvSpPr>
        <p:spPr>
          <a:xfrm>
            <a:off x="10853928" y="3968496"/>
            <a:ext cx="420624" cy="420624"/>
          </a:xfrm>
          <a:prstGeom prst="rect">
            <a:avLst/>
          </a:prstGeom>
          <a:solidFill>
            <a:srgbClr val="0A0A0A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6" name="Text 64"/>
          <p:cNvSpPr/>
          <p:nvPr/>
        </p:nvSpPr>
        <p:spPr>
          <a:xfrm>
            <a:off x="9125712" y="44256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Cliff impulse → REPAIR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92824" y="4892040"/>
            <a:ext cx="4809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 ramps up smoothly to its peak; an artifact spikes from background straight to 255. The LAB cliff ratio quantifies exactly this difference.</a:t>
            </a:r>
            <a:endParaRPr lang="en-US" sz="1250" dirty="0"/>
          </a:p>
        </p:txBody>
      </p:sp>
      <p:sp>
        <p:nvSpPr>
          <p:cNvPr id="68" name="Text 6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·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— Before &amp; After Repair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029200" cy="457200"/>
          </a:xfrm>
          <a:prstGeom prst="rect">
            <a:avLst/>
          </a:prstGeom>
          <a:solidFill>
            <a:srgbClr val="B91C1C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 ·  SDXL OUTPUT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240280"/>
            <a:ext cx="5029200" cy="3154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46634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drop GroupA before image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92824" y="1783080"/>
            <a:ext cx="5029200" cy="4572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775704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  ·  TELEA-REPAIRED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92824" y="2240280"/>
            <a:ext cx="5029200" cy="3154680"/>
          </a:xfrm>
          <a:prstGeom prst="rect">
            <a:avLst/>
          </a:prstGeom>
          <a:solidFill>
            <a:srgbClr val="EEF2F8"/>
          </a:solidFill>
          <a:ln w="12700">
            <a:solidFill>
              <a:srgbClr val="E2E8F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775704" y="2240280"/>
            <a:ext cx="46634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drop GroupA fixed image 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83580" y="3278124"/>
            <a:ext cx="621792" cy="621792"/>
          </a:xfrm>
          <a:prstGeom prst="ellipse">
            <a:avLst/>
          </a:prstGeom>
          <a:solidFill>
            <a:srgbClr val="1E2A4A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783580" y="320497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566928" y="5596128"/>
            <a:ext cx="11055096" cy="713232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566928" y="5596128"/>
            <a:ext cx="82296" cy="713232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822960" y="5596128"/>
            <a:ext cx="10597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 (portrait on black):  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 spurious pixels detected and removed, ~0.17% coverage, repaired in </a:t>
            </a: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≈140 ms on the CPU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GPU, no VRAM, detail untouched.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· DEMO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 Walkthrough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I’ll show on screen (also captured as a ~2:45 backup clip).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786384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786384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8096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Standalone GUI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noisy SDXL image; drag the sensitivity, max-size and dilate sliders and watch the mask update in real time.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99282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3399282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3618738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618738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00450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 preview modes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00450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1–0 / − step through original → overlay → Laplacian → median → seed → context → filtered → LAB-verified.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1636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Shape 16"/>
          <p:cNvSpPr/>
          <p:nvPr/>
        </p:nvSpPr>
        <p:spPr>
          <a:xfrm>
            <a:off x="6231636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451092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451092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32804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 &amp; side-by-side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32804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to Repaired and Side-by-Side; the HUD reports blob count, coverage and detection time live.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63990" y="2103120"/>
            <a:ext cx="2558034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9063990" y="2103120"/>
            <a:ext cx="82296" cy="3200400"/>
          </a:xfrm>
          <a:prstGeom prst="rect">
            <a:avLst/>
          </a:prstGeom>
          <a:solidFill>
            <a:srgbClr val="2C3E6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9283446" y="2322576"/>
            <a:ext cx="566928" cy="56692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9283446" y="2322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265158" y="3017520"/>
            <a:ext cx="21556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ComfyUI integration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265158" y="3584448"/>
            <a:ext cx="215569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KSampler → VAE Decode → VAE Noise Fix → Save, with the MASK output wired to a downstream node.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532120"/>
            <a:ext cx="11055096" cy="713232"/>
          </a:xfrm>
          <a:prstGeom prst="rect">
            <a:avLst/>
          </a:prstGeom>
          <a:solidFill>
            <a:srgbClr val="EEF2F8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8"/>
          <p:cNvSpPr/>
          <p:nvPr/>
        </p:nvSpPr>
        <p:spPr>
          <a:xfrm>
            <a:off x="566928" y="5532120"/>
            <a:ext cx="82296" cy="71323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822960" y="5532120"/>
            <a:ext cx="10597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Headline:  </a:t>
            </a: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+ repair finishes in tens of milliseconds on the CPU — the diffusion-based alternative would take seconds and a GPU.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2062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596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 · DIFFICULTIES &amp; UNIQUENESS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Hard — and What’s New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5413248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64208"/>
            <a:ext cx="82296" cy="444398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04672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Uniqueness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49560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ComfyUI node combines automatic luminance + area + LAB filtering with integrated CV inpainting in a single drop-in node.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options are either deep-learning detailers (heavy, semantic-only) or manual-mask inpaint nodes — users otherwise wire a fragile “spaghetti” graph.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Hybrid-CV philosophy: encode domain knowledge as explicit, interpretable, deterministic rules instead of a black box.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MASK output lets downstream nodes share the detection.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99632" y="1664208"/>
            <a:ext cx="5422392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889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Shape 7"/>
          <p:cNvSpPr/>
          <p:nvPr/>
        </p:nvSpPr>
        <p:spPr>
          <a:xfrm>
            <a:off x="6199632" y="1664208"/>
            <a:ext cx="82296" cy="444398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37376" y="18105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Difficulties &amp; limitations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37376" y="2212848"/>
            <a:ext cx="4956048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Star-vs-noise discrimination is the core challenge — both are small, bright and isolated; solved via the LAB cliff-ratio test.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Truly sharp-edged points (e.g. a 2×2 pure-white star) have no falloff and can still be removed — an inherent edge case.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VAE collapse (large grid-like noise) exceeds a single max_noise_size and needs manual tuning.</a:t>
            </a:r>
            <a:endParaRPr lang="en-US" sz="14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4K+ CCA / LAB loops cost extra CPU time (still typically within 1–2 s).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SDXL VAE Noise-Fix  ·  Traditional-CV ComfyUI Node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73384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37160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841248" y="1371600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 · CONCLUSION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41248" y="168249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Right Tool, Not the Trendiest One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41248" y="24871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purpose-built classical-CV pipeline removes SDXL VAE spurious bright pixels in milliseconds, on the CPU, with zero model weights — preserving the detail a full diffusion repaint would erase.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566928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786384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sensitivity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86384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thresholds so star fields and dark portraits coexist in one pass.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4562856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62856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Temporal consistency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62856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Frame-to-frame coherence for video / animation sequences.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19872" y="3611880"/>
            <a:ext cx="3502152" cy="1554480"/>
          </a:xfrm>
          <a:prstGeom prst="rect">
            <a:avLst/>
          </a:prstGeom>
          <a:solidFill>
            <a:srgbClr val="2C3E66"/>
          </a:solidFill>
          <a:ln w="12700">
            <a:solidFill>
              <a:srgbClr val="3C517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8119872" y="3611880"/>
            <a:ext cx="73152" cy="155448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8339328" y="3758184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9FB3D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339328" y="39959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Optional learned fallback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39328" y="4398264"/>
            <a:ext cx="3090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model only for severe, large-area VAE collapse.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" y="5532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 ·  Questions?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050024" y="5669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Phecda  ·  NYCU  ·  Spring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1378</Words>
  <Application>Microsoft Office PowerPoint</Application>
  <PresentationFormat>寬螢幕</PresentationFormat>
  <Paragraphs>156</Paragraphs>
  <Slides>10</Slides>
  <Notes>10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Arial</vt:lpstr>
      <vt:lpstr>Calibri</vt:lpstr>
      <vt:lpstr>Courier New</vt:lpstr>
      <vt:lpstr>Trebuchet MS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Fixing SDXL VAE Spurious Bright Pixels</dc:title>
  <dc:subject>PptxGenJS Presentation</dc:subject>
  <dc:creator>Phecda</dc:creator>
  <cp:lastModifiedBy>范家齊</cp:lastModifiedBy>
  <cp:revision>8</cp:revision>
  <dcterms:created xsi:type="dcterms:W3CDTF">2026-05-21T13:14:37Z</dcterms:created>
  <dcterms:modified xsi:type="dcterms:W3CDTF">2026-05-24T13:39:01Z</dcterms:modified>
</cp:coreProperties>
</file>