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9156" autoAdjust="0"/>
  </p:normalViewPr>
  <p:slideViewPr>
    <p:cSldViewPr snapToGrid="0" snapToObjects="1">
      <p:cViewPr varScale="1">
        <p:scale>
          <a:sx n="126" d="100"/>
          <a:sy n="126" d="100"/>
        </p:scale>
        <p:origin x="384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3610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The problem I’m solving is a specific SDXL artifact. </a:t>
            </a:r>
          </a:p>
          <a:p>
            <a:r>
              <a:rPr lang="en-US" altLang="zh-TW" dirty="0"/>
              <a:t>The root cause is a bandwidth bottleneck. </a:t>
            </a:r>
          </a:p>
          <a:p>
            <a:r>
              <a:rPr lang="en-US" altLang="zh-TW" dirty="0"/>
              <a:t>The VAE has to squeeze </a:t>
            </a:r>
            <a:r>
              <a:rPr lang="en-US" altLang="zh-TW" dirty="0" err="1"/>
              <a:t>latents</a:t>
            </a:r>
            <a:r>
              <a:rPr lang="en-US" altLang="zh-TW" dirty="0"/>
              <a:t> through an 8 times compression with just four channels. </a:t>
            </a:r>
          </a:p>
          <a:p>
            <a:r>
              <a:rPr lang="en-US" altLang="zh-TW" dirty="0"/>
              <a:t>When use a high CFG scale, it pushes </a:t>
            </a:r>
            <a:r>
              <a:rPr lang="en-US" altLang="zh-TW" dirty="0" err="1"/>
              <a:t>latents</a:t>
            </a:r>
            <a:r>
              <a:rPr lang="en-US" altLang="zh-TW" dirty="0"/>
              <a:t> out of distribution, causing the final layers to clip them. </a:t>
            </a:r>
          </a:p>
          <a:p>
            <a:r>
              <a:rPr lang="en-US" altLang="zh-TW" dirty="0"/>
              <a:t>These isolated dead pixels appear as white, black, or pure color dots, </a:t>
            </a:r>
            <a:r>
              <a:rPr lang="en-US" altLang="zh-TW" b="1" dirty="0"/>
              <a:t>and they are especially noticeable in dark areas.</a:t>
            </a:r>
            <a:endParaRPr lang="en-US" altLang="zh-TW" dirty="0"/>
          </a:p>
          <a:p>
            <a:r>
              <a:rPr lang="en-US" altLang="zh-TW" dirty="0"/>
              <a:t>Although these pixels cover less than one percent of the image, </a:t>
            </a:r>
            <a:r>
              <a:rPr lang="en-US" altLang="zh-TW" b="1" dirty="0"/>
              <a:t>fixing them manually is incredibly tedious, and using a model to repair them is far too computationally expensive.</a:t>
            </a:r>
          </a:p>
          <a:p>
            <a:r>
              <a:rPr lang="en-US" altLang="zh-TW" dirty="0"/>
              <a:t>The goal of this project is to locate and repair these pixels using traditional algorithms without relying on any models, solving the issue at a much lower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此處只須強調最後的選擇即可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1097280"/>
            <a:ext cx="82296" cy="82296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11247120" y="182880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9966960" y="86868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11521440" y="2834640"/>
            <a:ext cx="82296" cy="82296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10332720" y="338328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11064240" y="420624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Shape 6"/>
          <p:cNvSpPr/>
          <p:nvPr/>
        </p:nvSpPr>
        <p:spPr>
          <a:xfrm>
            <a:off x="9784080" y="4572000"/>
            <a:ext cx="82296" cy="82296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11430000" y="521208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10058400" y="576072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11155680" y="6126480"/>
            <a:ext cx="82296" cy="82296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566928" y="1993392"/>
            <a:ext cx="109728" cy="21031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841248" y="141732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 MANIPULATION TECHNIQUES &amp; VISUAL EFFECTS  ·  FINAL PRESENTATION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1874520"/>
            <a:ext cx="10607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Fixing SDXL VAE</a:t>
            </a:r>
            <a:endParaRPr lang="en-US" sz="4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Spurious Bright Pixels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41248" y="37947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Lightweight Traditional Computer-Vision </a:t>
            </a:r>
            <a:r>
              <a:rPr lang="en-US" sz="1700" i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ComfyUI</a:t>
            </a: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Node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41248" y="4709160"/>
            <a:ext cx="5669280" cy="0"/>
          </a:xfrm>
          <a:prstGeom prst="line">
            <a:avLst/>
          </a:prstGeom>
          <a:noFill/>
          <a:ln w="12700">
            <a:solidFill>
              <a:srgbClr val="3C517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841248" y="48920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314551028 </a:t>
            </a:r>
            <a:r>
              <a:rPr lang="zh-TW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范家齊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" y="5989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Laplacian + Median Residual  ›  CCA  ›  LAB-Cliff Verification  ›  Telea FMM Inpainting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 · PROBLEM &amp; MOTIVATION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Are VAE Spurious Bright Pixels?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36192"/>
            <a:ext cx="11055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from the proposal</a:t>
            </a:r>
          </a:p>
          <a:p>
            <a:pPr marL="0" indent="0">
              <a:buNone/>
            </a:pPr>
            <a:r>
              <a:rPr lang="en-US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SDXL’s 8× / 4-channel VAE plus high CFG clips latent outliers into isolated white / black / purple dead pixels, and it worst on dark, smooth backgrounds.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1802892" y="2587752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1802892" y="2587752"/>
            <a:ext cx="82296" cy="21488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2040636" y="2843784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8× / 4-ch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040636" y="3758184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 has to squeeze </a:t>
            </a:r>
            <a:r>
              <a:rPr lang="en-US" sz="16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latents</a:t>
            </a: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an 8 times compression with just four channels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68796" y="2587752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6368796" y="2587752"/>
            <a:ext cx="82296" cy="21488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6606540" y="2843784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 1%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606540" y="3758184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pixels cover less than one percent of the image</a:t>
            </a:r>
          </a:p>
        </p:txBody>
      </p:sp>
      <p:sp>
        <p:nvSpPr>
          <p:cNvPr id="17" name="Shape 15"/>
          <p:cNvSpPr/>
          <p:nvPr/>
        </p:nvSpPr>
        <p:spPr>
          <a:xfrm>
            <a:off x="566928" y="5074920"/>
            <a:ext cx="11055096" cy="868680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566928" y="5074920"/>
            <a:ext cx="82296" cy="8686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822960" y="5074920"/>
            <a:ext cx="10597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goal:  L</a:t>
            </a:r>
            <a:r>
              <a:rPr lang="en-US" altLang="zh-TW" sz="1400" b="1" dirty="0">
                <a:solidFill>
                  <a:schemeClr val="bg2">
                    <a:lumMod val="50000"/>
                  </a:schemeClr>
                </a:solidFill>
              </a:rPr>
              <a:t>ocate and repair these pixels using traditional algorithms without relying on any models, solving the issue at a much lower cost.</a:t>
            </a:r>
            <a:endParaRPr 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 · RELATED WORK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Not Deep Learning?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3619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in the proposal.  </a:t>
            </a: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3-pixel hole shouldn’t cost a full diffusion pass — of three inpainting paradigms, Telea FMM fits micro-scale repair best.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3502152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566928" y="2331720"/>
            <a:ext cx="82296" cy="269748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804672" y="2532888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CVPR 2022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4672" y="2788920"/>
            <a:ext cx="3044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 (DDPM)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04672" y="3264408"/>
            <a:ext cx="3044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Diffusion-based — 250–1000 steps, 8–12 GB VRAM, seconds per image.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" y="4462272"/>
            <a:ext cx="3026664" cy="384048"/>
          </a:xfrm>
          <a:prstGeom prst="rect">
            <a:avLst/>
          </a:prstGeom>
          <a:solidFill>
            <a:srgbClr val="B91C1C">
              <a:alpha val="12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804672" y="446227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heavy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31720"/>
            <a:ext cx="3502152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4343400" y="2331720"/>
            <a:ext cx="82296" cy="2697480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4581144" y="2532888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SIGGRAPH 2009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2788920"/>
            <a:ext cx="3044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PatchMatch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581144" y="3264408"/>
            <a:ext cx="3044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Patch-based NNF — great for large object removal, wasteful on tiny holes.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81144" y="4462272"/>
            <a:ext cx="3026664" cy="384048"/>
          </a:xfrm>
          <a:prstGeom prst="rect">
            <a:avLst/>
          </a:prstGeom>
          <a:solidFill>
            <a:srgbClr val="B45309">
              <a:alpha val="12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4581144" y="446227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Over-engineered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19872" y="2331720"/>
            <a:ext cx="3502152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8"/>
          <p:cNvSpPr/>
          <p:nvPr/>
        </p:nvSpPr>
        <p:spPr>
          <a:xfrm>
            <a:off x="8119872" y="2331720"/>
            <a:ext cx="82296" cy="2697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8357616" y="2532888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JGT 2004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357616" y="2788920"/>
            <a:ext cx="3044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Telea FMM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357616" y="3264408"/>
            <a:ext cx="3044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diffusion — ms-class, deterministic, seamless on 1–5 px holes.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357616" y="4462272"/>
            <a:ext cx="3026664" cy="384048"/>
          </a:xfrm>
          <a:prstGeom prst="rect">
            <a:avLst/>
          </a:prstGeom>
          <a:solidFill>
            <a:srgbClr val="059669">
              <a:alpha val="12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8357616" y="446227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· SYSTEM &amp; METHODS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Overview — A Five-Stage CV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2286000" cy="566928"/>
          </a:xfrm>
          <a:prstGeom prst="roundRect">
            <a:avLst>
              <a:gd name="adj" fmla="val 12903"/>
            </a:avLst>
          </a:prstGeom>
          <a:solidFill>
            <a:srgbClr val="EEF2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66928" y="16002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 ·  SDXL image (BGR)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9153144" y="1600200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9153144" y="16002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 ·  Repaired image + MASK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542032"/>
            <a:ext cx="2011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566928" y="2542032"/>
            <a:ext cx="82296" cy="233172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1271016" y="2779776"/>
            <a:ext cx="603504" cy="603504"/>
          </a:xfrm>
          <a:prstGeom prst="ellipse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1271016" y="2779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94944" y="347472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Dual-Path Energy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4944" y="3959352"/>
            <a:ext cx="1755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Laplacian (sharp dots) + Median residual (flat blobs)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42032" y="2542032"/>
            <a:ext cx="321869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2827325" y="2542032"/>
            <a:ext cx="2011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2827325" y="2542032"/>
            <a:ext cx="82296" cy="233172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3531413" y="2779776"/>
            <a:ext cx="603504" cy="603504"/>
          </a:xfrm>
          <a:prstGeom prst="ellipse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3531413" y="2779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955341" y="347472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Dual Thresholds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955341" y="3959352"/>
            <a:ext cx="1755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seed mask + loose context mask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02429" y="2542032"/>
            <a:ext cx="321869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5087722" y="2542032"/>
            <a:ext cx="2011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5087722" y="2542032"/>
            <a:ext cx="82296" cy="233172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5791810" y="2779776"/>
            <a:ext cx="603504" cy="603504"/>
          </a:xfrm>
          <a:prstGeom prst="ellipse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5791810" y="2779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15738" y="347472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 Filter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15738" y="3959352"/>
            <a:ext cx="1755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CCA: area, seed-core, aspect-ratio rules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62826" y="2542032"/>
            <a:ext cx="321869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7348118" y="2542032"/>
            <a:ext cx="2011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7348118" y="2542032"/>
            <a:ext cx="82296" cy="233172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Shape 29"/>
          <p:cNvSpPr/>
          <p:nvPr/>
        </p:nvSpPr>
        <p:spPr>
          <a:xfrm>
            <a:off x="8052206" y="2779776"/>
            <a:ext cx="603504" cy="603504"/>
          </a:xfrm>
          <a:prstGeom prst="ellipse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2" name="Text 30"/>
          <p:cNvSpPr/>
          <p:nvPr/>
        </p:nvSpPr>
        <p:spPr>
          <a:xfrm>
            <a:off x="8052206" y="2779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476134" y="347472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Verification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476134" y="3959352"/>
            <a:ext cx="1755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Cliff vs falloff + color distance — protects stars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3222" y="2542032"/>
            <a:ext cx="321869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9608515" y="2542032"/>
            <a:ext cx="2011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7" name="Shape 35"/>
          <p:cNvSpPr/>
          <p:nvPr/>
        </p:nvSpPr>
        <p:spPr>
          <a:xfrm>
            <a:off x="9608515" y="2542032"/>
            <a:ext cx="82296" cy="233172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8" name="Shape 36"/>
          <p:cNvSpPr/>
          <p:nvPr/>
        </p:nvSpPr>
        <p:spPr>
          <a:xfrm>
            <a:off x="10312603" y="2779776"/>
            <a:ext cx="603504" cy="603504"/>
          </a:xfrm>
          <a:prstGeom prst="ellipse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7"/>
          <p:cNvSpPr/>
          <p:nvPr/>
        </p:nvSpPr>
        <p:spPr>
          <a:xfrm>
            <a:off x="10312603" y="2779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9736531" y="347472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Dilate + Telea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736531" y="3959352"/>
            <a:ext cx="1755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 mask, Fast-Marching inpaint (r ∈ [2,7])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66928" y="5138928"/>
            <a:ext cx="3502152" cy="960120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3" name="Shape 41"/>
          <p:cNvSpPr/>
          <p:nvPr/>
        </p:nvSpPr>
        <p:spPr>
          <a:xfrm>
            <a:off x="566928" y="5138928"/>
            <a:ext cx="73152" cy="9601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4" name="Text 42"/>
          <p:cNvSpPr/>
          <p:nvPr/>
        </p:nvSpPr>
        <p:spPr>
          <a:xfrm>
            <a:off x="768096" y="5257800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NN dependency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768096" y="5568696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+ NumPy only — no model weights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343400" y="5138928"/>
            <a:ext cx="3502152" cy="960120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7" name="Shape 45"/>
          <p:cNvSpPr/>
          <p:nvPr/>
        </p:nvSpPr>
        <p:spPr>
          <a:xfrm>
            <a:off x="4343400" y="5138928"/>
            <a:ext cx="73152" cy="9601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8" name="Text 46"/>
          <p:cNvSpPr/>
          <p:nvPr/>
        </p:nvSpPr>
        <p:spPr>
          <a:xfrm>
            <a:off x="4544568" y="5257800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Resolution-adaptive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4544568" y="5568696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max_noise_size auto-scales from 1024² baseline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119872" y="5138928"/>
            <a:ext cx="3502152" cy="960120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1" name="Shape 49"/>
          <p:cNvSpPr/>
          <p:nvPr/>
        </p:nvSpPr>
        <p:spPr>
          <a:xfrm>
            <a:off x="8119872" y="5138928"/>
            <a:ext cx="73152" cy="9601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2" name="Text 50"/>
          <p:cNvSpPr/>
          <p:nvPr/>
        </p:nvSpPr>
        <p:spPr>
          <a:xfrm>
            <a:off x="8321040" y="5257800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 modular classes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8321040" y="5568696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Single-responsibility core/ + GUI + ComfyUI node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· SYSTEM &amp; METHODS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Methodology I — Dual-Path Detection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filter catches both artifact shapes, so two complementary paths run in parallel and are OR-merged.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5394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566928" y="2057400"/>
            <a:ext cx="82296" cy="233172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804672" y="2240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Laplacian energy path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6243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2nd-derivative filter on BT.709 grayscale. Reacts wherever a pixel differs sharply from its neighbors — catches sharp-edged white / black dead pixels regardless of brightness.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4672" y="3785616"/>
            <a:ext cx="4919472" cy="420624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804672" y="3785616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T_lap  =  sensitivity × 255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27064" y="2057400"/>
            <a:ext cx="5394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6227064" y="2057400"/>
            <a:ext cx="82296" cy="23317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6464808" y="2240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Median residual path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64808" y="26243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|source − median-blur|, per-pixel max channel. Median is immune to lone extremes, so the residual lights up flat, off-color blobs (purple / green bleed) that Laplacian misses.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64808" y="3785616"/>
            <a:ext cx="4919472" cy="420624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6464808" y="3785616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T_med  =  20 + sensitivity × 80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4617720"/>
            <a:ext cx="11055096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566928" y="4617720"/>
            <a:ext cx="82296" cy="1463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822960" y="4782312"/>
            <a:ext cx="10506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thresholds, two questions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5129784"/>
            <a:ext cx="10506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mask (strict)  </a:t>
            </a: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“is there a real high-energy core here?”  Marks only the strongest pixels.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mask (loose, 0.25×)  </a:t>
            </a: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“how far does the halo extend?”  Captures the full artifact outline for clean repair.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· SYSTEM &amp; METHODS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Methodology II — Structural &amp; LAB Verification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2296" cy="22860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04672" y="177393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 3 — Structural filter (CCA)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04672" y="2139696"/>
            <a:ext cx="5074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Isolation — component area ≤ 5 × max_noise_size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Seed core — must contain a seed pixel; seed area ≤ max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Shape — rotated-bbox aspect ratio ≤ 3.0 (rejects hair / scratches)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4041648"/>
            <a:ext cx="5486400" cy="20665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566928" y="4041648"/>
            <a:ext cx="82296" cy="206654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804672" y="41879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 4 — LAB chromatic verification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04672" y="4553712"/>
            <a:ext cx="5074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Cliff test:  </a:t>
            </a:r>
            <a:r>
              <a:rPr lang="en-US" sz="125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internal_drop_ratio &gt; 0.6 − 0.2·sens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test:  </a:t>
            </a:r>
            <a:r>
              <a:rPr lang="en-US" sz="125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‖Δa*b*‖ ≥ 3 + 15·sens</a:t>
            </a:r>
            <a:endParaRPr lang="en-US" sz="1300" dirty="0"/>
          </a:p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blob iff  cliff OR colored — this is what separates a VAE impulse from a real star.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55080" y="1627632"/>
            <a:ext cx="5266944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6355080" y="1627632"/>
            <a:ext cx="82296" cy="44805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6592824" y="1773936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 star  vs  VAE impulse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739128" y="2286000"/>
            <a:ext cx="420624" cy="420624"/>
          </a:xfrm>
          <a:prstGeom prst="rect">
            <a:avLst/>
          </a:prstGeom>
          <a:solidFill>
            <a:srgbClr val="50505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7159752" y="2286000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7580376" y="2286000"/>
            <a:ext cx="420624" cy="420624"/>
          </a:xfrm>
          <a:prstGeom prst="rect">
            <a:avLst/>
          </a:prstGeom>
          <a:solidFill>
            <a:srgbClr val="C8C8C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8001000" y="2286000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8421624" y="2286000"/>
            <a:ext cx="420624" cy="420624"/>
          </a:xfrm>
          <a:prstGeom prst="rect">
            <a:avLst/>
          </a:prstGeom>
          <a:solidFill>
            <a:srgbClr val="50505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8"/>
          <p:cNvSpPr/>
          <p:nvPr/>
        </p:nvSpPr>
        <p:spPr>
          <a:xfrm>
            <a:off x="6739128" y="2706624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7159752" y="2706624"/>
            <a:ext cx="420624" cy="420624"/>
          </a:xfrm>
          <a:prstGeom prst="rect">
            <a:avLst/>
          </a:prstGeom>
          <a:solidFill>
            <a:srgbClr val="FAFAF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7580376" y="2706624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8001000" y="2706624"/>
            <a:ext cx="420624" cy="420624"/>
          </a:xfrm>
          <a:prstGeom prst="rect">
            <a:avLst/>
          </a:prstGeom>
          <a:solidFill>
            <a:srgbClr val="FAFAF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8421624" y="2706624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6739128" y="3127248"/>
            <a:ext cx="420624" cy="420624"/>
          </a:xfrm>
          <a:prstGeom prst="rect">
            <a:avLst/>
          </a:prstGeom>
          <a:solidFill>
            <a:srgbClr val="B4B4B4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7159752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7580376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8001000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8421624" y="3127248"/>
            <a:ext cx="420624" cy="420624"/>
          </a:xfrm>
          <a:prstGeom prst="rect">
            <a:avLst/>
          </a:prstGeom>
          <a:solidFill>
            <a:srgbClr val="B4B4B4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6739128" y="3547872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Shape 29"/>
          <p:cNvSpPr/>
          <p:nvPr/>
        </p:nvSpPr>
        <p:spPr>
          <a:xfrm>
            <a:off x="7159752" y="3547872"/>
            <a:ext cx="420624" cy="420624"/>
          </a:xfrm>
          <a:prstGeom prst="rect">
            <a:avLst/>
          </a:prstGeom>
          <a:solidFill>
            <a:srgbClr val="FAFAF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2" name="Shape 30"/>
          <p:cNvSpPr/>
          <p:nvPr/>
        </p:nvSpPr>
        <p:spPr>
          <a:xfrm>
            <a:off x="7580376" y="3547872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8001000" y="3547872"/>
            <a:ext cx="420624" cy="420624"/>
          </a:xfrm>
          <a:prstGeom prst="rect">
            <a:avLst/>
          </a:prstGeom>
          <a:solidFill>
            <a:srgbClr val="FAFAF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Shape 32"/>
          <p:cNvSpPr/>
          <p:nvPr/>
        </p:nvSpPr>
        <p:spPr>
          <a:xfrm>
            <a:off x="8421624" y="3547872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Shape 33"/>
          <p:cNvSpPr/>
          <p:nvPr/>
        </p:nvSpPr>
        <p:spPr>
          <a:xfrm>
            <a:off x="6739128" y="3968496"/>
            <a:ext cx="420624" cy="420624"/>
          </a:xfrm>
          <a:prstGeom prst="rect">
            <a:avLst/>
          </a:prstGeom>
          <a:solidFill>
            <a:srgbClr val="50505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Shape 34"/>
          <p:cNvSpPr/>
          <p:nvPr/>
        </p:nvSpPr>
        <p:spPr>
          <a:xfrm>
            <a:off x="7159752" y="3968496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Shape 35"/>
          <p:cNvSpPr/>
          <p:nvPr/>
        </p:nvSpPr>
        <p:spPr>
          <a:xfrm>
            <a:off x="7580376" y="3968496"/>
            <a:ext cx="420624" cy="420624"/>
          </a:xfrm>
          <a:prstGeom prst="rect">
            <a:avLst/>
          </a:prstGeom>
          <a:solidFill>
            <a:srgbClr val="C8C8C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8" name="Shape 36"/>
          <p:cNvSpPr/>
          <p:nvPr/>
        </p:nvSpPr>
        <p:spPr>
          <a:xfrm>
            <a:off x="8001000" y="3968496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Shape 37"/>
          <p:cNvSpPr/>
          <p:nvPr/>
        </p:nvSpPr>
        <p:spPr>
          <a:xfrm>
            <a:off x="8421624" y="3968496"/>
            <a:ext cx="420624" cy="420624"/>
          </a:xfrm>
          <a:prstGeom prst="rect">
            <a:avLst/>
          </a:prstGeom>
          <a:solidFill>
            <a:srgbClr val="50505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0" name="Text 38"/>
          <p:cNvSpPr/>
          <p:nvPr/>
        </p:nvSpPr>
        <p:spPr>
          <a:xfrm>
            <a:off x="6693408" y="44256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falloff → KEEP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9171432" y="2286000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Shape 40"/>
          <p:cNvSpPr/>
          <p:nvPr/>
        </p:nvSpPr>
        <p:spPr>
          <a:xfrm>
            <a:off x="9592056" y="2286000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3" name="Shape 41"/>
          <p:cNvSpPr/>
          <p:nvPr/>
        </p:nvSpPr>
        <p:spPr>
          <a:xfrm>
            <a:off x="10012680" y="2286000"/>
            <a:ext cx="420624" cy="420624"/>
          </a:xfrm>
          <a:prstGeom prst="rect">
            <a:avLst/>
          </a:prstGeom>
          <a:solidFill>
            <a:srgbClr val="1010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4" name="Shape 42"/>
          <p:cNvSpPr/>
          <p:nvPr/>
        </p:nvSpPr>
        <p:spPr>
          <a:xfrm>
            <a:off x="10433304" y="2286000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Shape 43"/>
          <p:cNvSpPr/>
          <p:nvPr/>
        </p:nvSpPr>
        <p:spPr>
          <a:xfrm>
            <a:off x="10853928" y="2286000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6" name="Shape 44"/>
          <p:cNvSpPr/>
          <p:nvPr/>
        </p:nvSpPr>
        <p:spPr>
          <a:xfrm>
            <a:off x="9171432" y="2706624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7" name="Shape 45"/>
          <p:cNvSpPr/>
          <p:nvPr/>
        </p:nvSpPr>
        <p:spPr>
          <a:xfrm>
            <a:off x="9592056" y="2706624"/>
            <a:ext cx="420624" cy="420624"/>
          </a:xfrm>
          <a:prstGeom prst="rect">
            <a:avLst/>
          </a:prstGeom>
          <a:solidFill>
            <a:srgbClr val="0C0C0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8" name="Shape 46"/>
          <p:cNvSpPr/>
          <p:nvPr/>
        </p:nvSpPr>
        <p:spPr>
          <a:xfrm>
            <a:off x="10012680" y="2706624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9" name="Shape 47"/>
          <p:cNvSpPr/>
          <p:nvPr/>
        </p:nvSpPr>
        <p:spPr>
          <a:xfrm>
            <a:off x="10433304" y="2706624"/>
            <a:ext cx="420624" cy="420624"/>
          </a:xfrm>
          <a:prstGeom prst="rect">
            <a:avLst/>
          </a:prstGeom>
          <a:solidFill>
            <a:srgbClr val="0C0C0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0" name="Shape 48"/>
          <p:cNvSpPr/>
          <p:nvPr/>
        </p:nvSpPr>
        <p:spPr>
          <a:xfrm>
            <a:off x="10853928" y="2706624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1" name="Shape 49"/>
          <p:cNvSpPr/>
          <p:nvPr/>
        </p:nvSpPr>
        <p:spPr>
          <a:xfrm>
            <a:off x="9171432" y="3127248"/>
            <a:ext cx="420624" cy="420624"/>
          </a:xfrm>
          <a:prstGeom prst="rect">
            <a:avLst/>
          </a:prstGeom>
          <a:solidFill>
            <a:srgbClr val="0E0E0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2" name="Shape 50"/>
          <p:cNvSpPr/>
          <p:nvPr/>
        </p:nvSpPr>
        <p:spPr>
          <a:xfrm>
            <a:off x="9592056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3" name="Shape 51"/>
          <p:cNvSpPr/>
          <p:nvPr/>
        </p:nvSpPr>
        <p:spPr>
          <a:xfrm>
            <a:off x="10012680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4" name="Shape 52"/>
          <p:cNvSpPr/>
          <p:nvPr/>
        </p:nvSpPr>
        <p:spPr>
          <a:xfrm>
            <a:off x="10433304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5" name="Shape 53"/>
          <p:cNvSpPr/>
          <p:nvPr/>
        </p:nvSpPr>
        <p:spPr>
          <a:xfrm>
            <a:off x="10853928" y="3127248"/>
            <a:ext cx="420624" cy="420624"/>
          </a:xfrm>
          <a:prstGeom prst="rect">
            <a:avLst/>
          </a:prstGeom>
          <a:solidFill>
            <a:srgbClr val="0E0E0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6" name="Shape 54"/>
          <p:cNvSpPr/>
          <p:nvPr/>
        </p:nvSpPr>
        <p:spPr>
          <a:xfrm>
            <a:off x="9171432" y="3547872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7" name="Shape 55"/>
          <p:cNvSpPr/>
          <p:nvPr/>
        </p:nvSpPr>
        <p:spPr>
          <a:xfrm>
            <a:off x="9592056" y="3547872"/>
            <a:ext cx="420624" cy="420624"/>
          </a:xfrm>
          <a:prstGeom prst="rect">
            <a:avLst/>
          </a:prstGeom>
          <a:solidFill>
            <a:srgbClr val="0C0C0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8" name="Shape 56"/>
          <p:cNvSpPr/>
          <p:nvPr/>
        </p:nvSpPr>
        <p:spPr>
          <a:xfrm>
            <a:off x="10012680" y="3547872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9" name="Shape 57"/>
          <p:cNvSpPr/>
          <p:nvPr/>
        </p:nvSpPr>
        <p:spPr>
          <a:xfrm>
            <a:off x="10433304" y="3547872"/>
            <a:ext cx="420624" cy="420624"/>
          </a:xfrm>
          <a:prstGeom prst="rect">
            <a:avLst/>
          </a:prstGeom>
          <a:solidFill>
            <a:srgbClr val="0C0C0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0" name="Shape 58"/>
          <p:cNvSpPr/>
          <p:nvPr/>
        </p:nvSpPr>
        <p:spPr>
          <a:xfrm>
            <a:off x="10853928" y="3547872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1" name="Shape 59"/>
          <p:cNvSpPr/>
          <p:nvPr/>
        </p:nvSpPr>
        <p:spPr>
          <a:xfrm>
            <a:off x="9171432" y="3968496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2" name="Shape 60"/>
          <p:cNvSpPr/>
          <p:nvPr/>
        </p:nvSpPr>
        <p:spPr>
          <a:xfrm>
            <a:off x="9592056" y="3968496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3" name="Shape 61"/>
          <p:cNvSpPr/>
          <p:nvPr/>
        </p:nvSpPr>
        <p:spPr>
          <a:xfrm>
            <a:off x="10012680" y="3968496"/>
            <a:ext cx="420624" cy="420624"/>
          </a:xfrm>
          <a:prstGeom prst="rect">
            <a:avLst/>
          </a:prstGeom>
          <a:solidFill>
            <a:srgbClr val="1010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Shape 62"/>
          <p:cNvSpPr/>
          <p:nvPr/>
        </p:nvSpPr>
        <p:spPr>
          <a:xfrm>
            <a:off x="10433304" y="3968496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5" name="Shape 63"/>
          <p:cNvSpPr/>
          <p:nvPr/>
        </p:nvSpPr>
        <p:spPr>
          <a:xfrm>
            <a:off x="10853928" y="3968496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6" name="Text 64"/>
          <p:cNvSpPr/>
          <p:nvPr/>
        </p:nvSpPr>
        <p:spPr>
          <a:xfrm>
            <a:off x="9125712" y="44256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Cliff impulse → REPAIR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6592824" y="4892040"/>
            <a:ext cx="4809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 ramps up smoothly to its peak; an artifact spikes from background straight to 255. The LAB cliff ratio quantifies exactly this difference.</a:t>
            </a:r>
            <a:endParaRPr lang="en-US" sz="1250" dirty="0"/>
          </a:p>
        </p:txBody>
      </p:sp>
      <p:sp>
        <p:nvSpPr>
          <p:cNvPr id="68" name="Text 66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· SYSTEM &amp; METHODS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Technical Implementation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3721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2296" cy="13716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04672" y="1773936"/>
            <a:ext cx="491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Modular core/ (11 classes)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04672" y="2130552"/>
            <a:ext cx="4914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one single-responsibility class — energy, thresholding, structural, chromatic, morphology, detector, inpainter, pipeline — independently testable.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49924" y="1627632"/>
            <a:ext cx="53721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6249924" y="1627632"/>
            <a:ext cx="82296" cy="13716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87668" y="1773936"/>
            <a:ext cx="491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Resolution-adaptive scaling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7668" y="2130552"/>
            <a:ext cx="4914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max_noise_size is calibrated at a 1024² baseline and auto-scales by pixel ratio, so one parameter behaves consistently from 768p to 2K+.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182112"/>
            <a:ext cx="53721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566928" y="3182112"/>
            <a:ext cx="82296" cy="13716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804672" y="3328416"/>
            <a:ext cx="491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Telea inpaint, radius-clamped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04672" y="3685032"/>
            <a:ext cx="4914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cv2.INPAINT_TELEA with radius = clip(⌈√A⌉, 2, 7); empty-mask fast-path copies the original untouched.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49924" y="3182112"/>
            <a:ext cx="53721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6249924" y="3182112"/>
            <a:ext cx="82296" cy="13716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6487668" y="3328416"/>
            <a:ext cx="491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Batch + tensor bridge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87668" y="3685032"/>
            <a:ext cx="4914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ComfyUI 4-D [B,H,W,C] tensors with a single GPU↔CPU transfer per batch — video / sequence friendly.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736592"/>
            <a:ext cx="53721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566928" y="4736592"/>
            <a:ext cx="82296" cy="13716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804672" y="4882896"/>
            <a:ext cx="491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 preview modes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04672" y="5239512"/>
            <a:ext cx="4914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Original, overlay, mask, repaired, side-by-side and every intermediate map — turns parameter tuning into direct inspection.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49924" y="4736592"/>
            <a:ext cx="53721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6249924" y="4736592"/>
            <a:ext cx="82296" cy="13716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6487668" y="4882896"/>
            <a:ext cx="491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front-ends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487668" y="5239512"/>
            <a:ext cx="4914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OpenCV GUI (live sliders, zoom lens, HUD stats) and a drop-in ComfyUI node exposing IMAGE + reusable MASK.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 · RESULTS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— Before &amp; After Repair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029200" cy="45720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  ·  SDXL OUTPUT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240280"/>
            <a:ext cx="5029200" cy="3154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749808" y="2240280"/>
            <a:ext cx="46634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drop GroupA before image 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92824" y="1783080"/>
            <a:ext cx="5029200" cy="4572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6775704" y="1783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  ·  TELEA-REPAIRED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92824" y="2240280"/>
            <a:ext cx="5029200" cy="3154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6775704" y="2240280"/>
            <a:ext cx="46634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drop GroupA fixed image 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83580" y="3278124"/>
            <a:ext cx="621792" cy="621792"/>
          </a:xfrm>
          <a:prstGeom prst="ellipse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5783580" y="32049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66928" y="5596128"/>
            <a:ext cx="11055096" cy="713232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566928" y="5596128"/>
            <a:ext cx="82296" cy="71323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822960" y="5596128"/>
            <a:ext cx="10597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 (portrait on black):  </a:t>
            </a: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 spurious pixels detected and removed, ~0.17% coverage, repaired in </a:t>
            </a: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≈140 ms on the CPU</a:t>
            </a: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GPU, no VRAM, detail untouched.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 · DEMO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 Walkthrough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I’ll show on screen (also captured as a ~2:45 backup clip).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55803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82296" cy="32004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786384" y="2322576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786384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8096" y="3017520"/>
            <a:ext cx="2155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Standalone GUI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3584448"/>
            <a:ext cx="21556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noisy SDXL image; drag the sensitivity, max-size and dilate sliders and watch the mask update in real time.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99282" y="2103120"/>
            <a:ext cx="255803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3399282" y="2103120"/>
            <a:ext cx="82296" cy="32004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3618738" y="2322576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618738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00450" y="3017520"/>
            <a:ext cx="2155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 preview modes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00450" y="3584448"/>
            <a:ext cx="21556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1–0 / − step through original → overlay → Laplacian → median → seed → context → filtered → LAB-verified.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31636" y="2103120"/>
            <a:ext cx="255803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6231636" y="2103120"/>
            <a:ext cx="82296" cy="32004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6451092" y="2322576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451092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32804" y="3017520"/>
            <a:ext cx="2155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 &amp; side-by-side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32804" y="3584448"/>
            <a:ext cx="21556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to Repaired and Side-by-Side; the HUD reports blob count, coverage and detection time live.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63990" y="2103120"/>
            <a:ext cx="255803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9063990" y="2103120"/>
            <a:ext cx="82296" cy="32004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9283446" y="2322576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928344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265158" y="3017520"/>
            <a:ext cx="2155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ComfyUI integration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265158" y="3584448"/>
            <a:ext cx="21556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KSampler → VAE Decode → VAE Noise Fix → Save, with the MASK output wired to a downstream node.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5532120"/>
            <a:ext cx="11055096" cy="713232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566928" y="5532120"/>
            <a:ext cx="82296" cy="71323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822960" y="5532120"/>
            <a:ext cx="10597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+ repair finishes in tens of milliseconds on the CPU — the diffusion-based alternative would take seconds and a GPU.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 · DIFFICULTIES &amp; UNIQUENESS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What’s Hard — and What’s New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5413248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64208"/>
            <a:ext cx="82296" cy="444398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04672" y="18105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Uniqueness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495604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ComfyUI node combines automatic luminance + area + LAB filtering with integrated CV inpainting in a single drop-in node.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options are either deep-learning detailers (heavy, semantic-only) or manual-mask inpaint nodes — users otherwise wire a fragile “spaghetti” graph.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Hybrid-CV philosophy: encode domain knowledge as explicit, interpretable, deterministic rules instead of a black box.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MASK output lets downstream nodes share the detection.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99632" y="1664208"/>
            <a:ext cx="5422392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6199632" y="1664208"/>
            <a:ext cx="82296" cy="444398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37376" y="18105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Difficulties &amp; limitations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37376" y="2212848"/>
            <a:ext cx="495604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Star-vs-noise discrimination is the core challenge — both are small, bright and isolated; solved via the LAB cliff-ratio test.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 sharp-edged points (e.g. a 2×2 pure-white star) have no falloff and can still be removed — an inherent edge case.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VAE collapse (large grid-like noise) exceeds a single max_noise_size and needs manual tuning.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4K+ CCA / LAB loops cost extra CPU time (still typically within 1–2 s).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37160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841248" y="137160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 · CONCLUSION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41248" y="168249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Right Tool, Not the Trendiest One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41248" y="248716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purpose-built classical-CV pipeline removes SDXL VAE spurious bright pixels in milliseconds, on the CPU, with zero model weights — preserving the detail a full diffusion repaint would erase.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3611880"/>
            <a:ext cx="3502152" cy="1554480"/>
          </a:xfrm>
          <a:prstGeom prst="rect">
            <a:avLst/>
          </a:prstGeom>
          <a:solidFill>
            <a:srgbClr val="2C3E66"/>
          </a:solidFill>
          <a:ln w="12700">
            <a:solidFill>
              <a:srgbClr val="3C517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566928" y="3611880"/>
            <a:ext cx="73152" cy="1554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786384" y="3758184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WORK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39959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Adaptive sensitivity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86384" y="4398264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Per-region thresholds so star fields and dark portraits coexist in one pass.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3611880"/>
            <a:ext cx="3502152" cy="1554480"/>
          </a:xfrm>
          <a:prstGeom prst="rect">
            <a:avLst/>
          </a:prstGeom>
          <a:solidFill>
            <a:srgbClr val="2C3E66"/>
          </a:solidFill>
          <a:ln w="12700">
            <a:solidFill>
              <a:srgbClr val="3C517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4343400" y="3611880"/>
            <a:ext cx="73152" cy="1554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4562856" y="3758184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WORK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62856" y="39959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Temporal consistency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62856" y="4398264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Frame-to-frame coherence for video / animation sequences.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19872" y="3611880"/>
            <a:ext cx="3502152" cy="1554480"/>
          </a:xfrm>
          <a:prstGeom prst="rect">
            <a:avLst/>
          </a:prstGeom>
          <a:solidFill>
            <a:srgbClr val="2C3E66"/>
          </a:solidFill>
          <a:ln w="12700">
            <a:solidFill>
              <a:srgbClr val="3C517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8119872" y="3611880"/>
            <a:ext cx="73152" cy="1554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8339328" y="3758184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WORK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339328" y="39959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Optional learned fallback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39328" y="4398264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model only for severe, large-area VAE collapse.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532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  ·  Questions?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050024" y="5669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Phecda  ·  NYCU  ·  Spring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1582</Words>
  <Application>Microsoft Office PowerPoint</Application>
  <PresentationFormat>寬螢幕</PresentationFormat>
  <Paragraphs>186</Paragraphs>
  <Slides>11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6" baseType="lpstr">
      <vt:lpstr>Arial</vt:lpstr>
      <vt:lpstr>Calibri</vt:lpstr>
      <vt:lpstr>Courier New</vt:lpstr>
      <vt:lpstr>Trebuchet MS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Fixing SDXL VAE Spurious Bright Pixels</dc:title>
  <dc:subject>PptxGenJS Presentation</dc:subject>
  <dc:creator>Phecda</dc:creator>
  <cp:lastModifiedBy>范家齊</cp:lastModifiedBy>
  <cp:revision>4</cp:revision>
  <dcterms:created xsi:type="dcterms:W3CDTF">2026-05-21T13:14:37Z</dcterms:created>
  <dcterms:modified xsi:type="dcterms:W3CDTF">2026-05-22T13:14:32Z</dcterms:modified>
</cp:coreProperties>
</file>