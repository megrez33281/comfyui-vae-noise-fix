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3" r:id="rId8"/>
    <p:sldId id="264" r:id="rId9"/>
    <p:sldId id="265" r:id="rId10"/>
    <p:sldId id="266"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00" autoAdjust="0"/>
    <p:restoredTop sz="79156" autoAdjust="0"/>
  </p:normalViewPr>
  <p:slideViewPr>
    <p:cSldViewPr snapToGrid="0" snapToObjects="1">
      <p:cViewPr varScale="1">
        <p:scale>
          <a:sx n="115" d="100"/>
          <a:sy n="115" d="100"/>
        </p:scale>
        <p:origin x="187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36107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TW" dirty="0"/>
              <a:t>The problem I’m solving is a specific SDXL artifact. </a:t>
            </a:r>
          </a:p>
          <a:p>
            <a:r>
              <a:rPr lang="en-US" altLang="zh-TW" dirty="0"/>
              <a:t>The root cause is a bandwidth bottleneck. </a:t>
            </a:r>
          </a:p>
          <a:p>
            <a:r>
              <a:rPr lang="en-US" altLang="zh-TW" dirty="0"/>
              <a:t>The VAE has to squeeze </a:t>
            </a:r>
            <a:r>
              <a:rPr lang="en-US" altLang="zh-TW" dirty="0" err="1"/>
              <a:t>latents</a:t>
            </a:r>
            <a:r>
              <a:rPr lang="en-US" altLang="zh-TW" dirty="0"/>
              <a:t> through an 8 times compression with just four channels. </a:t>
            </a:r>
          </a:p>
          <a:p>
            <a:r>
              <a:rPr lang="en-US" altLang="zh-TW" dirty="0"/>
              <a:t>When use a high CFG scale, it pushes </a:t>
            </a:r>
            <a:r>
              <a:rPr lang="en-US" altLang="zh-TW" dirty="0" err="1"/>
              <a:t>latents</a:t>
            </a:r>
            <a:r>
              <a:rPr lang="en-US" altLang="zh-TW" dirty="0"/>
              <a:t> out of distribution, causing the final layers to clip them. </a:t>
            </a:r>
          </a:p>
          <a:p>
            <a:r>
              <a:rPr lang="en-US" altLang="zh-TW" dirty="0"/>
              <a:t>These isolated dead pixels appear as white, black, or pure color dots, </a:t>
            </a:r>
            <a:r>
              <a:rPr lang="en-US" altLang="zh-TW" b="1" dirty="0"/>
              <a:t>and they are especially noticeable in dark areas.</a:t>
            </a:r>
            <a:endParaRPr lang="en-US" altLang="zh-TW" dirty="0"/>
          </a:p>
          <a:p>
            <a:r>
              <a:rPr lang="en-US" altLang="zh-TW" dirty="0"/>
              <a:t>Although these pixels cover less than one percent of the image, </a:t>
            </a:r>
            <a:r>
              <a:rPr lang="en-US" altLang="zh-TW" b="1" dirty="0"/>
              <a:t>fixing them manually is incredibly tedious, and using a model to repair them is far too computationally expensive.</a:t>
            </a:r>
          </a:p>
          <a:p>
            <a:r>
              <a:rPr lang="en-US" altLang="zh-TW" dirty="0"/>
              <a:t>The goal of this project is to locate and repair these pixels using traditional algorithms without relying on any models, solving the issue at a much lower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TW" dirty="0"/>
              <a:t>Here, I chose the </a:t>
            </a:r>
            <a:r>
              <a:rPr lang="en-US" altLang="zh-TW" b="1" dirty="0" err="1"/>
              <a:t>Telea</a:t>
            </a:r>
            <a:r>
              <a:rPr lang="en-US" altLang="zh-TW" b="1" dirty="0"/>
              <a:t> FMM</a:t>
            </a:r>
            <a:r>
              <a:rPr lang="en-US" altLang="zh-TW" dirty="0"/>
              <a:t> algorithm for the inpainting process. </a:t>
            </a:r>
          </a:p>
          <a:p>
            <a:r>
              <a:rPr lang="en-US" altLang="zh-TW" dirty="0"/>
              <a:t>Compared to the other two methods, it is significantly more lightweight and faster.</a:t>
            </a:r>
          </a:p>
          <a:p>
            <a:endParaRPr lang="en-US" altLang="zh-TW" dirty="0"/>
          </a:p>
          <a:p>
            <a:endParaRPr lang="en-US" altLang="zh-TW" dirty="0"/>
          </a:p>
          <a:p>
            <a:endParaRPr lang="en-US" altLang="zh-TW" dirty="0"/>
          </a:p>
          <a:p>
            <a:endParaRPr lang="en-US" altLang="zh-TW" dirty="0"/>
          </a:p>
          <a:p>
            <a:r>
              <a:rPr lang="zh-TW" altLang="en-US" dirty="0"/>
              <a:t>此處選使用</a:t>
            </a:r>
            <a:r>
              <a:rPr lang="en-US" altLang="zh-TW" dirty="0" err="1"/>
              <a:t>Telea</a:t>
            </a:r>
            <a:r>
              <a:rPr lang="en-US" altLang="zh-TW" dirty="0"/>
              <a:t> FMM</a:t>
            </a:r>
            <a:r>
              <a:rPr lang="zh-TW" altLang="en-US" dirty="0"/>
              <a:t>進行修補</a:t>
            </a:r>
            <a:endParaRPr lang="en-US" altLang="zh-TW" dirty="0"/>
          </a:p>
          <a:p>
            <a:r>
              <a:rPr lang="zh-TW" altLang="en-US" dirty="0"/>
              <a:t>因為其相較其他兩種方法更為輕便、快捷</a:t>
            </a:r>
            <a:endParaRPr lang="en-US" altLang="zh-TW" dirty="0"/>
          </a:p>
          <a:p>
            <a:endParaRPr lang="en-US" altLang="zh-TW"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TW" altLang="en-US" dirty="0"/>
              <a:t>整個系統分成三個步驟</a:t>
            </a:r>
            <a:endParaRPr lang="en-US" altLang="zh-TW" dirty="0"/>
          </a:p>
          <a:p>
            <a:r>
              <a:rPr lang="zh-TW" altLang="en-US" dirty="0"/>
              <a:t>一、用拉普拉斯加</a:t>
            </a:r>
            <a:r>
              <a:rPr lang="en-US" altLang="zh-TW" sz="1200" dirty="0"/>
              <a:t>Median</a:t>
            </a:r>
            <a:r>
              <a:rPr lang="zh-TW" altLang="en-US" sz="1200" dirty="0"/>
              <a:t> </a:t>
            </a:r>
            <a:r>
              <a:rPr lang="en-US" altLang="zh-TW" sz="1200" dirty="0"/>
              <a:t>Residual</a:t>
            </a:r>
            <a:r>
              <a:rPr lang="zh-TW" altLang="en-US" sz="1200" dirty="0"/>
              <a:t>以</a:t>
            </a:r>
            <a:r>
              <a:rPr lang="zh-TW" altLang="en-US" dirty="0"/>
              <a:t>亮度作為閾值找出候選像素，再透過</a:t>
            </a:r>
            <a:r>
              <a:rPr lang="en-US" altLang="zh-TW" dirty="0"/>
              <a:t>CCA</a:t>
            </a:r>
            <a:r>
              <a:rPr lang="zh-TW" altLang="en-US" dirty="0"/>
              <a:t>與方差過濾去除誤報，得到精準遮罩；</a:t>
            </a:r>
          </a:p>
          <a:p>
            <a:r>
              <a:rPr lang="zh-TW" altLang="en-US" dirty="0"/>
              <a:t>二、交給</a:t>
            </a:r>
            <a:r>
              <a:rPr lang="en-US" altLang="zh-TW" dirty="0" err="1"/>
              <a:t>Telea</a:t>
            </a:r>
            <a:r>
              <a:rPr lang="zh-TW" altLang="en-US" dirty="0"/>
              <a:t> </a:t>
            </a:r>
            <a:r>
              <a:rPr lang="en-US" altLang="zh-TW" dirty="0"/>
              <a:t>FMM</a:t>
            </a:r>
            <a:r>
              <a:rPr lang="zh-TW" altLang="en-US" dirty="0"/>
              <a:t>進行修補；</a:t>
            </a:r>
          </a:p>
          <a:p>
            <a:r>
              <a:rPr lang="zh-TW" altLang="en-US" dirty="0"/>
              <a:t>三、提供帶紅色遮罩預覽的</a:t>
            </a:r>
            <a:r>
              <a:rPr lang="en-US" altLang="zh-TW" dirty="0"/>
              <a:t>GUI</a:t>
            </a:r>
            <a:r>
              <a:rPr lang="zh-TW" altLang="en-US" dirty="0"/>
              <a:t>供即時參數調整甚至讓使用者對遮罩進行編輯；</a:t>
            </a:r>
            <a:endParaRPr lang="en-US" altLang="zh-TW" dirty="0"/>
          </a:p>
          <a:p>
            <a:endParaRPr lang="zh-TW" altLang="en-US" dirty="0"/>
          </a:p>
          <a:p>
            <a:r>
              <a:rPr lang="en-US" altLang="zh-TW" dirty="0"/>
              <a:t>The whole system breaks down into three steps.</a:t>
            </a:r>
          </a:p>
          <a:p>
            <a:r>
              <a:rPr lang="en-US" altLang="zh-TW" dirty="0"/>
              <a:t>First, artifact detection. We use the Laplacian and the median residual together, with a brightness threshold, to find the candidate pixels. </a:t>
            </a:r>
          </a:p>
          <a:p>
            <a:r>
              <a:rPr lang="en-US" altLang="zh-TW" dirty="0"/>
              <a:t>Then we clean those candidates up with connected component analysis and a variance check to remove the false positives, and that gives us a precise mask.</a:t>
            </a:r>
          </a:p>
          <a:p>
            <a:r>
              <a:rPr lang="en-US" altLang="zh-TW" dirty="0"/>
              <a:t>Second, repair. We hand that mask to </a:t>
            </a:r>
            <a:r>
              <a:rPr lang="en-US" altLang="zh-TW" dirty="0" err="1"/>
              <a:t>Telea's</a:t>
            </a:r>
            <a:r>
              <a:rPr lang="en-US" altLang="zh-TW" dirty="0"/>
              <a:t> Fast Marching Method, which fills the masked regions using the surrounding information.</a:t>
            </a:r>
          </a:p>
          <a:p>
            <a:r>
              <a:rPr lang="en-US" altLang="zh-TW" dirty="0"/>
              <a:t>Third, an interactive GUI. It gives you a red mask overlay preview so you can adjust the parameters in real time, and you can even edit the mask by hand to add, remove, or refine regions.</a:t>
            </a:r>
          </a:p>
          <a:p>
            <a:r>
              <a:rPr lang="en-US" altLang="zh-TW" dirty="0"/>
              <a:t>And because the GUI feeds back into the parameters, you can iterate quickly until the result looks right. Since most of this builds on the related work we already covered, I will keep it brief and move on to how the detection actually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TW" dirty="0"/>
              <a:t>Next, let me explain the detection logic in this project.</a:t>
            </a:r>
          </a:p>
          <a:p>
            <a:r>
              <a:rPr lang="en-US" altLang="zh-TW" dirty="0"/>
              <a:t>We start from the input image on the far left, and it enters two paths at the same time.</a:t>
            </a:r>
          </a:p>
          <a:p>
            <a:r>
              <a:rPr lang="en-US" altLang="zh-TW" dirty="0"/>
              <a:t>The top one is the Laplacian path, which looks for sharp pixel cues. We first convert the image to grayscale, apply a Laplacian filter, and get an edge energy map. The Laplacian reacts to how sharply the brightness changes, so it fires strongly wherever a pixel differs greatly in luminance from its neighbors. </a:t>
            </a:r>
          </a:p>
          <a:p>
            <a:r>
              <a:rPr lang="en-US" altLang="zh-TW" dirty="0"/>
              <a:t>That is exactly why it is good at catching the hard, sharp dead pixels, whether they are pure white on a dark area or pure black on a bright one, because both are a steep brightness jump.</a:t>
            </a:r>
          </a:p>
          <a:p>
            <a:r>
              <a:rPr lang="en-US" altLang="zh-TW" dirty="0"/>
              <a:t>The bottom one is the median residual path, which looks for color cues. </a:t>
            </a:r>
          </a:p>
          <a:p>
            <a:r>
              <a:rPr lang="en-US" altLang="zh-TW" dirty="0"/>
              <a:t>We first apply a median blur, then subtract it from the original to get the residual, and finally keep the strongest color channel. </a:t>
            </a:r>
          </a:p>
          <a:p>
            <a:r>
              <a:rPr lang="en-US" altLang="zh-TW" dirty="0"/>
              <a:t>Because a median blur ignores lone extreme pixels, this path responds to the smooth blotches that simply do not match the background color, such as the purple and green bleed, and that is the kind of artifact the Laplacian path tends to miss.</a:t>
            </a:r>
          </a:p>
          <a:p>
            <a:r>
              <a:rPr lang="en-US" altLang="zh-TW" dirty="0"/>
              <a:t>The results from both paths are then merged into a single set of candidate pixels.</a:t>
            </a:r>
          </a:p>
          <a:p>
            <a:r>
              <a:rPr lang="en-US" altLang="zh-TW" dirty="0"/>
              <a:t>After that, we use two different thresholds to obtain two things. </a:t>
            </a:r>
          </a:p>
          <a:p>
            <a:r>
              <a:rPr lang="en-US" altLang="zh-TW" dirty="0"/>
              <a:t>The strict threshold asks whether there is a real high energy core here, which lets us pinpoint the precise location of the noise. </a:t>
            </a:r>
          </a:p>
          <a:p>
            <a:r>
              <a:rPr lang="en-US" altLang="zh-TW" dirty="0"/>
              <a:t>The loose threshold asks how far the noise actually extends, which lets us define the extent of the repair mask.</a:t>
            </a:r>
          </a:p>
          <a:p>
            <a:endParaRPr lang="en-US" altLang="zh-TW" dirty="0"/>
          </a:p>
          <a:p>
            <a:endParaRPr lang="en-US" altLang="zh-TW" dirty="0"/>
          </a:p>
          <a:p>
            <a:endParaRPr lang="en-US" altLang="zh-TW" dirty="0"/>
          </a:p>
          <a:p>
            <a:r>
              <a:rPr lang="zh-TW" altLang="en-US" dirty="0"/>
              <a:t>接下來說明專案中的偵測邏輯。</a:t>
            </a:r>
          </a:p>
          <a:p>
            <a:r>
              <a:rPr lang="zh-TW" altLang="en-US" dirty="0"/>
              <a:t>從最左邊的輸入影像開始，它會同時進入兩條路徑。</a:t>
            </a:r>
          </a:p>
          <a:p>
            <a:r>
              <a:rPr lang="zh-TW" altLang="en-US" dirty="0"/>
              <a:t>上面的是 </a:t>
            </a:r>
            <a:r>
              <a:rPr lang="en-US" altLang="zh-TW" dirty="0"/>
              <a:t>Laplacian </a:t>
            </a:r>
            <a:r>
              <a:rPr lang="zh-TW" altLang="en-US" dirty="0"/>
              <a:t>路徑，負責抓「銳利的像素線索」。</a:t>
            </a:r>
            <a:endParaRPr lang="en-US" altLang="zh-TW" dirty="0"/>
          </a:p>
          <a:p>
            <a:r>
              <a:rPr lang="zh-TW" altLang="en-US" dirty="0"/>
              <a:t>先把影像轉成灰階，套用 </a:t>
            </a:r>
            <a:r>
              <a:rPr lang="en-US" altLang="zh-TW" dirty="0"/>
              <a:t>Laplacian </a:t>
            </a:r>
            <a:r>
              <a:rPr lang="zh-TW" altLang="en-US" dirty="0"/>
              <a:t>濾鏡，得到一張邊緣能量圖。這條路徑會在某個像素跟周圍鄰居差異很大的地方產生強烈反應，所以它特別擅長抓那種又硬又銳利的死點。</a:t>
            </a:r>
          </a:p>
          <a:p>
            <a:r>
              <a:rPr lang="zh-TW" altLang="en-US" dirty="0"/>
              <a:t>下面這條是中值殘差路徑，負責抓「顏色線索」。先做中值模糊，再用原圖減掉它得到殘差，然後取反應最強的色彩通道。</a:t>
            </a:r>
            <a:endParaRPr lang="en-US" altLang="zh-TW" dirty="0"/>
          </a:p>
          <a:p>
            <a:r>
              <a:rPr lang="zh-TW" altLang="en-US" dirty="0"/>
              <a:t>因為中值模糊會忽略掉單一的極端像素，所以這條路徑會在那種平滑、跟背景顏色格格不入的色塊上有反應，例如紫色、綠色的溢色，而這正是 </a:t>
            </a:r>
            <a:r>
              <a:rPr lang="en-US" altLang="zh-TW" dirty="0"/>
              <a:t>Laplacian </a:t>
            </a:r>
            <a:r>
              <a:rPr lang="zh-TW" altLang="en-US" dirty="0"/>
              <a:t>容易漏掉的部分。</a:t>
            </a:r>
          </a:p>
          <a:p>
            <a:r>
              <a:rPr lang="zh-TW" altLang="en-US" dirty="0"/>
              <a:t>兩條路徑的結果會合併成一組候選像素。</a:t>
            </a:r>
            <a:endParaRPr lang="en-US" altLang="zh-TW" dirty="0"/>
          </a:p>
          <a:p>
            <a:r>
              <a:rPr lang="zh-TW" altLang="en-US" dirty="0"/>
              <a:t>接著在用兩個不同的門檻得到兩個要件。</a:t>
            </a:r>
            <a:endParaRPr lang="en-US" altLang="zh-TW" dirty="0"/>
          </a:p>
          <a:p>
            <a:r>
              <a:rPr lang="zh-TW" altLang="en-US" dirty="0"/>
              <a:t>嚴格門檻問的是：這裡有沒有一個真正的高能量核心？這能用來定位</a:t>
            </a:r>
            <a:r>
              <a:rPr lang="en-US" altLang="zh-TW" dirty="0"/>
              <a:t>noise</a:t>
            </a:r>
            <a:r>
              <a:rPr lang="zh-TW" altLang="en-US" dirty="0"/>
              <a:t>的精確位置。</a:t>
            </a:r>
            <a:endParaRPr lang="en-US" altLang="zh-TW" dirty="0"/>
          </a:p>
          <a:p>
            <a:r>
              <a:rPr lang="zh-TW" altLang="en-US" dirty="0"/>
              <a:t>寬鬆門檻問的是：這個噪點實際上延伸到多大範圍？這能用來定位遮罩的範圍。</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4A"/>
        </a:solidFill>
        <a:effectLst/>
      </p:bgPr>
    </p:bg>
    <p:spTree>
      <p:nvGrpSpPr>
        <p:cNvPr id="1" name=""/>
        <p:cNvGrpSpPr/>
        <p:nvPr/>
      </p:nvGrpSpPr>
      <p:grpSpPr>
        <a:xfrm>
          <a:off x="0" y="0"/>
          <a:ext cx="0" cy="0"/>
          <a:chOff x="0" y="0"/>
          <a:chExt cx="0" cy="0"/>
        </a:xfrm>
      </p:grpSpPr>
      <p:sp>
        <p:nvSpPr>
          <p:cNvPr id="2" name="Shape 0"/>
          <p:cNvSpPr/>
          <p:nvPr/>
        </p:nvSpPr>
        <p:spPr>
          <a:xfrm>
            <a:off x="10698480" y="1097280"/>
            <a:ext cx="82296" cy="82296"/>
          </a:xfrm>
          <a:prstGeom prst="ellipse">
            <a:avLst/>
          </a:prstGeom>
          <a:solidFill>
            <a:srgbClr val="059669"/>
          </a:solidFill>
          <a:ln/>
        </p:spPr>
        <p:txBody>
          <a:bodyPr/>
          <a:lstStyle/>
          <a:p>
            <a:endParaRPr lang="zh-TW" altLang="en-US"/>
          </a:p>
        </p:txBody>
      </p:sp>
      <p:sp>
        <p:nvSpPr>
          <p:cNvPr id="3" name="Shape 1"/>
          <p:cNvSpPr/>
          <p:nvPr/>
        </p:nvSpPr>
        <p:spPr>
          <a:xfrm>
            <a:off x="11247120" y="1828800"/>
            <a:ext cx="82296" cy="82296"/>
          </a:xfrm>
          <a:prstGeom prst="ellipse">
            <a:avLst/>
          </a:prstGeom>
          <a:solidFill>
            <a:srgbClr val="FFFFFF">
              <a:alpha val="45000"/>
            </a:srgbClr>
          </a:solidFill>
          <a:ln/>
        </p:spPr>
        <p:txBody>
          <a:bodyPr/>
          <a:lstStyle/>
          <a:p>
            <a:endParaRPr lang="zh-TW" altLang="en-US"/>
          </a:p>
        </p:txBody>
      </p:sp>
      <p:sp>
        <p:nvSpPr>
          <p:cNvPr id="4" name="Shape 2"/>
          <p:cNvSpPr/>
          <p:nvPr/>
        </p:nvSpPr>
        <p:spPr>
          <a:xfrm>
            <a:off x="9966960" y="868680"/>
            <a:ext cx="82296" cy="82296"/>
          </a:xfrm>
          <a:prstGeom prst="ellipse">
            <a:avLst/>
          </a:prstGeom>
          <a:solidFill>
            <a:srgbClr val="FFFFFF">
              <a:alpha val="45000"/>
            </a:srgbClr>
          </a:solidFill>
          <a:ln/>
        </p:spPr>
        <p:txBody>
          <a:bodyPr/>
          <a:lstStyle/>
          <a:p>
            <a:endParaRPr lang="zh-TW" altLang="en-US"/>
          </a:p>
        </p:txBody>
      </p:sp>
      <p:sp>
        <p:nvSpPr>
          <p:cNvPr id="5" name="Shape 3"/>
          <p:cNvSpPr/>
          <p:nvPr/>
        </p:nvSpPr>
        <p:spPr>
          <a:xfrm>
            <a:off x="11521440" y="2834640"/>
            <a:ext cx="82296" cy="82296"/>
          </a:xfrm>
          <a:prstGeom prst="ellipse">
            <a:avLst/>
          </a:prstGeom>
          <a:solidFill>
            <a:srgbClr val="059669"/>
          </a:solidFill>
          <a:ln/>
        </p:spPr>
        <p:txBody>
          <a:bodyPr/>
          <a:lstStyle/>
          <a:p>
            <a:endParaRPr lang="zh-TW" altLang="en-US"/>
          </a:p>
        </p:txBody>
      </p:sp>
      <p:sp>
        <p:nvSpPr>
          <p:cNvPr id="6" name="Shape 4"/>
          <p:cNvSpPr/>
          <p:nvPr/>
        </p:nvSpPr>
        <p:spPr>
          <a:xfrm>
            <a:off x="10332720" y="3383280"/>
            <a:ext cx="82296" cy="82296"/>
          </a:xfrm>
          <a:prstGeom prst="ellipse">
            <a:avLst/>
          </a:prstGeom>
          <a:solidFill>
            <a:srgbClr val="FFFFFF">
              <a:alpha val="45000"/>
            </a:srgbClr>
          </a:solidFill>
          <a:ln/>
        </p:spPr>
        <p:txBody>
          <a:bodyPr/>
          <a:lstStyle/>
          <a:p>
            <a:endParaRPr lang="zh-TW" altLang="en-US"/>
          </a:p>
        </p:txBody>
      </p:sp>
      <p:sp>
        <p:nvSpPr>
          <p:cNvPr id="7" name="Shape 5"/>
          <p:cNvSpPr/>
          <p:nvPr/>
        </p:nvSpPr>
        <p:spPr>
          <a:xfrm>
            <a:off x="11064240" y="4206240"/>
            <a:ext cx="82296" cy="82296"/>
          </a:xfrm>
          <a:prstGeom prst="ellipse">
            <a:avLst/>
          </a:prstGeom>
          <a:solidFill>
            <a:srgbClr val="FFFFFF">
              <a:alpha val="45000"/>
            </a:srgbClr>
          </a:solidFill>
          <a:ln/>
        </p:spPr>
        <p:txBody>
          <a:bodyPr/>
          <a:lstStyle/>
          <a:p>
            <a:endParaRPr lang="zh-TW" altLang="en-US"/>
          </a:p>
        </p:txBody>
      </p:sp>
      <p:sp>
        <p:nvSpPr>
          <p:cNvPr id="8" name="Shape 6"/>
          <p:cNvSpPr/>
          <p:nvPr/>
        </p:nvSpPr>
        <p:spPr>
          <a:xfrm>
            <a:off x="9784080" y="4572000"/>
            <a:ext cx="82296" cy="82296"/>
          </a:xfrm>
          <a:prstGeom prst="ellipse">
            <a:avLst/>
          </a:prstGeom>
          <a:solidFill>
            <a:srgbClr val="059669"/>
          </a:solidFill>
          <a:ln/>
        </p:spPr>
        <p:txBody>
          <a:bodyPr/>
          <a:lstStyle/>
          <a:p>
            <a:endParaRPr lang="zh-TW" altLang="en-US"/>
          </a:p>
        </p:txBody>
      </p:sp>
      <p:sp>
        <p:nvSpPr>
          <p:cNvPr id="9" name="Shape 7"/>
          <p:cNvSpPr/>
          <p:nvPr/>
        </p:nvSpPr>
        <p:spPr>
          <a:xfrm>
            <a:off x="11430000" y="5212080"/>
            <a:ext cx="82296" cy="82296"/>
          </a:xfrm>
          <a:prstGeom prst="ellipse">
            <a:avLst/>
          </a:prstGeom>
          <a:solidFill>
            <a:srgbClr val="FFFFFF">
              <a:alpha val="45000"/>
            </a:srgbClr>
          </a:solidFill>
          <a:ln/>
        </p:spPr>
        <p:txBody>
          <a:bodyPr/>
          <a:lstStyle/>
          <a:p>
            <a:endParaRPr lang="zh-TW" altLang="en-US"/>
          </a:p>
        </p:txBody>
      </p:sp>
      <p:sp>
        <p:nvSpPr>
          <p:cNvPr id="10" name="Shape 8"/>
          <p:cNvSpPr/>
          <p:nvPr/>
        </p:nvSpPr>
        <p:spPr>
          <a:xfrm>
            <a:off x="10058400" y="5760720"/>
            <a:ext cx="82296" cy="82296"/>
          </a:xfrm>
          <a:prstGeom prst="ellipse">
            <a:avLst/>
          </a:prstGeom>
          <a:solidFill>
            <a:srgbClr val="FFFFFF">
              <a:alpha val="45000"/>
            </a:srgbClr>
          </a:solidFill>
          <a:ln/>
        </p:spPr>
        <p:txBody>
          <a:bodyPr/>
          <a:lstStyle/>
          <a:p>
            <a:endParaRPr lang="zh-TW" altLang="en-US"/>
          </a:p>
        </p:txBody>
      </p:sp>
      <p:sp>
        <p:nvSpPr>
          <p:cNvPr id="11" name="Shape 9"/>
          <p:cNvSpPr/>
          <p:nvPr/>
        </p:nvSpPr>
        <p:spPr>
          <a:xfrm>
            <a:off x="11155680" y="6126480"/>
            <a:ext cx="82296" cy="82296"/>
          </a:xfrm>
          <a:prstGeom prst="ellipse">
            <a:avLst/>
          </a:prstGeom>
          <a:solidFill>
            <a:srgbClr val="059669"/>
          </a:solidFill>
          <a:ln/>
        </p:spPr>
        <p:txBody>
          <a:bodyPr/>
          <a:lstStyle/>
          <a:p>
            <a:endParaRPr lang="zh-TW" altLang="en-US"/>
          </a:p>
        </p:txBody>
      </p:sp>
      <p:sp>
        <p:nvSpPr>
          <p:cNvPr id="12" name="Shape 10"/>
          <p:cNvSpPr/>
          <p:nvPr/>
        </p:nvSpPr>
        <p:spPr>
          <a:xfrm>
            <a:off x="566928" y="1993392"/>
            <a:ext cx="109728" cy="2103120"/>
          </a:xfrm>
          <a:prstGeom prst="rect">
            <a:avLst/>
          </a:prstGeom>
          <a:solidFill>
            <a:srgbClr val="059669"/>
          </a:solidFill>
          <a:ln/>
        </p:spPr>
        <p:txBody>
          <a:bodyPr/>
          <a:lstStyle/>
          <a:p>
            <a:endParaRPr lang="zh-TW" altLang="en-US"/>
          </a:p>
        </p:txBody>
      </p:sp>
      <p:sp>
        <p:nvSpPr>
          <p:cNvPr id="13" name="Text 11"/>
          <p:cNvSpPr/>
          <p:nvPr/>
        </p:nvSpPr>
        <p:spPr>
          <a:xfrm>
            <a:off x="841248" y="1417320"/>
            <a:ext cx="10424160" cy="292608"/>
          </a:xfrm>
          <a:prstGeom prst="rect">
            <a:avLst/>
          </a:prstGeom>
          <a:noFill/>
          <a:ln/>
        </p:spPr>
        <p:txBody>
          <a:bodyPr wrap="square" lIns="0" tIns="0" rIns="0" bIns="0" rtlCol="0" anchor="ctr"/>
          <a:lstStyle/>
          <a:p>
            <a:pPr marL="0" indent="0">
              <a:buNone/>
            </a:pPr>
            <a:r>
              <a:rPr lang="en-US" sz="1250" b="1" kern="0" spc="200" dirty="0">
                <a:solidFill>
                  <a:srgbClr val="9FB3D9"/>
                </a:solidFill>
                <a:latin typeface="Trebuchet MS" pitchFamily="34" charset="0"/>
                <a:ea typeface="Trebuchet MS" pitchFamily="34" charset="-122"/>
                <a:cs typeface="Trebuchet MS" pitchFamily="34" charset="-120"/>
              </a:rPr>
              <a:t>IMAGE MANIPULATION TECHNIQUES &amp; VISUAL EFFECTS  ·  FINAL PRESENTATION</a:t>
            </a:r>
            <a:endParaRPr lang="en-US" sz="1250" dirty="0"/>
          </a:p>
        </p:txBody>
      </p:sp>
      <p:sp>
        <p:nvSpPr>
          <p:cNvPr id="14" name="Text 12"/>
          <p:cNvSpPr/>
          <p:nvPr/>
        </p:nvSpPr>
        <p:spPr>
          <a:xfrm>
            <a:off x="841248" y="1874520"/>
            <a:ext cx="10607040" cy="1783080"/>
          </a:xfrm>
          <a:prstGeom prst="rect">
            <a:avLst/>
          </a:prstGeom>
          <a:noFill/>
          <a:ln/>
        </p:spPr>
        <p:txBody>
          <a:bodyPr wrap="square" lIns="0" tIns="0" rIns="0" bIns="0" rtlCol="0" anchor="ctr"/>
          <a:lstStyle/>
          <a:p>
            <a:pPr marL="0" indent="0">
              <a:lnSpc>
                <a:spcPct val="100000"/>
              </a:lnSpc>
              <a:buNone/>
            </a:pPr>
            <a:r>
              <a:rPr lang="en-US" sz="4600" b="1" dirty="0">
                <a:solidFill>
                  <a:srgbClr val="FFFFFF"/>
                </a:solidFill>
                <a:latin typeface="Trebuchet MS" pitchFamily="34" charset="0"/>
                <a:ea typeface="Trebuchet MS" pitchFamily="34" charset="-122"/>
                <a:cs typeface="Trebuchet MS" pitchFamily="34" charset="-120"/>
              </a:rPr>
              <a:t>Fixing SDXL VAE</a:t>
            </a:r>
            <a:endParaRPr lang="en-US" sz="4600" dirty="0"/>
          </a:p>
          <a:p>
            <a:pPr marL="0" indent="0">
              <a:lnSpc>
                <a:spcPct val="100000"/>
              </a:lnSpc>
              <a:buNone/>
            </a:pPr>
            <a:r>
              <a:rPr lang="en-US" sz="4600" b="1" dirty="0">
                <a:solidFill>
                  <a:srgbClr val="FFFFFF"/>
                </a:solidFill>
                <a:latin typeface="Trebuchet MS" pitchFamily="34" charset="0"/>
                <a:ea typeface="Trebuchet MS" pitchFamily="34" charset="-122"/>
                <a:cs typeface="Trebuchet MS" pitchFamily="34" charset="-120"/>
              </a:rPr>
              <a:t>Spurious Bright Pixels</a:t>
            </a:r>
            <a:endParaRPr lang="en-US" sz="4600" dirty="0"/>
          </a:p>
        </p:txBody>
      </p:sp>
      <p:sp>
        <p:nvSpPr>
          <p:cNvPr id="15" name="Text 13"/>
          <p:cNvSpPr/>
          <p:nvPr/>
        </p:nvSpPr>
        <p:spPr>
          <a:xfrm>
            <a:off x="841248" y="3794760"/>
            <a:ext cx="10241280" cy="457200"/>
          </a:xfrm>
          <a:prstGeom prst="rect">
            <a:avLst/>
          </a:prstGeom>
          <a:noFill/>
          <a:ln/>
        </p:spPr>
        <p:txBody>
          <a:bodyPr wrap="square" lIns="0" tIns="0" rIns="0" bIns="0" rtlCol="0" anchor="ctr"/>
          <a:lstStyle/>
          <a:p>
            <a:pPr marL="0" indent="0">
              <a:buNone/>
            </a:pPr>
            <a:r>
              <a:rPr lang="en-US" sz="1700" i="1" dirty="0">
                <a:solidFill>
                  <a:srgbClr val="CADCFC"/>
                </a:solidFill>
                <a:latin typeface="Calibri" pitchFamily="34" charset="0"/>
                <a:ea typeface="Calibri" pitchFamily="34" charset="-122"/>
                <a:cs typeface="Calibri" pitchFamily="34" charset="-120"/>
              </a:rPr>
              <a:t>A Lightweight Traditional Computer-Vision </a:t>
            </a:r>
            <a:r>
              <a:rPr lang="en-US" sz="1700" i="1" dirty="0" err="1">
                <a:solidFill>
                  <a:srgbClr val="CADCFC"/>
                </a:solidFill>
                <a:latin typeface="Calibri" pitchFamily="34" charset="0"/>
                <a:ea typeface="Calibri" pitchFamily="34" charset="-122"/>
                <a:cs typeface="Calibri" pitchFamily="34" charset="-120"/>
              </a:rPr>
              <a:t>ComfyUI</a:t>
            </a:r>
            <a:r>
              <a:rPr lang="en-US" sz="1700" i="1" dirty="0">
                <a:solidFill>
                  <a:srgbClr val="CADCFC"/>
                </a:solidFill>
                <a:latin typeface="Calibri" pitchFamily="34" charset="0"/>
                <a:ea typeface="Calibri" pitchFamily="34" charset="-122"/>
                <a:cs typeface="Calibri" pitchFamily="34" charset="-120"/>
              </a:rPr>
              <a:t> Node</a:t>
            </a:r>
            <a:endParaRPr lang="en-US" sz="1700" dirty="0"/>
          </a:p>
        </p:txBody>
      </p:sp>
      <p:sp>
        <p:nvSpPr>
          <p:cNvPr id="16" name="Shape 14"/>
          <p:cNvSpPr/>
          <p:nvPr/>
        </p:nvSpPr>
        <p:spPr>
          <a:xfrm>
            <a:off x="841248" y="4709160"/>
            <a:ext cx="5669280" cy="0"/>
          </a:xfrm>
          <a:prstGeom prst="line">
            <a:avLst/>
          </a:prstGeom>
          <a:noFill/>
          <a:ln w="12700">
            <a:solidFill>
              <a:srgbClr val="3C517F"/>
            </a:solidFill>
            <a:prstDash val="solid"/>
          </a:ln>
        </p:spPr>
        <p:txBody>
          <a:bodyPr/>
          <a:lstStyle/>
          <a:p>
            <a:endParaRPr lang="zh-TW" altLang="en-US"/>
          </a:p>
        </p:txBody>
      </p:sp>
      <p:sp>
        <p:nvSpPr>
          <p:cNvPr id="17" name="Text 15"/>
          <p:cNvSpPr/>
          <p:nvPr/>
        </p:nvSpPr>
        <p:spPr>
          <a:xfrm>
            <a:off x="841248" y="4892040"/>
            <a:ext cx="10058400" cy="822960"/>
          </a:xfrm>
          <a:prstGeom prst="rect">
            <a:avLst/>
          </a:prstGeom>
          <a:noFill/>
          <a:ln/>
        </p:spPr>
        <p:txBody>
          <a:bodyPr wrap="square" lIns="0" tIns="0" rIns="0" bIns="0" rtlCol="0" anchor="ctr"/>
          <a:lstStyle/>
          <a:p>
            <a:pPr marL="0" indent="0">
              <a:buNone/>
            </a:pPr>
            <a:r>
              <a:rPr lang="en-US" altLang="zh-TW" sz="1600" b="1" dirty="0">
                <a:solidFill>
                  <a:srgbClr val="FFFFFF"/>
                </a:solidFill>
                <a:latin typeface="Calibri" pitchFamily="34" charset="0"/>
                <a:ea typeface="Calibri" pitchFamily="34" charset="-122"/>
                <a:cs typeface="Calibri" pitchFamily="34" charset="-120"/>
              </a:rPr>
              <a:t>314551028 </a:t>
            </a:r>
            <a:r>
              <a:rPr lang="zh-TW" altLang="en-US" sz="1600" b="1" dirty="0">
                <a:solidFill>
                  <a:srgbClr val="FFFFFF"/>
                </a:solidFill>
                <a:latin typeface="Calibri" pitchFamily="34" charset="0"/>
                <a:ea typeface="Calibri" pitchFamily="34" charset="-122"/>
                <a:cs typeface="Calibri" pitchFamily="34" charset="-120"/>
              </a:rPr>
              <a:t>范家齊</a:t>
            </a:r>
            <a:endParaRPr lang="en-US" sz="1600" dirty="0"/>
          </a:p>
        </p:txBody>
      </p:sp>
      <p:sp>
        <p:nvSpPr>
          <p:cNvPr id="18" name="Text 16"/>
          <p:cNvSpPr/>
          <p:nvPr/>
        </p:nvSpPr>
        <p:spPr>
          <a:xfrm>
            <a:off x="841248" y="5989320"/>
            <a:ext cx="10607040" cy="320040"/>
          </a:xfrm>
          <a:prstGeom prst="rect">
            <a:avLst/>
          </a:prstGeom>
          <a:noFill/>
          <a:ln/>
        </p:spPr>
        <p:txBody>
          <a:bodyPr wrap="square" lIns="0" tIns="0" rIns="0" bIns="0" rtlCol="0" anchor="ctr"/>
          <a:lstStyle/>
          <a:p>
            <a:pPr marL="0" indent="0">
              <a:buNone/>
            </a:pPr>
            <a:r>
              <a:rPr lang="en-US" sz="1150" b="1" dirty="0">
                <a:solidFill>
                  <a:srgbClr val="059669"/>
                </a:solidFill>
                <a:latin typeface="Calibri" pitchFamily="34" charset="0"/>
                <a:ea typeface="Calibri" pitchFamily="34" charset="-122"/>
                <a:cs typeface="Calibri" pitchFamily="34" charset="-120"/>
              </a:rPr>
              <a:t>Laplacian + Median Residual  ›  CCA  ›  LAB-Cliff Verification  ›  Telea FMM Inpainting</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66928" y="420624"/>
            <a:ext cx="11055096" cy="292608"/>
          </a:xfrm>
          <a:prstGeom prst="rect">
            <a:avLst/>
          </a:prstGeom>
          <a:noFill/>
          <a:ln/>
        </p:spPr>
        <p:txBody>
          <a:bodyPr wrap="square" lIns="0" tIns="0" rIns="0" bIns="0" rtlCol="0" anchor="ctr"/>
          <a:lstStyle/>
          <a:p>
            <a:pPr marL="0" indent="0" algn="l">
              <a:buNone/>
            </a:pPr>
            <a:r>
              <a:rPr lang="en-US" sz="1250" b="1" kern="0" spc="300" dirty="0">
                <a:solidFill>
                  <a:srgbClr val="059669"/>
                </a:solidFill>
                <a:latin typeface="Trebuchet MS" pitchFamily="34" charset="0"/>
                <a:ea typeface="Trebuchet MS" pitchFamily="34" charset="-122"/>
                <a:cs typeface="Trebuchet MS" pitchFamily="34" charset="-120"/>
              </a:rPr>
              <a:t>01 · PROBLEM &amp; MOTIVATION</a:t>
            </a:r>
            <a:endParaRPr lang="en-US" sz="1250" dirty="0"/>
          </a:p>
        </p:txBody>
      </p:sp>
      <p:sp>
        <p:nvSpPr>
          <p:cNvPr id="3" name="Text 1"/>
          <p:cNvSpPr/>
          <p:nvPr/>
        </p:nvSpPr>
        <p:spPr>
          <a:xfrm>
            <a:off x="566928" y="713232"/>
            <a:ext cx="11055096" cy="658368"/>
          </a:xfrm>
          <a:prstGeom prst="rect">
            <a:avLst/>
          </a:prstGeom>
          <a:noFill/>
          <a:ln/>
        </p:spPr>
        <p:txBody>
          <a:bodyPr wrap="square" lIns="0" tIns="0" rIns="0" bIns="0" rtlCol="0" anchor="ctr"/>
          <a:lstStyle/>
          <a:p>
            <a:pPr marL="0" indent="0" algn="l">
              <a:buNone/>
            </a:pPr>
            <a:r>
              <a:rPr lang="en-US" sz="3000" b="1" dirty="0">
                <a:solidFill>
                  <a:srgbClr val="1E2A4A"/>
                </a:solidFill>
                <a:latin typeface="Trebuchet MS" pitchFamily="34" charset="0"/>
                <a:ea typeface="Trebuchet MS" pitchFamily="34" charset="-122"/>
                <a:cs typeface="Trebuchet MS" pitchFamily="34" charset="-120"/>
              </a:rPr>
              <a:t>What Are VAE Spurious Bright Pixels?</a:t>
            </a:r>
            <a:endParaRPr lang="en-US" sz="3000" dirty="0"/>
          </a:p>
        </p:txBody>
      </p:sp>
      <p:sp>
        <p:nvSpPr>
          <p:cNvPr id="4" name="Text 2"/>
          <p:cNvSpPr/>
          <p:nvPr/>
        </p:nvSpPr>
        <p:spPr>
          <a:xfrm>
            <a:off x="566928" y="1536192"/>
            <a:ext cx="11055096" cy="1005840"/>
          </a:xfrm>
          <a:prstGeom prst="rect">
            <a:avLst/>
          </a:prstGeom>
          <a:noFill/>
          <a:ln/>
        </p:spPr>
        <p:txBody>
          <a:bodyPr wrap="square" lIns="0" tIns="0" rIns="0" bIns="0" rtlCol="0" anchor="t"/>
          <a:lstStyle/>
          <a:p>
            <a:pPr marL="0" indent="0">
              <a:buNone/>
            </a:pPr>
            <a:r>
              <a:rPr lang="en-US" sz="2400" b="1" dirty="0">
                <a:solidFill>
                  <a:srgbClr val="059669"/>
                </a:solidFill>
                <a:latin typeface="Calibri" pitchFamily="34" charset="0"/>
                <a:ea typeface="Calibri" pitchFamily="34" charset="-122"/>
                <a:cs typeface="Calibri" pitchFamily="34" charset="-120"/>
              </a:rPr>
              <a:t>Recap from the proposal</a:t>
            </a:r>
          </a:p>
          <a:p>
            <a:pPr marL="0" indent="0">
              <a:buNone/>
            </a:pPr>
            <a:r>
              <a:rPr lang="en-US" dirty="0">
                <a:solidFill>
                  <a:srgbClr val="475569"/>
                </a:solidFill>
                <a:latin typeface="Calibri" pitchFamily="34" charset="0"/>
                <a:ea typeface="Calibri" pitchFamily="34" charset="-122"/>
                <a:cs typeface="Calibri" pitchFamily="34" charset="-120"/>
              </a:rPr>
              <a:t>SDXL’s 8× / 4-channel VAE plus high CFG clips latent outliers into isolated white / black / purple dead pixels, and it worst on dark, smooth backgrounds.</a:t>
            </a:r>
            <a:endParaRPr lang="en-US" dirty="0"/>
          </a:p>
        </p:txBody>
      </p:sp>
      <p:sp>
        <p:nvSpPr>
          <p:cNvPr id="5" name="Shape 3"/>
          <p:cNvSpPr/>
          <p:nvPr/>
        </p:nvSpPr>
        <p:spPr>
          <a:xfrm>
            <a:off x="1802892" y="2587752"/>
            <a:ext cx="3502152" cy="2148840"/>
          </a:xfrm>
          <a:prstGeom prst="rect">
            <a:avLst/>
          </a:prstGeom>
          <a:solidFill>
            <a:srgbClr val="FFFFFF"/>
          </a:solidFill>
          <a:ln w="12700">
            <a:solidFill>
              <a:srgbClr val="E2E8F0"/>
            </a:solidFill>
            <a:prstDash val="solid"/>
          </a:ln>
          <a:effectLst>
            <a:outerShdw blurRad="88900" dist="38100" dir="8100000" algn="bl" rotWithShape="0">
              <a:srgbClr val="000000">
                <a:alpha val="10000"/>
              </a:srgbClr>
            </a:outerShdw>
          </a:effectLst>
        </p:spPr>
        <p:txBody>
          <a:bodyPr/>
          <a:lstStyle/>
          <a:p>
            <a:endParaRPr lang="zh-TW" altLang="en-US"/>
          </a:p>
        </p:txBody>
      </p:sp>
      <p:sp>
        <p:nvSpPr>
          <p:cNvPr id="6" name="Shape 4"/>
          <p:cNvSpPr/>
          <p:nvPr/>
        </p:nvSpPr>
        <p:spPr>
          <a:xfrm>
            <a:off x="1802892" y="2587752"/>
            <a:ext cx="82296" cy="2148840"/>
          </a:xfrm>
          <a:prstGeom prst="rect">
            <a:avLst/>
          </a:prstGeom>
          <a:solidFill>
            <a:srgbClr val="D97706"/>
          </a:solidFill>
          <a:ln/>
        </p:spPr>
        <p:txBody>
          <a:bodyPr/>
          <a:lstStyle/>
          <a:p>
            <a:endParaRPr lang="zh-TW" altLang="en-US"/>
          </a:p>
        </p:txBody>
      </p:sp>
      <p:sp>
        <p:nvSpPr>
          <p:cNvPr id="7" name="Text 5"/>
          <p:cNvSpPr/>
          <p:nvPr/>
        </p:nvSpPr>
        <p:spPr>
          <a:xfrm>
            <a:off x="2040636" y="2843784"/>
            <a:ext cx="3044952" cy="868680"/>
          </a:xfrm>
          <a:prstGeom prst="rect">
            <a:avLst/>
          </a:prstGeom>
          <a:noFill/>
          <a:ln/>
        </p:spPr>
        <p:txBody>
          <a:bodyPr wrap="square" lIns="0" tIns="0" rIns="0" bIns="0" rtlCol="0" anchor="ctr"/>
          <a:lstStyle/>
          <a:p>
            <a:pPr marL="0" indent="0">
              <a:buNone/>
            </a:pPr>
            <a:r>
              <a:rPr lang="en-US" sz="3400" b="1" dirty="0">
                <a:solidFill>
                  <a:srgbClr val="D97706"/>
                </a:solidFill>
                <a:latin typeface="Trebuchet MS" pitchFamily="34" charset="0"/>
                <a:ea typeface="Trebuchet MS" pitchFamily="34" charset="-122"/>
                <a:cs typeface="Trebuchet MS" pitchFamily="34" charset="-120"/>
              </a:rPr>
              <a:t>8× / 4-ch</a:t>
            </a:r>
            <a:endParaRPr lang="en-US" sz="3400" dirty="0"/>
          </a:p>
        </p:txBody>
      </p:sp>
      <p:sp>
        <p:nvSpPr>
          <p:cNvPr id="8" name="Text 6"/>
          <p:cNvSpPr/>
          <p:nvPr/>
        </p:nvSpPr>
        <p:spPr>
          <a:xfrm>
            <a:off x="2040636" y="3758184"/>
            <a:ext cx="3044952" cy="822960"/>
          </a:xfrm>
          <a:prstGeom prst="rect">
            <a:avLst/>
          </a:prstGeom>
          <a:noFill/>
          <a:ln/>
        </p:spPr>
        <p:txBody>
          <a:bodyPr wrap="square" lIns="0" tIns="0" rIns="0" bIns="0" rtlCol="0" anchor="t"/>
          <a:lstStyle/>
          <a:p>
            <a:r>
              <a:rPr lang="en-US" sz="1600" dirty="0">
                <a:solidFill>
                  <a:srgbClr val="475569"/>
                </a:solidFill>
                <a:latin typeface="Calibri" pitchFamily="34" charset="0"/>
                <a:ea typeface="Calibri" pitchFamily="34" charset="-122"/>
                <a:cs typeface="Calibri" pitchFamily="34" charset="-120"/>
              </a:rPr>
              <a:t>VAE has to squeeze </a:t>
            </a:r>
            <a:r>
              <a:rPr lang="en-US" sz="1600" dirty="0" err="1">
                <a:solidFill>
                  <a:srgbClr val="475569"/>
                </a:solidFill>
                <a:latin typeface="Calibri" pitchFamily="34" charset="0"/>
                <a:ea typeface="Calibri" pitchFamily="34" charset="-122"/>
                <a:cs typeface="Calibri" pitchFamily="34" charset="-120"/>
              </a:rPr>
              <a:t>latents</a:t>
            </a:r>
            <a:r>
              <a:rPr lang="en-US" sz="1600" dirty="0">
                <a:solidFill>
                  <a:srgbClr val="475569"/>
                </a:solidFill>
                <a:latin typeface="Calibri" pitchFamily="34" charset="0"/>
                <a:ea typeface="Calibri" pitchFamily="34" charset="-122"/>
                <a:cs typeface="Calibri" pitchFamily="34" charset="-120"/>
              </a:rPr>
              <a:t> through an 8 times compression with just four channels</a:t>
            </a:r>
            <a:endParaRPr lang="en-US" sz="1600" dirty="0"/>
          </a:p>
        </p:txBody>
      </p:sp>
      <p:sp>
        <p:nvSpPr>
          <p:cNvPr id="13" name="Shape 11"/>
          <p:cNvSpPr/>
          <p:nvPr/>
        </p:nvSpPr>
        <p:spPr>
          <a:xfrm>
            <a:off x="6368796" y="2587752"/>
            <a:ext cx="3502152" cy="2148840"/>
          </a:xfrm>
          <a:prstGeom prst="rect">
            <a:avLst/>
          </a:prstGeom>
          <a:solidFill>
            <a:srgbClr val="FFFFFF"/>
          </a:solidFill>
          <a:ln w="12700">
            <a:solidFill>
              <a:srgbClr val="E2E8F0"/>
            </a:solidFill>
            <a:prstDash val="solid"/>
          </a:ln>
          <a:effectLst>
            <a:outerShdw blurRad="88900" dist="38100" dir="8100000" algn="bl" rotWithShape="0">
              <a:srgbClr val="000000">
                <a:alpha val="10000"/>
              </a:srgbClr>
            </a:outerShdw>
          </a:effectLst>
        </p:spPr>
        <p:txBody>
          <a:bodyPr/>
          <a:lstStyle/>
          <a:p>
            <a:endParaRPr lang="zh-TW" altLang="en-US"/>
          </a:p>
        </p:txBody>
      </p:sp>
      <p:sp>
        <p:nvSpPr>
          <p:cNvPr id="14" name="Shape 12"/>
          <p:cNvSpPr/>
          <p:nvPr/>
        </p:nvSpPr>
        <p:spPr>
          <a:xfrm>
            <a:off x="6368796" y="2587752"/>
            <a:ext cx="82296" cy="2148840"/>
          </a:xfrm>
          <a:prstGeom prst="rect">
            <a:avLst/>
          </a:prstGeom>
          <a:solidFill>
            <a:srgbClr val="059669"/>
          </a:solidFill>
          <a:ln/>
        </p:spPr>
        <p:txBody>
          <a:bodyPr/>
          <a:lstStyle/>
          <a:p>
            <a:endParaRPr lang="zh-TW" altLang="en-US"/>
          </a:p>
        </p:txBody>
      </p:sp>
      <p:sp>
        <p:nvSpPr>
          <p:cNvPr id="15" name="Text 13"/>
          <p:cNvSpPr/>
          <p:nvPr/>
        </p:nvSpPr>
        <p:spPr>
          <a:xfrm>
            <a:off x="6606540" y="2843784"/>
            <a:ext cx="3044952" cy="868680"/>
          </a:xfrm>
          <a:prstGeom prst="rect">
            <a:avLst/>
          </a:prstGeom>
          <a:noFill/>
          <a:ln/>
        </p:spPr>
        <p:txBody>
          <a:bodyPr wrap="square" lIns="0" tIns="0" rIns="0" bIns="0" rtlCol="0" anchor="ctr"/>
          <a:lstStyle/>
          <a:p>
            <a:pPr marL="0" indent="0">
              <a:buNone/>
            </a:pPr>
            <a:r>
              <a:rPr lang="en-US" sz="3400" b="1" dirty="0">
                <a:solidFill>
                  <a:srgbClr val="059669"/>
                </a:solidFill>
                <a:latin typeface="Trebuchet MS" pitchFamily="34" charset="0"/>
                <a:ea typeface="Trebuchet MS" pitchFamily="34" charset="-122"/>
                <a:cs typeface="Trebuchet MS" pitchFamily="34" charset="-120"/>
              </a:rPr>
              <a:t>&lt; 1%</a:t>
            </a:r>
            <a:endParaRPr lang="en-US" sz="3400" dirty="0"/>
          </a:p>
        </p:txBody>
      </p:sp>
      <p:sp>
        <p:nvSpPr>
          <p:cNvPr id="16" name="Text 14"/>
          <p:cNvSpPr/>
          <p:nvPr/>
        </p:nvSpPr>
        <p:spPr>
          <a:xfrm>
            <a:off x="6606540" y="3758184"/>
            <a:ext cx="3044952" cy="822960"/>
          </a:xfrm>
          <a:prstGeom prst="rect">
            <a:avLst/>
          </a:prstGeom>
          <a:noFill/>
          <a:ln/>
        </p:spPr>
        <p:txBody>
          <a:bodyPr wrap="square" lIns="0" tIns="0" rIns="0" bIns="0" rtlCol="0" anchor="t"/>
          <a:lstStyle/>
          <a:p>
            <a:r>
              <a:rPr lang="en-US" sz="1600" dirty="0">
                <a:solidFill>
                  <a:srgbClr val="475569"/>
                </a:solidFill>
                <a:latin typeface="Calibri" pitchFamily="34" charset="0"/>
                <a:ea typeface="Calibri" pitchFamily="34" charset="-122"/>
                <a:cs typeface="Calibri" pitchFamily="34" charset="-120"/>
              </a:rPr>
              <a:t>These pixels cover less than one percent of the image</a:t>
            </a:r>
          </a:p>
        </p:txBody>
      </p:sp>
      <p:sp>
        <p:nvSpPr>
          <p:cNvPr id="17" name="Shape 15"/>
          <p:cNvSpPr/>
          <p:nvPr/>
        </p:nvSpPr>
        <p:spPr>
          <a:xfrm>
            <a:off x="566928" y="5074920"/>
            <a:ext cx="11055096" cy="868680"/>
          </a:xfrm>
          <a:prstGeom prst="rect">
            <a:avLst/>
          </a:prstGeom>
          <a:solidFill>
            <a:srgbClr val="EEF2F8"/>
          </a:solidFill>
          <a:ln/>
        </p:spPr>
        <p:txBody>
          <a:bodyPr/>
          <a:lstStyle/>
          <a:p>
            <a:endParaRPr lang="zh-TW" altLang="en-US"/>
          </a:p>
        </p:txBody>
      </p:sp>
      <p:sp>
        <p:nvSpPr>
          <p:cNvPr id="18" name="Shape 16"/>
          <p:cNvSpPr/>
          <p:nvPr/>
        </p:nvSpPr>
        <p:spPr>
          <a:xfrm>
            <a:off x="566928" y="5074920"/>
            <a:ext cx="82296" cy="868680"/>
          </a:xfrm>
          <a:prstGeom prst="rect">
            <a:avLst/>
          </a:prstGeom>
          <a:solidFill>
            <a:srgbClr val="059669"/>
          </a:solidFill>
          <a:ln/>
        </p:spPr>
        <p:txBody>
          <a:bodyPr/>
          <a:lstStyle/>
          <a:p>
            <a:endParaRPr lang="zh-TW" altLang="en-US"/>
          </a:p>
        </p:txBody>
      </p:sp>
      <p:sp>
        <p:nvSpPr>
          <p:cNvPr id="19" name="Text 17"/>
          <p:cNvSpPr/>
          <p:nvPr/>
        </p:nvSpPr>
        <p:spPr>
          <a:xfrm>
            <a:off x="822960" y="5074920"/>
            <a:ext cx="10597896" cy="868680"/>
          </a:xfrm>
          <a:prstGeom prst="rect">
            <a:avLst/>
          </a:prstGeom>
          <a:noFill/>
          <a:ln/>
        </p:spPr>
        <p:txBody>
          <a:bodyPr wrap="square" lIns="0" tIns="0" rIns="0" bIns="0" rtlCol="0" anchor="ctr"/>
          <a:lstStyle/>
          <a:p>
            <a:r>
              <a:rPr lang="en-US" sz="1400" b="1" dirty="0">
                <a:solidFill>
                  <a:schemeClr val="bg2">
                    <a:lumMod val="50000"/>
                  </a:schemeClr>
                </a:solidFill>
                <a:latin typeface="Calibri" pitchFamily="34" charset="0"/>
                <a:ea typeface="Calibri" pitchFamily="34" charset="-122"/>
                <a:cs typeface="Calibri" pitchFamily="34" charset="-120"/>
              </a:rPr>
              <a:t>Project goal:  L</a:t>
            </a:r>
            <a:r>
              <a:rPr lang="en-US" altLang="zh-TW" sz="1400" b="1" dirty="0">
                <a:solidFill>
                  <a:schemeClr val="bg2">
                    <a:lumMod val="50000"/>
                  </a:schemeClr>
                </a:solidFill>
              </a:rPr>
              <a:t>ocate and repair these pixels using traditional algorithms without relying on any models, solving the issue at a much lower cost.</a:t>
            </a:r>
            <a:endParaRPr lang="en-US" sz="1400" b="1" dirty="0">
              <a:solidFill>
                <a:schemeClr val="bg2">
                  <a:lumMod val="50000"/>
                </a:schemeClr>
              </a:solidFill>
            </a:endParaRPr>
          </a:p>
        </p:txBody>
      </p:sp>
      <p:sp>
        <p:nvSpPr>
          <p:cNvPr id="20" name="Text 18"/>
          <p:cNvSpPr/>
          <p:nvPr/>
        </p:nvSpPr>
        <p:spPr>
          <a:xfrm>
            <a:off x="566928" y="6473952"/>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SDXL VAE Noise-Fix  ·  Traditional-CV ComfyUI Node</a:t>
            </a:r>
            <a:endParaRPr lang="en-US" sz="900" dirty="0"/>
          </a:p>
        </p:txBody>
      </p:sp>
      <p:sp>
        <p:nvSpPr>
          <p:cNvPr id="21" name="Text 19"/>
          <p:cNvSpPr/>
          <p:nvPr/>
        </p:nvSpPr>
        <p:spPr>
          <a:xfrm>
            <a:off x="11073384" y="6473952"/>
            <a:ext cx="54864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66928" y="420624"/>
            <a:ext cx="11055096" cy="292608"/>
          </a:xfrm>
          <a:prstGeom prst="rect">
            <a:avLst/>
          </a:prstGeom>
          <a:noFill/>
          <a:ln/>
        </p:spPr>
        <p:txBody>
          <a:bodyPr wrap="square" lIns="0" tIns="0" rIns="0" bIns="0" rtlCol="0" anchor="ctr"/>
          <a:lstStyle/>
          <a:p>
            <a:pPr marL="0" indent="0" algn="l">
              <a:buNone/>
            </a:pPr>
            <a:r>
              <a:rPr lang="en-US" sz="1250" b="1" kern="0" spc="300" dirty="0">
                <a:solidFill>
                  <a:srgbClr val="059669"/>
                </a:solidFill>
                <a:latin typeface="Trebuchet MS" pitchFamily="34" charset="0"/>
                <a:ea typeface="Trebuchet MS" pitchFamily="34" charset="-122"/>
                <a:cs typeface="Trebuchet MS" pitchFamily="34" charset="-120"/>
              </a:rPr>
              <a:t>02 · RELATED WORK</a:t>
            </a:r>
            <a:endParaRPr lang="en-US" sz="1250" dirty="0"/>
          </a:p>
        </p:txBody>
      </p:sp>
      <p:sp>
        <p:nvSpPr>
          <p:cNvPr id="3" name="Text 1"/>
          <p:cNvSpPr/>
          <p:nvPr/>
        </p:nvSpPr>
        <p:spPr>
          <a:xfrm>
            <a:off x="566928" y="713232"/>
            <a:ext cx="11055096" cy="658368"/>
          </a:xfrm>
          <a:prstGeom prst="rect">
            <a:avLst/>
          </a:prstGeom>
          <a:noFill/>
          <a:ln/>
        </p:spPr>
        <p:txBody>
          <a:bodyPr wrap="square" lIns="0" tIns="0" rIns="0" bIns="0" rtlCol="0" anchor="ctr"/>
          <a:lstStyle/>
          <a:p>
            <a:pPr marL="0" indent="0" algn="l">
              <a:buNone/>
            </a:pPr>
            <a:r>
              <a:rPr lang="en-US" sz="3000" b="1" dirty="0">
                <a:solidFill>
                  <a:srgbClr val="1E2A4A"/>
                </a:solidFill>
                <a:latin typeface="Trebuchet MS" pitchFamily="34" charset="0"/>
                <a:ea typeface="Trebuchet MS" pitchFamily="34" charset="-122"/>
                <a:cs typeface="Trebuchet MS" pitchFamily="34" charset="-120"/>
              </a:rPr>
              <a:t>Why </a:t>
            </a:r>
            <a:r>
              <a:rPr lang="en-US" sz="3000" b="1" dirty="0" err="1">
                <a:solidFill>
                  <a:srgbClr val="1E2A4A"/>
                </a:solidFill>
                <a:latin typeface="Trebuchet MS" pitchFamily="34" charset="0"/>
                <a:ea typeface="Trebuchet MS" pitchFamily="34" charset="-122"/>
                <a:cs typeface="Trebuchet MS" pitchFamily="34" charset="-120"/>
              </a:rPr>
              <a:t>Telea</a:t>
            </a:r>
            <a:r>
              <a:rPr lang="en-US" sz="3000" b="1" dirty="0">
                <a:solidFill>
                  <a:srgbClr val="1E2A4A"/>
                </a:solidFill>
                <a:latin typeface="Trebuchet MS" pitchFamily="34" charset="0"/>
                <a:ea typeface="Trebuchet MS" pitchFamily="34" charset="-122"/>
                <a:cs typeface="Trebuchet MS" pitchFamily="34" charset="-120"/>
              </a:rPr>
              <a:t> FMM?</a:t>
            </a:r>
            <a:endParaRPr lang="en-US" sz="3000" dirty="0"/>
          </a:p>
        </p:txBody>
      </p:sp>
      <p:sp>
        <p:nvSpPr>
          <p:cNvPr id="4" name="Text 2"/>
          <p:cNvSpPr/>
          <p:nvPr/>
        </p:nvSpPr>
        <p:spPr>
          <a:xfrm>
            <a:off x="566928" y="1434010"/>
            <a:ext cx="11486388" cy="868939"/>
          </a:xfrm>
          <a:prstGeom prst="rect">
            <a:avLst/>
          </a:prstGeom>
          <a:noFill/>
          <a:ln/>
        </p:spPr>
        <p:txBody>
          <a:bodyPr wrap="square" lIns="0" tIns="0" rIns="0" bIns="0" rtlCol="0" anchor="t"/>
          <a:lstStyle/>
          <a:p>
            <a:pPr marL="0" indent="0">
              <a:buNone/>
            </a:pPr>
            <a:r>
              <a:rPr lang="en-US" sz="2400" b="1" dirty="0">
                <a:solidFill>
                  <a:srgbClr val="059669"/>
                </a:solidFill>
                <a:latin typeface="Calibri" pitchFamily="34" charset="0"/>
                <a:ea typeface="Calibri" pitchFamily="34" charset="-122"/>
                <a:cs typeface="Calibri" pitchFamily="34" charset="-120"/>
              </a:rPr>
              <a:t>Covered in the proposal</a:t>
            </a:r>
          </a:p>
          <a:p>
            <a:pPr marL="0" indent="0">
              <a:buNone/>
            </a:pPr>
            <a:r>
              <a:rPr lang="en-US" dirty="0">
                <a:solidFill>
                  <a:srgbClr val="475569"/>
                </a:solidFill>
                <a:latin typeface="Calibri" pitchFamily="34" charset="0"/>
                <a:ea typeface="Calibri" pitchFamily="34" charset="-122"/>
                <a:cs typeface="Calibri" pitchFamily="34" charset="-120"/>
              </a:rPr>
              <a:t>A 3-pixel hole shouldn’t cost a full diffusion pass — of three inpainting paradigms, Telea FMM fits micro-scale repair best.</a:t>
            </a:r>
            <a:endParaRPr lang="en-US" dirty="0"/>
          </a:p>
        </p:txBody>
      </p:sp>
      <p:sp>
        <p:nvSpPr>
          <p:cNvPr id="26" name="Text 24"/>
          <p:cNvSpPr/>
          <p:nvPr/>
        </p:nvSpPr>
        <p:spPr>
          <a:xfrm>
            <a:off x="566928" y="6473952"/>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SDXL VAE Noise-Fix  ·  Traditional-CV ComfyUI Node</a:t>
            </a:r>
            <a:endParaRPr lang="en-US" sz="900" dirty="0"/>
          </a:p>
        </p:txBody>
      </p:sp>
      <p:sp>
        <p:nvSpPr>
          <p:cNvPr id="27" name="Text 25"/>
          <p:cNvSpPr/>
          <p:nvPr/>
        </p:nvSpPr>
        <p:spPr>
          <a:xfrm>
            <a:off x="11073384" y="6473952"/>
            <a:ext cx="54864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
        <p:nvSpPr>
          <p:cNvPr id="54" name="Rectangle 5">
            <a:extLst>
              <a:ext uri="{FF2B5EF4-FFF2-40B4-BE49-F238E27FC236}">
                <a16:creationId xmlns:a16="http://schemas.microsoft.com/office/drawing/2014/main" id="{590102FD-CA16-FCF4-4616-418B2401D521}"/>
              </a:ext>
            </a:extLst>
          </p:cNvPr>
          <p:cNvSpPr/>
          <p:nvPr/>
        </p:nvSpPr>
        <p:spPr>
          <a:xfrm>
            <a:off x="640080" y="2407919"/>
            <a:ext cx="3383280" cy="3712465"/>
          </a:xfrm>
          <a:prstGeom prst="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6">
            <a:extLst>
              <a:ext uri="{FF2B5EF4-FFF2-40B4-BE49-F238E27FC236}">
                <a16:creationId xmlns:a16="http://schemas.microsoft.com/office/drawing/2014/main" id="{71B16C02-7DDC-149F-F6C9-4853DA0DA943}"/>
              </a:ext>
            </a:extLst>
          </p:cNvPr>
          <p:cNvSpPr/>
          <p:nvPr/>
        </p:nvSpPr>
        <p:spPr>
          <a:xfrm>
            <a:off x="640080" y="2407920"/>
            <a:ext cx="3383280" cy="50292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7">
            <a:extLst>
              <a:ext uri="{FF2B5EF4-FFF2-40B4-BE49-F238E27FC236}">
                <a16:creationId xmlns:a16="http://schemas.microsoft.com/office/drawing/2014/main" id="{90DA41A3-7AD8-91F7-DF3D-D3BA905CB72A}"/>
              </a:ext>
            </a:extLst>
          </p:cNvPr>
          <p:cNvSpPr txBox="1"/>
          <p:nvPr/>
        </p:nvSpPr>
        <p:spPr>
          <a:xfrm>
            <a:off x="3314700" y="2705100"/>
            <a:ext cx="3017520" cy="201168"/>
          </a:xfrm>
          <a:prstGeom prst="rect">
            <a:avLst/>
          </a:prstGeom>
          <a:noFill/>
        </p:spPr>
        <p:txBody>
          <a:bodyPr wrap="square">
            <a:spAutoFit/>
          </a:bodyPr>
          <a:lstStyle/>
          <a:p>
            <a:pPr algn="l">
              <a:spcAft>
                <a:spcPts val="0"/>
              </a:spcAft>
              <a:defRPr sz="1000" b="0">
                <a:solidFill>
                  <a:srgbClr val="FFFFFF"/>
                </a:solidFill>
                <a:latin typeface="Calibri"/>
              </a:defRPr>
            </a:pPr>
            <a:r>
              <a:rPr dirty="0"/>
              <a:t>CVPR 2022</a:t>
            </a:r>
          </a:p>
        </p:txBody>
      </p:sp>
      <p:sp>
        <p:nvSpPr>
          <p:cNvPr id="57" name="TextBox 8">
            <a:extLst>
              <a:ext uri="{FF2B5EF4-FFF2-40B4-BE49-F238E27FC236}">
                <a16:creationId xmlns:a16="http://schemas.microsoft.com/office/drawing/2014/main" id="{170FC516-2904-5DC9-491C-B6F087E73915}"/>
              </a:ext>
            </a:extLst>
          </p:cNvPr>
          <p:cNvSpPr txBox="1"/>
          <p:nvPr/>
        </p:nvSpPr>
        <p:spPr>
          <a:xfrm>
            <a:off x="1037435" y="2556450"/>
            <a:ext cx="1289453" cy="400110"/>
          </a:xfrm>
          <a:prstGeom prst="rect">
            <a:avLst/>
          </a:prstGeom>
          <a:noFill/>
        </p:spPr>
        <p:txBody>
          <a:bodyPr wrap="square">
            <a:spAutoFit/>
          </a:bodyPr>
          <a:lstStyle/>
          <a:p>
            <a:pPr algn="l">
              <a:spcAft>
                <a:spcPts val="0"/>
              </a:spcAft>
              <a:defRPr sz="2000" b="1">
                <a:solidFill>
                  <a:srgbClr val="FFFFFF"/>
                </a:solidFill>
                <a:latin typeface="Trebuchet MS"/>
              </a:defRPr>
            </a:pPr>
            <a:r>
              <a:rPr dirty="0" err="1"/>
              <a:t>RePaint</a:t>
            </a:r>
            <a:endParaRPr dirty="0"/>
          </a:p>
        </p:txBody>
      </p:sp>
      <p:sp>
        <p:nvSpPr>
          <p:cNvPr id="58" name="TextBox 9">
            <a:extLst>
              <a:ext uri="{FF2B5EF4-FFF2-40B4-BE49-F238E27FC236}">
                <a16:creationId xmlns:a16="http://schemas.microsoft.com/office/drawing/2014/main" id="{F77A6E00-173F-4A09-F8B9-854095551784}"/>
              </a:ext>
            </a:extLst>
          </p:cNvPr>
          <p:cNvSpPr txBox="1"/>
          <p:nvPr/>
        </p:nvSpPr>
        <p:spPr>
          <a:xfrm>
            <a:off x="822960" y="3048000"/>
            <a:ext cx="3017520" cy="228600"/>
          </a:xfrm>
          <a:prstGeom prst="rect">
            <a:avLst/>
          </a:prstGeom>
          <a:noFill/>
        </p:spPr>
        <p:txBody>
          <a:bodyPr wrap="square">
            <a:spAutoFit/>
          </a:bodyPr>
          <a:lstStyle/>
          <a:p>
            <a:pPr algn="l">
              <a:spcAft>
                <a:spcPts val="0"/>
              </a:spcAft>
              <a:defRPr sz="1200" b="1">
                <a:solidFill>
                  <a:srgbClr val="DC2626"/>
                </a:solidFill>
                <a:latin typeface="Calibri"/>
              </a:defRPr>
            </a:pPr>
            <a:r>
              <a:rPr dirty="0"/>
              <a:t>Diffusion-Based</a:t>
            </a:r>
          </a:p>
        </p:txBody>
      </p:sp>
      <p:sp>
        <p:nvSpPr>
          <p:cNvPr id="59" name="TextBox 10">
            <a:extLst>
              <a:ext uri="{FF2B5EF4-FFF2-40B4-BE49-F238E27FC236}">
                <a16:creationId xmlns:a16="http://schemas.microsoft.com/office/drawing/2014/main" id="{9B30AF6F-8E30-620A-C96E-A339B62FC90C}"/>
              </a:ext>
            </a:extLst>
          </p:cNvPr>
          <p:cNvSpPr txBox="1"/>
          <p:nvPr/>
        </p:nvSpPr>
        <p:spPr>
          <a:xfrm>
            <a:off x="822960" y="3368040"/>
            <a:ext cx="3017520" cy="731520"/>
          </a:xfrm>
          <a:prstGeom prst="rect">
            <a:avLst/>
          </a:prstGeom>
          <a:noFill/>
        </p:spPr>
        <p:txBody>
          <a:bodyPr wrap="square">
            <a:spAutoFit/>
          </a:bodyPr>
          <a:lstStyle/>
          <a:p>
            <a:pPr algn="l">
              <a:spcAft>
                <a:spcPts val="0"/>
              </a:spcAft>
              <a:defRPr sz="1100" b="0">
                <a:solidFill>
                  <a:srgbClr val="4B5563"/>
                </a:solidFill>
                <a:latin typeface="Calibri"/>
              </a:defRPr>
            </a:pPr>
            <a:r>
              <a:rPr dirty="0"/>
              <a:t>Pretrained DDPM prior;</a:t>
            </a:r>
            <a:br>
              <a:rPr dirty="0"/>
            </a:br>
            <a:r>
              <a:rPr dirty="0"/>
              <a:t>resample for coherence</a:t>
            </a:r>
          </a:p>
        </p:txBody>
      </p:sp>
      <p:pic>
        <p:nvPicPr>
          <p:cNvPr id="60" name="Picture 11" descr="repaint_diagram.png">
            <a:extLst>
              <a:ext uri="{FF2B5EF4-FFF2-40B4-BE49-F238E27FC236}">
                <a16:creationId xmlns:a16="http://schemas.microsoft.com/office/drawing/2014/main" id="{55DDC0AF-F4B4-0DEA-9388-FFE0EF80DEDB}"/>
              </a:ext>
            </a:extLst>
          </p:cNvPr>
          <p:cNvPicPr>
            <a:picLocks noChangeAspect="1"/>
          </p:cNvPicPr>
          <p:nvPr/>
        </p:nvPicPr>
        <p:blipFill>
          <a:blip r:embed="rId3"/>
          <a:stretch>
            <a:fillRect/>
          </a:stretch>
        </p:blipFill>
        <p:spPr>
          <a:xfrm>
            <a:off x="731520" y="4330839"/>
            <a:ext cx="3200400" cy="1318366"/>
          </a:xfrm>
          <a:prstGeom prst="rect">
            <a:avLst/>
          </a:prstGeom>
        </p:spPr>
      </p:pic>
      <p:sp>
        <p:nvSpPr>
          <p:cNvPr id="61" name="Rectangle 12">
            <a:extLst>
              <a:ext uri="{FF2B5EF4-FFF2-40B4-BE49-F238E27FC236}">
                <a16:creationId xmlns:a16="http://schemas.microsoft.com/office/drawing/2014/main" id="{D67090E9-A503-B4D1-3D0A-93EF33979B57}"/>
              </a:ext>
            </a:extLst>
          </p:cNvPr>
          <p:cNvSpPr/>
          <p:nvPr/>
        </p:nvSpPr>
        <p:spPr>
          <a:xfrm>
            <a:off x="731520" y="5730240"/>
            <a:ext cx="3200400" cy="3657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13">
            <a:extLst>
              <a:ext uri="{FF2B5EF4-FFF2-40B4-BE49-F238E27FC236}">
                <a16:creationId xmlns:a16="http://schemas.microsoft.com/office/drawing/2014/main" id="{0AB2F876-26F0-079C-7975-90488EAEB1DF}"/>
              </a:ext>
            </a:extLst>
          </p:cNvPr>
          <p:cNvSpPr txBox="1"/>
          <p:nvPr/>
        </p:nvSpPr>
        <p:spPr>
          <a:xfrm>
            <a:off x="1037435" y="5828035"/>
            <a:ext cx="3017520" cy="261610"/>
          </a:xfrm>
          <a:prstGeom prst="rect">
            <a:avLst/>
          </a:prstGeom>
          <a:noFill/>
        </p:spPr>
        <p:txBody>
          <a:bodyPr wrap="square">
            <a:spAutoFit/>
          </a:bodyPr>
          <a:lstStyle/>
          <a:p>
            <a:pPr algn="ctr">
              <a:spcAft>
                <a:spcPts val="0"/>
              </a:spcAft>
              <a:defRPr sz="1100" b="1">
                <a:solidFill>
                  <a:srgbClr val="DC2626"/>
                </a:solidFill>
                <a:latin typeface="Calibri"/>
              </a:defRPr>
            </a:pPr>
            <a:r>
              <a:rPr dirty="0"/>
              <a:t>Too heavy for </a:t>
            </a:r>
            <a:r>
              <a:rPr lang="en-US" dirty="0"/>
              <a:t>small</a:t>
            </a:r>
            <a:r>
              <a:rPr dirty="0"/>
              <a:t> pixels</a:t>
            </a:r>
          </a:p>
        </p:txBody>
      </p:sp>
      <p:sp>
        <p:nvSpPr>
          <p:cNvPr id="63" name="Rectangle 14">
            <a:extLst>
              <a:ext uri="{FF2B5EF4-FFF2-40B4-BE49-F238E27FC236}">
                <a16:creationId xmlns:a16="http://schemas.microsoft.com/office/drawing/2014/main" id="{2D417FB3-25C8-F3EE-80DE-CF6D7A48EF41}"/>
              </a:ext>
            </a:extLst>
          </p:cNvPr>
          <p:cNvSpPr/>
          <p:nvPr/>
        </p:nvSpPr>
        <p:spPr>
          <a:xfrm>
            <a:off x="4434840" y="2407919"/>
            <a:ext cx="3383280" cy="3712465"/>
          </a:xfrm>
          <a:prstGeom prst="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15">
            <a:extLst>
              <a:ext uri="{FF2B5EF4-FFF2-40B4-BE49-F238E27FC236}">
                <a16:creationId xmlns:a16="http://schemas.microsoft.com/office/drawing/2014/main" id="{0BBFA166-04E5-C5D6-0076-884BABF028F5}"/>
              </a:ext>
            </a:extLst>
          </p:cNvPr>
          <p:cNvSpPr/>
          <p:nvPr/>
        </p:nvSpPr>
        <p:spPr>
          <a:xfrm>
            <a:off x="4434840" y="2407920"/>
            <a:ext cx="3383280" cy="502920"/>
          </a:xfrm>
          <a:prstGeom prst="rect">
            <a:avLst/>
          </a:prstGeom>
          <a:solidFill>
            <a:srgbClr val="EA88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16">
            <a:extLst>
              <a:ext uri="{FF2B5EF4-FFF2-40B4-BE49-F238E27FC236}">
                <a16:creationId xmlns:a16="http://schemas.microsoft.com/office/drawing/2014/main" id="{CF835506-6914-A7F7-A7C1-BF6054E8264D}"/>
              </a:ext>
            </a:extLst>
          </p:cNvPr>
          <p:cNvSpPr txBox="1"/>
          <p:nvPr/>
        </p:nvSpPr>
        <p:spPr>
          <a:xfrm>
            <a:off x="7138452" y="2681179"/>
            <a:ext cx="3017520" cy="246221"/>
          </a:xfrm>
          <a:prstGeom prst="rect">
            <a:avLst/>
          </a:prstGeom>
          <a:noFill/>
        </p:spPr>
        <p:txBody>
          <a:bodyPr wrap="square">
            <a:spAutoFit/>
          </a:bodyPr>
          <a:lstStyle/>
          <a:p>
            <a:pPr algn="l">
              <a:spcAft>
                <a:spcPts val="0"/>
              </a:spcAft>
              <a:defRPr sz="1000" b="0">
                <a:solidFill>
                  <a:srgbClr val="FFFFFF"/>
                </a:solidFill>
                <a:latin typeface="Calibri"/>
              </a:defRPr>
            </a:pPr>
            <a:r>
              <a:rPr lang="en-US" altLang="zh-TW" dirty="0"/>
              <a:t>ACM</a:t>
            </a:r>
            <a:r>
              <a:rPr dirty="0"/>
              <a:t> 2009</a:t>
            </a:r>
          </a:p>
        </p:txBody>
      </p:sp>
      <p:sp>
        <p:nvSpPr>
          <p:cNvPr id="66" name="TextBox 17">
            <a:extLst>
              <a:ext uri="{FF2B5EF4-FFF2-40B4-BE49-F238E27FC236}">
                <a16:creationId xmlns:a16="http://schemas.microsoft.com/office/drawing/2014/main" id="{5556B1EA-6C49-6FAA-9906-DC6B4193E44A}"/>
              </a:ext>
            </a:extLst>
          </p:cNvPr>
          <p:cNvSpPr txBox="1"/>
          <p:nvPr/>
        </p:nvSpPr>
        <p:spPr>
          <a:xfrm>
            <a:off x="4617720" y="2556450"/>
            <a:ext cx="3108960" cy="400110"/>
          </a:xfrm>
          <a:prstGeom prst="rect">
            <a:avLst/>
          </a:prstGeom>
          <a:noFill/>
        </p:spPr>
        <p:txBody>
          <a:bodyPr wrap="square">
            <a:spAutoFit/>
          </a:bodyPr>
          <a:lstStyle/>
          <a:p>
            <a:pPr algn="l">
              <a:spcAft>
                <a:spcPts val="0"/>
              </a:spcAft>
              <a:defRPr sz="2000" b="1">
                <a:solidFill>
                  <a:srgbClr val="FFFFFF"/>
                </a:solidFill>
                <a:latin typeface="Trebuchet MS"/>
              </a:defRPr>
            </a:pPr>
            <a:r>
              <a:rPr dirty="0" err="1"/>
              <a:t>PatchMatch</a:t>
            </a:r>
            <a:endParaRPr dirty="0"/>
          </a:p>
        </p:txBody>
      </p:sp>
      <p:sp>
        <p:nvSpPr>
          <p:cNvPr id="67" name="TextBox 18">
            <a:extLst>
              <a:ext uri="{FF2B5EF4-FFF2-40B4-BE49-F238E27FC236}">
                <a16:creationId xmlns:a16="http://schemas.microsoft.com/office/drawing/2014/main" id="{BF3D94C7-147C-CB1A-FA94-2695BC616393}"/>
              </a:ext>
            </a:extLst>
          </p:cNvPr>
          <p:cNvSpPr txBox="1"/>
          <p:nvPr/>
        </p:nvSpPr>
        <p:spPr>
          <a:xfrm>
            <a:off x="4617720" y="3048000"/>
            <a:ext cx="3017520" cy="228600"/>
          </a:xfrm>
          <a:prstGeom prst="rect">
            <a:avLst/>
          </a:prstGeom>
          <a:noFill/>
        </p:spPr>
        <p:txBody>
          <a:bodyPr wrap="square">
            <a:spAutoFit/>
          </a:bodyPr>
          <a:lstStyle/>
          <a:p>
            <a:pPr algn="l">
              <a:spcAft>
                <a:spcPts val="0"/>
              </a:spcAft>
              <a:defRPr sz="1200" b="1">
                <a:solidFill>
                  <a:srgbClr val="EA880F"/>
                </a:solidFill>
                <a:latin typeface="Calibri"/>
              </a:defRPr>
            </a:pPr>
            <a:r>
              <a:rPr dirty="0"/>
              <a:t>Patch-Based NNF</a:t>
            </a:r>
          </a:p>
        </p:txBody>
      </p:sp>
      <p:sp>
        <p:nvSpPr>
          <p:cNvPr id="68" name="TextBox 19">
            <a:extLst>
              <a:ext uri="{FF2B5EF4-FFF2-40B4-BE49-F238E27FC236}">
                <a16:creationId xmlns:a16="http://schemas.microsoft.com/office/drawing/2014/main" id="{4247F4DD-2E92-5755-455F-A3AB4245D6FA}"/>
              </a:ext>
            </a:extLst>
          </p:cNvPr>
          <p:cNvSpPr txBox="1"/>
          <p:nvPr/>
        </p:nvSpPr>
        <p:spPr>
          <a:xfrm>
            <a:off x="4617720" y="3368040"/>
            <a:ext cx="3017520" cy="731520"/>
          </a:xfrm>
          <a:prstGeom prst="rect">
            <a:avLst/>
          </a:prstGeom>
          <a:noFill/>
        </p:spPr>
        <p:txBody>
          <a:bodyPr wrap="square">
            <a:spAutoFit/>
          </a:bodyPr>
          <a:lstStyle/>
          <a:p>
            <a:pPr algn="l">
              <a:spcAft>
                <a:spcPts val="0"/>
              </a:spcAft>
              <a:defRPr sz="1100" b="0">
                <a:solidFill>
                  <a:srgbClr val="4B5563"/>
                </a:solidFill>
                <a:latin typeface="Calibri"/>
              </a:defRPr>
            </a:pPr>
            <a:r>
              <a:t>Randomized NNF search;</a:t>
            </a:r>
            <a:br/>
            <a:r>
              <a:t>patch copy from full image</a:t>
            </a:r>
          </a:p>
        </p:txBody>
      </p:sp>
      <p:pic>
        <p:nvPicPr>
          <p:cNvPr id="69" name="Picture 20" descr="patchmatch_diagram.png">
            <a:extLst>
              <a:ext uri="{FF2B5EF4-FFF2-40B4-BE49-F238E27FC236}">
                <a16:creationId xmlns:a16="http://schemas.microsoft.com/office/drawing/2014/main" id="{9F4C1C64-034A-F3F4-E6DB-5DAA08635414}"/>
              </a:ext>
            </a:extLst>
          </p:cNvPr>
          <p:cNvPicPr>
            <a:picLocks noChangeAspect="1"/>
          </p:cNvPicPr>
          <p:nvPr/>
        </p:nvPicPr>
        <p:blipFill>
          <a:blip r:embed="rId4"/>
          <a:stretch>
            <a:fillRect/>
          </a:stretch>
        </p:blipFill>
        <p:spPr>
          <a:xfrm>
            <a:off x="4526280" y="4236720"/>
            <a:ext cx="3200400" cy="1197291"/>
          </a:xfrm>
          <a:prstGeom prst="rect">
            <a:avLst/>
          </a:prstGeom>
        </p:spPr>
      </p:pic>
      <p:sp>
        <p:nvSpPr>
          <p:cNvPr id="70" name="Rectangle 21">
            <a:extLst>
              <a:ext uri="{FF2B5EF4-FFF2-40B4-BE49-F238E27FC236}">
                <a16:creationId xmlns:a16="http://schemas.microsoft.com/office/drawing/2014/main" id="{BFD4F685-D241-B5A4-768A-A3CCA61F7413}"/>
              </a:ext>
            </a:extLst>
          </p:cNvPr>
          <p:cNvSpPr/>
          <p:nvPr/>
        </p:nvSpPr>
        <p:spPr>
          <a:xfrm>
            <a:off x="4495647" y="5711952"/>
            <a:ext cx="3200400" cy="3657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22">
            <a:extLst>
              <a:ext uri="{FF2B5EF4-FFF2-40B4-BE49-F238E27FC236}">
                <a16:creationId xmlns:a16="http://schemas.microsoft.com/office/drawing/2014/main" id="{BF703962-0845-D6A3-444D-12EA26D2E687}"/>
              </a:ext>
            </a:extLst>
          </p:cNvPr>
          <p:cNvSpPr txBox="1"/>
          <p:nvPr/>
        </p:nvSpPr>
        <p:spPr>
          <a:xfrm>
            <a:off x="4617720" y="5757672"/>
            <a:ext cx="3017520" cy="274320"/>
          </a:xfrm>
          <a:prstGeom prst="rect">
            <a:avLst/>
          </a:prstGeom>
          <a:noFill/>
        </p:spPr>
        <p:txBody>
          <a:bodyPr wrap="square">
            <a:spAutoFit/>
          </a:bodyPr>
          <a:lstStyle/>
          <a:p>
            <a:pPr algn="ctr">
              <a:spcAft>
                <a:spcPts val="0"/>
              </a:spcAft>
              <a:defRPr sz="1100" b="1">
                <a:solidFill>
                  <a:srgbClr val="EA880F"/>
                </a:solidFill>
                <a:latin typeface="Calibri"/>
              </a:defRPr>
            </a:pPr>
            <a:r>
              <a:rPr dirty="0"/>
              <a:t>Over-engineered for tiny holes</a:t>
            </a:r>
          </a:p>
        </p:txBody>
      </p:sp>
      <p:sp>
        <p:nvSpPr>
          <p:cNvPr id="72" name="Rectangle 23">
            <a:extLst>
              <a:ext uri="{FF2B5EF4-FFF2-40B4-BE49-F238E27FC236}">
                <a16:creationId xmlns:a16="http://schemas.microsoft.com/office/drawing/2014/main" id="{EE344E90-C7BC-5DC2-E5BA-4930809DC09C}"/>
              </a:ext>
            </a:extLst>
          </p:cNvPr>
          <p:cNvSpPr/>
          <p:nvPr/>
        </p:nvSpPr>
        <p:spPr>
          <a:xfrm>
            <a:off x="8229600" y="2407919"/>
            <a:ext cx="3383280" cy="3712465"/>
          </a:xfrm>
          <a:prstGeom prst="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24">
            <a:extLst>
              <a:ext uri="{FF2B5EF4-FFF2-40B4-BE49-F238E27FC236}">
                <a16:creationId xmlns:a16="http://schemas.microsoft.com/office/drawing/2014/main" id="{CF11B7E6-69A5-59C8-49E6-294FDA86C843}"/>
              </a:ext>
            </a:extLst>
          </p:cNvPr>
          <p:cNvSpPr/>
          <p:nvPr/>
        </p:nvSpPr>
        <p:spPr>
          <a:xfrm>
            <a:off x="8229600" y="2407920"/>
            <a:ext cx="3383280" cy="5029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26">
            <a:extLst>
              <a:ext uri="{FF2B5EF4-FFF2-40B4-BE49-F238E27FC236}">
                <a16:creationId xmlns:a16="http://schemas.microsoft.com/office/drawing/2014/main" id="{4029B4A4-2D7C-5FA1-E7E7-9765C80AAB19}"/>
              </a:ext>
            </a:extLst>
          </p:cNvPr>
          <p:cNvSpPr txBox="1"/>
          <p:nvPr/>
        </p:nvSpPr>
        <p:spPr>
          <a:xfrm>
            <a:off x="8412480" y="2542849"/>
            <a:ext cx="3017520" cy="256032"/>
          </a:xfrm>
          <a:prstGeom prst="rect">
            <a:avLst/>
          </a:prstGeom>
          <a:noFill/>
        </p:spPr>
        <p:txBody>
          <a:bodyPr wrap="square">
            <a:spAutoFit/>
          </a:bodyPr>
          <a:lstStyle/>
          <a:p>
            <a:pPr algn="l">
              <a:spcAft>
                <a:spcPts val="0"/>
              </a:spcAft>
              <a:defRPr sz="2000" b="1">
                <a:solidFill>
                  <a:srgbClr val="FFFFFF"/>
                </a:solidFill>
                <a:latin typeface="Trebuchet MS"/>
              </a:defRPr>
            </a:pPr>
            <a:r>
              <a:rPr dirty="0" err="1"/>
              <a:t>Telea</a:t>
            </a:r>
            <a:r>
              <a:rPr dirty="0"/>
              <a:t> FMM</a:t>
            </a:r>
          </a:p>
        </p:txBody>
      </p:sp>
      <p:sp>
        <p:nvSpPr>
          <p:cNvPr id="75" name="TextBox 27">
            <a:extLst>
              <a:ext uri="{FF2B5EF4-FFF2-40B4-BE49-F238E27FC236}">
                <a16:creationId xmlns:a16="http://schemas.microsoft.com/office/drawing/2014/main" id="{FD72F84E-9B08-5452-6B32-244FF9D95A4D}"/>
              </a:ext>
            </a:extLst>
          </p:cNvPr>
          <p:cNvSpPr txBox="1"/>
          <p:nvPr/>
        </p:nvSpPr>
        <p:spPr>
          <a:xfrm>
            <a:off x="8412480" y="3048000"/>
            <a:ext cx="3017520" cy="276999"/>
          </a:xfrm>
          <a:prstGeom prst="rect">
            <a:avLst/>
          </a:prstGeom>
          <a:noFill/>
        </p:spPr>
        <p:txBody>
          <a:bodyPr wrap="square">
            <a:spAutoFit/>
          </a:bodyPr>
          <a:lstStyle/>
          <a:p>
            <a:pPr>
              <a:defRPr sz="1200" b="1">
                <a:solidFill>
                  <a:srgbClr val="16A34A"/>
                </a:solidFill>
                <a:latin typeface="Calibri"/>
              </a:defRPr>
            </a:pPr>
            <a:r>
              <a:rPr lang="en-US" altLang="zh-TW" sz="1200" b="1" dirty="0"/>
              <a:t>Boundary Diffusion</a:t>
            </a:r>
            <a:endParaRPr dirty="0"/>
          </a:p>
        </p:txBody>
      </p:sp>
      <p:sp>
        <p:nvSpPr>
          <p:cNvPr id="76" name="TextBox 28">
            <a:extLst>
              <a:ext uri="{FF2B5EF4-FFF2-40B4-BE49-F238E27FC236}">
                <a16:creationId xmlns:a16="http://schemas.microsoft.com/office/drawing/2014/main" id="{2C80E8A8-502B-F2E4-365F-FC48BDCB577F}"/>
              </a:ext>
            </a:extLst>
          </p:cNvPr>
          <p:cNvSpPr txBox="1"/>
          <p:nvPr/>
        </p:nvSpPr>
        <p:spPr>
          <a:xfrm>
            <a:off x="8412480" y="3368040"/>
            <a:ext cx="3017520" cy="731520"/>
          </a:xfrm>
          <a:prstGeom prst="rect">
            <a:avLst/>
          </a:prstGeom>
          <a:noFill/>
        </p:spPr>
        <p:txBody>
          <a:bodyPr wrap="square">
            <a:spAutoFit/>
          </a:bodyPr>
          <a:lstStyle/>
          <a:p>
            <a:pPr algn="l">
              <a:spcAft>
                <a:spcPts val="0"/>
              </a:spcAft>
              <a:defRPr sz="1100" b="0">
                <a:solidFill>
                  <a:srgbClr val="4B5563"/>
                </a:solidFill>
                <a:latin typeface="Calibri"/>
              </a:defRPr>
            </a:pPr>
            <a:r>
              <a:t>Boundary propagation;</a:t>
            </a:r>
            <a:br/>
            <a:r>
              <a:t>isophote-preserving avg</a:t>
            </a:r>
          </a:p>
        </p:txBody>
      </p:sp>
      <p:pic>
        <p:nvPicPr>
          <p:cNvPr id="77" name="Picture 29" descr="telea_fmm_diagram.png">
            <a:extLst>
              <a:ext uri="{FF2B5EF4-FFF2-40B4-BE49-F238E27FC236}">
                <a16:creationId xmlns:a16="http://schemas.microsoft.com/office/drawing/2014/main" id="{143EFA57-344C-81D8-D502-A76E97204504}"/>
              </a:ext>
            </a:extLst>
          </p:cNvPr>
          <p:cNvPicPr>
            <a:picLocks noChangeAspect="1"/>
          </p:cNvPicPr>
          <p:nvPr/>
        </p:nvPicPr>
        <p:blipFill>
          <a:blip r:embed="rId5"/>
          <a:stretch>
            <a:fillRect/>
          </a:stretch>
        </p:blipFill>
        <p:spPr>
          <a:xfrm>
            <a:off x="8321040" y="4236720"/>
            <a:ext cx="3200400" cy="1459264"/>
          </a:xfrm>
          <a:prstGeom prst="rect">
            <a:avLst/>
          </a:prstGeom>
        </p:spPr>
      </p:pic>
      <p:sp>
        <p:nvSpPr>
          <p:cNvPr id="78" name="Rectangle 30">
            <a:extLst>
              <a:ext uri="{FF2B5EF4-FFF2-40B4-BE49-F238E27FC236}">
                <a16:creationId xmlns:a16="http://schemas.microsoft.com/office/drawing/2014/main" id="{7A13F7B6-D46C-C45C-F25E-4F087DA63CE0}"/>
              </a:ext>
            </a:extLst>
          </p:cNvPr>
          <p:cNvSpPr/>
          <p:nvPr/>
        </p:nvSpPr>
        <p:spPr>
          <a:xfrm>
            <a:off x="8321040" y="5730240"/>
            <a:ext cx="3200400" cy="3657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31">
            <a:extLst>
              <a:ext uri="{FF2B5EF4-FFF2-40B4-BE49-F238E27FC236}">
                <a16:creationId xmlns:a16="http://schemas.microsoft.com/office/drawing/2014/main" id="{464139D0-0DC9-EF45-B539-58555874E773}"/>
              </a:ext>
            </a:extLst>
          </p:cNvPr>
          <p:cNvSpPr txBox="1"/>
          <p:nvPr/>
        </p:nvSpPr>
        <p:spPr>
          <a:xfrm>
            <a:off x="8412480" y="5757672"/>
            <a:ext cx="3017520" cy="261610"/>
          </a:xfrm>
          <a:prstGeom prst="rect">
            <a:avLst/>
          </a:prstGeom>
          <a:noFill/>
        </p:spPr>
        <p:txBody>
          <a:bodyPr wrap="square">
            <a:spAutoFit/>
          </a:bodyPr>
          <a:lstStyle/>
          <a:p>
            <a:pPr algn="ctr">
              <a:spcAft>
                <a:spcPts val="0"/>
              </a:spcAft>
              <a:defRPr sz="1100" b="1">
                <a:solidFill>
                  <a:srgbClr val="16A34A"/>
                </a:solidFill>
                <a:latin typeface="Calibri"/>
              </a:defRPr>
            </a:pPr>
            <a:r>
              <a:rPr lang="en-US" altLang="zh-TW" sz="1100" dirty="0"/>
              <a:t>Suitable</a:t>
            </a:r>
            <a:r>
              <a:rPr dirty="0"/>
              <a:t> for </a:t>
            </a:r>
            <a:r>
              <a:rPr lang="en-US" dirty="0"/>
              <a:t>small region </a:t>
            </a:r>
            <a:r>
              <a:rPr dirty="0"/>
              <a:t>repair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66928" y="420624"/>
            <a:ext cx="11055096" cy="292608"/>
          </a:xfrm>
          <a:prstGeom prst="rect">
            <a:avLst/>
          </a:prstGeom>
          <a:noFill/>
          <a:ln/>
        </p:spPr>
        <p:txBody>
          <a:bodyPr wrap="square" lIns="0" tIns="0" rIns="0" bIns="0" rtlCol="0" anchor="ctr"/>
          <a:lstStyle/>
          <a:p>
            <a:pPr marL="0" indent="0" algn="l">
              <a:buNone/>
            </a:pPr>
            <a:r>
              <a:rPr lang="en-US" sz="1250" b="1" kern="0" spc="300" dirty="0">
                <a:solidFill>
                  <a:srgbClr val="059669"/>
                </a:solidFill>
                <a:latin typeface="Trebuchet MS" pitchFamily="34" charset="0"/>
                <a:ea typeface="Trebuchet MS" pitchFamily="34" charset="-122"/>
                <a:cs typeface="Trebuchet MS" pitchFamily="34" charset="-120"/>
              </a:rPr>
              <a:t>03 · SYSTEM &amp; METHODS</a:t>
            </a:r>
            <a:endParaRPr lang="en-US" sz="1250" dirty="0"/>
          </a:p>
        </p:txBody>
      </p:sp>
      <p:sp>
        <p:nvSpPr>
          <p:cNvPr id="3" name="Text 1"/>
          <p:cNvSpPr/>
          <p:nvPr/>
        </p:nvSpPr>
        <p:spPr>
          <a:xfrm>
            <a:off x="566928" y="713232"/>
            <a:ext cx="11055096" cy="658368"/>
          </a:xfrm>
          <a:prstGeom prst="rect">
            <a:avLst/>
          </a:prstGeom>
          <a:noFill/>
          <a:ln/>
        </p:spPr>
        <p:txBody>
          <a:bodyPr wrap="square" lIns="0" tIns="0" rIns="0" bIns="0" rtlCol="0" anchor="ctr"/>
          <a:lstStyle/>
          <a:p>
            <a:pPr marL="0" indent="0" algn="l">
              <a:buNone/>
            </a:pPr>
            <a:r>
              <a:rPr lang="en-US" sz="3000" b="1" dirty="0">
                <a:solidFill>
                  <a:srgbClr val="1E2A4A"/>
                </a:solidFill>
                <a:latin typeface="Trebuchet MS" pitchFamily="34" charset="0"/>
                <a:ea typeface="Trebuchet MS" pitchFamily="34" charset="-122"/>
                <a:cs typeface="Trebuchet MS" pitchFamily="34" charset="-120"/>
              </a:rPr>
              <a:t>System Overview</a:t>
            </a:r>
            <a:endParaRPr lang="en-US" sz="3000" dirty="0"/>
          </a:p>
        </p:txBody>
      </p:sp>
      <p:sp>
        <p:nvSpPr>
          <p:cNvPr id="54" name="Text 52"/>
          <p:cNvSpPr/>
          <p:nvPr/>
        </p:nvSpPr>
        <p:spPr>
          <a:xfrm>
            <a:off x="566928" y="6473952"/>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SDXL VAE Noise-Fix  ·  Traditional-CV ComfyUI Node</a:t>
            </a:r>
            <a:endParaRPr lang="en-US" sz="900" dirty="0"/>
          </a:p>
        </p:txBody>
      </p:sp>
      <p:sp>
        <p:nvSpPr>
          <p:cNvPr id="55" name="Text 53"/>
          <p:cNvSpPr/>
          <p:nvPr/>
        </p:nvSpPr>
        <p:spPr>
          <a:xfrm>
            <a:off x="11073384" y="6473952"/>
            <a:ext cx="54864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pic>
        <p:nvPicPr>
          <p:cNvPr id="57" name="圖片 56">
            <a:extLst>
              <a:ext uri="{FF2B5EF4-FFF2-40B4-BE49-F238E27FC236}">
                <a16:creationId xmlns:a16="http://schemas.microsoft.com/office/drawing/2014/main" id="{53FAE844-3C0D-F66D-135F-04E421CF0107}"/>
              </a:ext>
            </a:extLst>
          </p:cNvPr>
          <p:cNvPicPr>
            <a:picLocks noChangeAspect="1"/>
          </p:cNvPicPr>
          <p:nvPr/>
        </p:nvPicPr>
        <p:blipFill>
          <a:blip r:embed="rId3"/>
          <a:srcRect t="16222"/>
          <a:stretch>
            <a:fillRect/>
          </a:stretch>
        </p:blipFill>
        <p:spPr>
          <a:xfrm>
            <a:off x="644748" y="1298160"/>
            <a:ext cx="10977276" cy="517579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66928" y="420624"/>
            <a:ext cx="11055096" cy="292608"/>
          </a:xfrm>
          <a:prstGeom prst="rect">
            <a:avLst/>
          </a:prstGeom>
          <a:noFill/>
          <a:ln/>
        </p:spPr>
        <p:txBody>
          <a:bodyPr wrap="square" lIns="0" tIns="0" rIns="0" bIns="0" rtlCol="0" anchor="ctr"/>
          <a:lstStyle/>
          <a:p>
            <a:pPr marL="0" indent="0" algn="l">
              <a:buNone/>
            </a:pPr>
            <a:r>
              <a:rPr lang="en-US" sz="1250" b="1" kern="0" spc="300" dirty="0">
                <a:solidFill>
                  <a:srgbClr val="059669"/>
                </a:solidFill>
                <a:latin typeface="Trebuchet MS" pitchFamily="34" charset="0"/>
                <a:ea typeface="Trebuchet MS" pitchFamily="34" charset="-122"/>
                <a:cs typeface="Trebuchet MS" pitchFamily="34" charset="-120"/>
              </a:rPr>
              <a:t>03 · SYSTEM &amp; METHODS</a:t>
            </a:r>
            <a:endParaRPr lang="en-US" sz="1250" dirty="0"/>
          </a:p>
        </p:txBody>
      </p:sp>
      <p:sp>
        <p:nvSpPr>
          <p:cNvPr id="3" name="Text 1"/>
          <p:cNvSpPr/>
          <p:nvPr/>
        </p:nvSpPr>
        <p:spPr>
          <a:xfrm>
            <a:off x="566928" y="713232"/>
            <a:ext cx="11055096" cy="658368"/>
          </a:xfrm>
          <a:prstGeom prst="rect">
            <a:avLst/>
          </a:prstGeom>
          <a:noFill/>
          <a:ln/>
        </p:spPr>
        <p:txBody>
          <a:bodyPr wrap="square" lIns="0" tIns="0" rIns="0" bIns="0" rtlCol="0" anchor="ctr"/>
          <a:lstStyle/>
          <a:p>
            <a:pPr marL="0" indent="0" algn="l">
              <a:buNone/>
            </a:pPr>
            <a:r>
              <a:rPr lang="en-US" altLang="zh-TW" sz="3000" b="1" dirty="0">
                <a:solidFill>
                  <a:srgbClr val="1E2A4A"/>
                </a:solidFill>
                <a:latin typeface="Trebuchet MS" pitchFamily="34" charset="0"/>
                <a:ea typeface="Trebuchet MS" pitchFamily="34" charset="-122"/>
                <a:cs typeface="Trebuchet MS" pitchFamily="34" charset="-120"/>
              </a:rPr>
              <a:t>Detection </a:t>
            </a:r>
            <a:r>
              <a:rPr lang="en-US" sz="3000" b="1" dirty="0">
                <a:solidFill>
                  <a:srgbClr val="1E2A4A"/>
                </a:solidFill>
                <a:latin typeface="Trebuchet MS" pitchFamily="34" charset="0"/>
                <a:ea typeface="Trebuchet MS" pitchFamily="34" charset="-122"/>
                <a:cs typeface="Trebuchet MS" pitchFamily="34" charset="-120"/>
              </a:rPr>
              <a:t>Methodology I — Dual-Path Detection</a:t>
            </a:r>
            <a:endParaRPr lang="en-US" sz="3000" dirty="0"/>
          </a:p>
        </p:txBody>
      </p:sp>
      <p:sp>
        <p:nvSpPr>
          <p:cNvPr id="21" name="Text 19"/>
          <p:cNvSpPr/>
          <p:nvPr/>
        </p:nvSpPr>
        <p:spPr>
          <a:xfrm>
            <a:off x="566928" y="6473952"/>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SDXL VAE Noise-Fix  ·  Traditional-CV ComfyUI Node</a:t>
            </a:r>
            <a:endParaRPr lang="en-US" sz="900" dirty="0"/>
          </a:p>
        </p:txBody>
      </p:sp>
      <p:sp>
        <p:nvSpPr>
          <p:cNvPr id="22" name="Text 20"/>
          <p:cNvSpPr/>
          <p:nvPr/>
        </p:nvSpPr>
        <p:spPr>
          <a:xfrm>
            <a:off x="11073384" y="6473952"/>
            <a:ext cx="54864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pic>
        <p:nvPicPr>
          <p:cNvPr id="24" name="圖片 23">
            <a:extLst>
              <a:ext uri="{FF2B5EF4-FFF2-40B4-BE49-F238E27FC236}">
                <a16:creationId xmlns:a16="http://schemas.microsoft.com/office/drawing/2014/main" id="{0AD1C7E5-FEA5-B340-6AED-91AD9DEA5398}"/>
              </a:ext>
            </a:extLst>
          </p:cNvPr>
          <p:cNvPicPr>
            <a:picLocks noChangeAspect="1"/>
          </p:cNvPicPr>
          <p:nvPr/>
        </p:nvPicPr>
        <p:blipFill>
          <a:blip r:embed="rId3"/>
          <a:srcRect t="6075" b="5327"/>
          <a:stretch>
            <a:fillRect/>
          </a:stretch>
        </p:blipFill>
        <p:spPr>
          <a:xfrm>
            <a:off x="99752" y="1261873"/>
            <a:ext cx="11859491" cy="525364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66928" y="420624"/>
            <a:ext cx="11055096" cy="292608"/>
          </a:xfrm>
          <a:prstGeom prst="rect">
            <a:avLst/>
          </a:prstGeom>
          <a:noFill/>
          <a:ln/>
        </p:spPr>
        <p:txBody>
          <a:bodyPr wrap="square" lIns="0" tIns="0" rIns="0" bIns="0" rtlCol="0" anchor="ctr"/>
          <a:lstStyle/>
          <a:p>
            <a:pPr marL="0" indent="0" algn="l">
              <a:buNone/>
            </a:pPr>
            <a:r>
              <a:rPr lang="en-US" sz="1250" b="1" kern="0" spc="300" dirty="0">
                <a:solidFill>
                  <a:srgbClr val="059669"/>
                </a:solidFill>
                <a:latin typeface="Trebuchet MS" pitchFamily="34" charset="0"/>
                <a:ea typeface="Trebuchet MS" pitchFamily="34" charset="-122"/>
                <a:cs typeface="Trebuchet MS" pitchFamily="34" charset="-120"/>
              </a:rPr>
              <a:t>03 · SYSTEM &amp; METHODS</a:t>
            </a:r>
            <a:endParaRPr lang="en-US" sz="1250" dirty="0"/>
          </a:p>
        </p:txBody>
      </p:sp>
      <p:sp>
        <p:nvSpPr>
          <p:cNvPr id="3" name="Text 1"/>
          <p:cNvSpPr/>
          <p:nvPr/>
        </p:nvSpPr>
        <p:spPr>
          <a:xfrm>
            <a:off x="566928" y="713232"/>
            <a:ext cx="11055096" cy="658368"/>
          </a:xfrm>
          <a:prstGeom prst="rect">
            <a:avLst/>
          </a:prstGeom>
          <a:noFill/>
          <a:ln/>
        </p:spPr>
        <p:txBody>
          <a:bodyPr wrap="square" lIns="0" tIns="0" rIns="0" bIns="0" rtlCol="0" anchor="ctr"/>
          <a:lstStyle/>
          <a:p>
            <a:pPr marL="0" indent="0" algn="l">
              <a:buNone/>
            </a:pPr>
            <a:r>
              <a:rPr lang="en-US" sz="3000" b="1" dirty="0">
                <a:solidFill>
                  <a:srgbClr val="1E2A4A"/>
                </a:solidFill>
                <a:latin typeface="Trebuchet MS" pitchFamily="34" charset="0"/>
                <a:ea typeface="Trebuchet MS" pitchFamily="34" charset="-122"/>
                <a:cs typeface="Trebuchet MS" pitchFamily="34" charset="-120"/>
              </a:rPr>
              <a:t>Detection Methodology II — Structural &amp; LAB Verification</a:t>
            </a:r>
            <a:endParaRPr lang="en-US" sz="3000" dirty="0"/>
          </a:p>
        </p:txBody>
      </p:sp>
      <p:sp>
        <p:nvSpPr>
          <p:cNvPr id="4" name="Shape 2"/>
          <p:cNvSpPr/>
          <p:nvPr/>
        </p:nvSpPr>
        <p:spPr>
          <a:xfrm>
            <a:off x="566928" y="1627632"/>
            <a:ext cx="5486400" cy="2286000"/>
          </a:xfrm>
          <a:prstGeom prst="rect">
            <a:avLst/>
          </a:prstGeom>
          <a:solidFill>
            <a:srgbClr val="FFFFFF"/>
          </a:solidFill>
          <a:ln w="12700">
            <a:solidFill>
              <a:srgbClr val="E2E8F0"/>
            </a:solidFill>
            <a:prstDash val="solid"/>
          </a:ln>
          <a:effectLst>
            <a:outerShdw blurRad="88900" dist="38100" dir="8100000" algn="bl" rotWithShape="0">
              <a:srgbClr val="000000">
                <a:alpha val="10000"/>
              </a:srgbClr>
            </a:outerShdw>
          </a:effectLst>
        </p:spPr>
        <p:txBody>
          <a:bodyPr/>
          <a:lstStyle/>
          <a:p>
            <a:endParaRPr lang="zh-TW" altLang="en-US"/>
          </a:p>
        </p:txBody>
      </p:sp>
      <p:sp>
        <p:nvSpPr>
          <p:cNvPr id="5" name="Shape 3"/>
          <p:cNvSpPr/>
          <p:nvPr/>
        </p:nvSpPr>
        <p:spPr>
          <a:xfrm>
            <a:off x="566928" y="1627632"/>
            <a:ext cx="82296" cy="2286000"/>
          </a:xfrm>
          <a:prstGeom prst="rect">
            <a:avLst/>
          </a:prstGeom>
          <a:solidFill>
            <a:srgbClr val="2C3E66"/>
          </a:solidFill>
          <a:ln/>
        </p:spPr>
        <p:txBody>
          <a:bodyPr/>
          <a:lstStyle/>
          <a:p>
            <a:endParaRPr lang="zh-TW" altLang="en-US"/>
          </a:p>
        </p:txBody>
      </p:sp>
      <p:sp>
        <p:nvSpPr>
          <p:cNvPr id="6" name="Text 4"/>
          <p:cNvSpPr/>
          <p:nvPr/>
        </p:nvSpPr>
        <p:spPr>
          <a:xfrm>
            <a:off x="804672" y="1773936"/>
            <a:ext cx="5029200" cy="329184"/>
          </a:xfrm>
          <a:prstGeom prst="rect">
            <a:avLst/>
          </a:prstGeom>
          <a:noFill/>
          <a:ln/>
        </p:spPr>
        <p:txBody>
          <a:bodyPr wrap="square" lIns="0" tIns="0" rIns="0" bIns="0" rtlCol="0" anchor="ctr"/>
          <a:lstStyle/>
          <a:p>
            <a:pPr marL="0" indent="0">
              <a:buNone/>
            </a:pPr>
            <a:r>
              <a:rPr lang="en-US" sz="1550" b="1" dirty="0">
                <a:solidFill>
                  <a:srgbClr val="1E2A4A"/>
                </a:solidFill>
                <a:latin typeface="Trebuchet MS" pitchFamily="34" charset="0"/>
                <a:ea typeface="Trebuchet MS" pitchFamily="34" charset="-122"/>
                <a:cs typeface="Trebuchet MS" pitchFamily="34" charset="-120"/>
              </a:rPr>
              <a:t>Stage 3 — Structural filter (CCA)</a:t>
            </a:r>
            <a:endParaRPr lang="en-US" sz="1550" dirty="0"/>
          </a:p>
        </p:txBody>
      </p:sp>
      <p:sp>
        <p:nvSpPr>
          <p:cNvPr id="7" name="Text 5"/>
          <p:cNvSpPr/>
          <p:nvPr/>
        </p:nvSpPr>
        <p:spPr>
          <a:xfrm>
            <a:off x="804672" y="2139696"/>
            <a:ext cx="5074920" cy="1691640"/>
          </a:xfrm>
          <a:prstGeom prst="rect">
            <a:avLst/>
          </a:prstGeom>
          <a:noFill/>
          <a:ln/>
        </p:spPr>
        <p:txBody>
          <a:bodyPr wrap="square" lIns="0" tIns="0" rIns="0" bIns="0" rtlCol="0" anchor="t"/>
          <a:lstStyle/>
          <a:p>
            <a:pPr marL="0" indent="0">
              <a:spcAft>
                <a:spcPts val="600"/>
              </a:spcAft>
              <a:buNone/>
            </a:pPr>
            <a:r>
              <a:rPr lang="en-US" sz="1300" dirty="0">
                <a:solidFill>
                  <a:srgbClr val="475569"/>
                </a:solidFill>
                <a:latin typeface="Calibri" pitchFamily="34" charset="0"/>
                <a:ea typeface="Calibri" pitchFamily="34" charset="-122"/>
                <a:cs typeface="Calibri" pitchFamily="34" charset="-120"/>
              </a:rPr>
              <a:t>1.  Isolation — component area ≤ 5 × max_noise_size</a:t>
            </a:r>
            <a:endParaRPr lang="en-US" sz="1300" dirty="0"/>
          </a:p>
          <a:p>
            <a:pPr marL="0" indent="0">
              <a:spcAft>
                <a:spcPts val="600"/>
              </a:spcAft>
              <a:buNone/>
            </a:pPr>
            <a:r>
              <a:rPr lang="en-US" sz="1300" dirty="0">
                <a:solidFill>
                  <a:srgbClr val="475569"/>
                </a:solidFill>
                <a:latin typeface="Calibri" pitchFamily="34" charset="0"/>
                <a:ea typeface="Calibri" pitchFamily="34" charset="-122"/>
                <a:cs typeface="Calibri" pitchFamily="34" charset="-120"/>
              </a:rPr>
              <a:t>2.  Seed core — must contain a seed pixel; seed area ≤ max</a:t>
            </a:r>
            <a:endParaRPr lang="en-US" sz="1300" dirty="0"/>
          </a:p>
          <a:p>
            <a:pPr marL="0" indent="0">
              <a:buNone/>
            </a:pPr>
            <a:r>
              <a:rPr lang="en-US" sz="1300" dirty="0">
                <a:solidFill>
                  <a:srgbClr val="475569"/>
                </a:solidFill>
                <a:latin typeface="Calibri" pitchFamily="34" charset="0"/>
                <a:ea typeface="Calibri" pitchFamily="34" charset="-122"/>
                <a:cs typeface="Calibri" pitchFamily="34" charset="-120"/>
              </a:rPr>
              <a:t>3.  Shape — rotated-bbox aspect ratio ≤ 3.0 (rejects hair / scratches)</a:t>
            </a:r>
            <a:endParaRPr lang="en-US" sz="1300" dirty="0"/>
          </a:p>
        </p:txBody>
      </p:sp>
      <p:sp>
        <p:nvSpPr>
          <p:cNvPr id="8" name="Shape 6"/>
          <p:cNvSpPr/>
          <p:nvPr/>
        </p:nvSpPr>
        <p:spPr>
          <a:xfrm>
            <a:off x="566928" y="4041648"/>
            <a:ext cx="5486400" cy="2066544"/>
          </a:xfrm>
          <a:prstGeom prst="rect">
            <a:avLst/>
          </a:prstGeom>
          <a:solidFill>
            <a:srgbClr val="FFFFFF"/>
          </a:solidFill>
          <a:ln w="12700">
            <a:solidFill>
              <a:srgbClr val="E2E8F0"/>
            </a:solidFill>
            <a:prstDash val="solid"/>
          </a:ln>
          <a:effectLst>
            <a:outerShdw blurRad="88900" dist="38100" dir="8100000" algn="bl" rotWithShape="0">
              <a:srgbClr val="000000">
                <a:alpha val="10000"/>
              </a:srgbClr>
            </a:outerShdw>
          </a:effectLst>
        </p:spPr>
        <p:txBody>
          <a:bodyPr/>
          <a:lstStyle/>
          <a:p>
            <a:endParaRPr lang="zh-TW" altLang="en-US"/>
          </a:p>
        </p:txBody>
      </p:sp>
      <p:sp>
        <p:nvSpPr>
          <p:cNvPr id="9" name="Shape 7"/>
          <p:cNvSpPr/>
          <p:nvPr/>
        </p:nvSpPr>
        <p:spPr>
          <a:xfrm>
            <a:off x="566928" y="4041648"/>
            <a:ext cx="82296" cy="2066544"/>
          </a:xfrm>
          <a:prstGeom prst="rect">
            <a:avLst/>
          </a:prstGeom>
          <a:solidFill>
            <a:srgbClr val="059669"/>
          </a:solidFill>
          <a:ln/>
        </p:spPr>
        <p:txBody>
          <a:bodyPr/>
          <a:lstStyle/>
          <a:p>
            <a:endParaRPr lang="zh-TW" altLang="en-US"/>
          </a:p>
        </p:txBody>
      </p:sp>
      <p:sp>
        <p:nvSpPr>
          <p:cNvPr id="10" name="Text 8"/>
          <p:cNvSpPr/>
          <p:nvPr/>
        </p:nvSpPr>
        <p:spPr>
          <a:xfrm>
            <a:off x="804672" y="4187952"/>
            <a:ext cx="5029200" cy="329184"/>
          </a:xfrm>
          <a:prstGeom prst="rect">
            <a:avLst/>
          </a:prstGeom>
          <a:noFill/>
          <a:ln/>
        </p:spPr>
        <p:txBody>
          <a:bodyPr wrap="square" lIns="0" tIns="0" rIns="0" bIns="0" rtlCol="0" anchor="ctr"/>
          <a:lstStyle/>
          <a:p>
            <a:pPr marL="0" indent="0">
              <a:buNone/>
            </a:pPr>
            <a:r>
              <a:rPr lang="en-US" sz="1550" b="1" dirty="0">
                <a:solidFill>
                  <a:srgbClr val="1E2A4A"/>
                </a:solidFill>
                <a:latin typeface="Trebuchet MS" pitchFamily="34" charset="0"/>
                <a:ea typeface="Trebuchet MS" pitchFamily="34" charset="-122"/>
                <a:cs typeface="Trebuchet MS" pitchFamily="34" charset="-120"/>
              </a:rPr>
              <a:t>Stage 4 — LAB chromatic verification</a:t>
            </a:r>
            <a:endParaRPr lang="en-US" sz="1550" dirty="0"/>
          </a:p>
        </p:txBody>
      </p:sp>
      <p:sp>
        <p:nvSpPr>
          <p:cNvPr id="11" name="Text 9"/>
          <p:cNvSpPr/>
          <p:nvPr/>
        </p:nvSpPr>
        <p:spPr>
          <a:xfrm>
            <a:off x="804672" y="4553712"/>
            <a:ext cx="5074920" cy="1463040"/>
          </a:xfrm>
          <a:prstGeom prst="rect">
            <a:avLst/>
          </a:prstGeom>
          <a:noFill/>
          <a:ln/>
        </p:spPr>
        <p:txBody>
          <a:bodyPr wrap="square" lIns="0" tIns="0" rIns="0" bIns="0" rtlCol="0" anchor="t"/>
          <a:lstStyle/>
          <a:p>
            <a:pPr marL="0" indent="0">
              <a:buNone/>
            </a:pPr>
            <a:r>
              <a:rPr lang="en-US" sz="1300" b="1" dirty="0">
                <a:solidFill>
                  <a:srgbClr val="1E2A4A"/>
                </a:solidFill>
                <a:latin typeface="Calibri" pitchFamily="34" charset="0"/>
                <a:ea typeface="Calibri" pitchFamily="34" charset="-122"/>
                <a:cs typeface="Calibri" pitchFamily="34" charset="-120"/>
              </a:rPr>
              <a:t>Cliff test:  </a:t>
            </a:r>
            <a:r>
              <a:rPr lang="en-US" sz="1250" b="1" dirty="0">
                <a:solidFill>
                  <a:srgbClr val="059669"/>
                </a:solidFill>
                <a:latin typeface="Courier New" pitchFamily="34" charset="0"/>
                <a:ea typeface="Courier New" pitchFamily="34" charset="-122"/>
                <a:cs typeface="Courier New" pitchFamily="34" charset="-120"/>
              </a:rPr>
              <a:t>internal_drop_ratio &gt; 0.6 − 0.2·sens</a:t>
            </a:r>
            <a:endParaRPr lang="en-US" sz="1300" dirty="0"/>
          </a:p>
          <a:p>
            <a:pPr marL="0" indent="0">
              <a:buNone/>
            </a:pPr>
            <a:r>
              <a:rPr lang="en-US" sz="1300" b="1" dirty="0">
                <a:solidFill>
                  <a:srgbClr val="1E2A4A"/>
                </a:solidFill>
                <a:latin typeface="Calibri" pitchFamily="34" charset="0"/>
                <a:ea typeface="Calibri" pitchFamily="34" charset="-122"/>
                <a:cs typeface="Calibri" pitchFamily="34" charset="-120"/>
              </a:rPr>
              <a:t>Color test:  </a:t>
            </a:r>
            <a:r>
              <a:rPr lang="en-US" sz="1250" b="1" dirty="0">
                <a:solidFill>
                  <a:srgbClr val="059669"/>
                </a:solidFill>
                <a:latin typeface="Courier New" pitchFamily="34" charset="0"/>
                <a:ea typeface="Courier New" pitchFamily="34" charset="-122"/>
                <a:cs typeface="Courier New" pitchFamily="34" charset="-120"/>
              </a:rPr>
              <a:t>‖Δa*b*‖ ≥ 3 + 15·sens</a:t>
            </a:r>
            <a:endParaRPr lang="en-US" sz="1300" dirty="0"/>
          </a:p>
          <a:p>
            <a:pPr marL="0" indent="0">
              <a:buNone/>
            </a:pPr>
            <a:r>
              <a:rPr lang="en-US" sz="1250" dirty="0">
                <a:solidFill>
                  <a:srgbClr val="475569"/>
                </a:solidFill>
                <a:latin typeface="Calibri" pitchFamily="34" charset="0"/>
                <a:ea typeface="Calibri" pitchFamily="34" charset="-122"/>
                <a:cs typeface="Calibri" pitchFamily="34" charset="-120"/>
              </a:rPr>
              <a:t>Keep a blob iff  cliff OR colored — this is what separates a VAE impulse from a real star.</a:t>
            </a:r>
            <a:endParaRPr lang="en-US" sz="1300" dirty="0"/>
          </a:p>
        </p:txBody>
      </p:sp>
      <p:sp>
        <p:nvSpPr>
          <p:cNvPr id="12" name="Shape 10"/>
          <p:cNvSpPr/>
          <p:nvPr/>
        </p:nvSpPr>
        <p:spPr>
          <a:xfrm>
            <a:off x="6355080" y="1627632"/>
            <a:ext cx="5266944" cy="4480560"/>
          </a:xfrm>
          <a:prstGeom prst="rect">
            <a:avLst/>
          </a:prstGeom>
          <a:solidFill>
            <a:srgbClr val="FFFFFF"/>
          </a:solidFill>
          <a:ln w="12700">
            <a:solidFill>
              <a:srgbClr val="E2E8F0"/>
            </a:solidFill>
            <a:prstDash val="solid"/>
          </a:ln>
          <a:effectLst>
            <a:outerShdw blurRad="88900" dist="38100" dir="8100000" algn="bl" rotWithShape="0">
              <a:srgbClr val="000000">
                <a:alpha val="10000"/>
              </a:srgbClr>
            </a:outerShdw>
          </a:effectLst>
        </p:spPr>
        <p:txBody>
          <a:bodyPr/>
          <a:lstStyle/>
          <a:p>
            <a:endParaRPr lang="zh-TW" altLang="en-US"/>
          </a:p>
        </p:txBody>
      </p:sp>
      <p:sp>
        <p:nvSpPr>
          <p:cNvPr id="13" name="Shape 11"/>
          <p:cNvSpPr/>
          <p:nvPr/>
        </p:nvSpPr>
        <p:spPr>
          <a:xfrm>
            <a:off x="6355080" y="1627632"/>
            <a:ext cx="82296" cy="4480560"/>
          </a:xfrm>
          <a:prstGeom prst="rect">
            <a:avLst/>
          </a:prstGeom>
          <a:solidFill>
            <a:srgbClr val="D97706"/>
          </a:solidFill>
          <a:ln/>
        </p:spPr>
        <p:txBody>
          <a:bodyPr/>
          <a:lstStyle/>
          <a:p>
            <a:endParaRPr lang="zh-TW" altLang="en-US"/>
          </a:p>
        </p:txBody>
      </p:sp>
      <p:sp>
        <p:nvSpPr>
          <p:cNvPr id="14" name="Text 12"/>
          <p:cNvSpPr/>
          <p:nvPr/>
        </p:nvSpPr>
        <p:spPr>
          <a:xfrm>
            <a:off x="6592824" y="1773936"/>
            <a:ext cx="4809744" cy="365760"/>
          </a:xfrm>
          <a:prstGeom prst="rect">
            <a:avLst/>
          </a:prstGeom>
          <a:noFill/>
          <a:ln/>
        </p:spPr>
        <p:txBody>
          <a:bodyPr wrap="square" lIns="0" tIns="0" rIns="0" bIns="0" rtlCol="0" anchor="ctr"/>
          <a:lstStyle/>
          <a:p>
            <a:pPr marL="0" indent="0">
              <a:buNone/>
            </a:pPr>
            <a:r>
              <a:rPr lang="en-US" sz="1600" b="1" dirty="0">
                <a:solidFill>
                  <a:srgbClr val="1E2A4A"/>
                </a:solidFill>
                <a:latin typeface="Trebuchet MS" pitchFamily="34" charset="0"/>
                <a:ea typeface="Trebuchet MS" pitchFamily="34" charset="-122"/>
                <a:cs typeface="Trebuchet MS" pitchFamily="34" charset="-120"/>
              </a:rPr>
              <a:t>Natural star  vs  VAE impulse</a:t>
            </a:r>
            <a:endParaRPr lang="en-US" sz="1600" dirty="0"/>
          </a:p>
        </p:txBody>
      </p:sp>
      <p:sp>
        <p:nvSpPr>
          <p:cNvPr id="15" name="Shape 13"/>
          <p:cNvSpPr/>
          <p:nvPr/>
        </p:nvSpPr>
        <p:spPr>
          <a:xfrm>
            <a:off x="6739128" y="2286000"/>
            <a:ext cx="420624" cy="420624"/>
          </a:xfrm>
          <a:prstGeom prst="rect">
            <a:avLst/>
          </a:prstGeom>
          <a:solidFill>
            <a:srgbClr val="505050"/>
          </a:solidFill>
          <a:ln w="6350">
            <a:solidFill>
              <a:srgbClr val="FFFFFF"/>
            </a:solidFill>
            <a:prstDash val="solid"/>
          </a:ln>
        </p:spPr>
        <p:txBody>
          <a:bodyPr/>
          <a:lstStyle/>
          <a:p>
            <a:endParaRPr lang="zh-TW" altLang="en-US"/>
          </a:p>
        </p:txBody>
      </p:sp>
      <p:sp>
        <p:nvSpPr>
          <p:cNvPr id="16" name="Shape 14"/>
          <p:cNvSpPr/>
          <p:nvPr/>
        </p:nvSpPr>
        <p:spPr>
          <a:xfrm>
            <a:off x="7159752" y="2286000"/>
            <a:ext cx="420624" cy="420624"/>
          </a:xfrm>
          <a:prstGeom prst="rect">
            <a:avLst/>
          </a:prstGeom>
          <a:solidFill>
            <a:srgbClr val="969696"/>
          </a:solidFill>
          <a:ln w="6350">
            <a:solidFill>
              <a:srgbClr val="FFFFFF"/>
            </a:solidFill>
            <a:prstDash val="solid"/>
          </a:ln>
        </p:spPr>
        <p:txBody>
          <a:bodyPr/>
          <a:lstStyle/>
          <a:p>
            <a:endParaRPr lang="zh-TW" altLang="en-US"/>
          </a:p>
        </p:txBody>
      </p:sp>
      <p:sp>
        <p:nvSpPr>
          <p:cNvPr id="17" name="Shape 15"/>
          <p:cNvSpPr/>
          <p:nvPr/>
        </p:nvSpPr>
        <p:spPr>
          <a:xfrm>
            <a:off x="7580376" y="2286000"/>
            <a:ext cx="420624" cy="420624"/>
          </a:xfrm>
          <a:prstGeom prst="rect">
            <a:avLst/>
          </a:prstGeom>
          <a:solidFill>
            <a:srgbClr val="C8C8C8"/>
          </a:solidFill>
          <a:ln w="6350">
            <a:solidFill>
              <a:srgbClr val="FFFFFF"/>
            </a:solidFill>
            <a:prstDash val="solid"/>
          </a:ln>
        </p:spPr>
        <p:txBody>
          <a:bodyPr/>
          <a:lstStyle/>
          <a:p>
            <a:endParaRPr lang="zh-TW" altLang="en-US"/>
          </a:p>
        </p:txBody>
      </p:sp>
      <p:sp>
        <p:nvSpPr>
          <p:cNvPr id="18" name="Shape 16"/>
          <p:cNvSpPr/>
          <p:nvPr/>
        </p:nvSpPr>
        <p:spPr>
          <a:xfrm>
            <a:off x="8001000" y="2286000"/>
            <a:ext cx="420624" cy="420624"/>
          </a:xfrm>
          <a:prstGeom prst="rect">
            <a:avLst/>
          </a:prstGeom>
          <a:solidFill>
            <a:srgbClr val="969696"/>
          </a:solidFill>
          <a:ln w="6350">
            <a:solidFill>
              <a:srgbClr val="FFFFFF"/>
            </a:solidFill>
            <a:prstDash val="solid"/>
          </a:ln>
        </p:spPr>
        <p:txBody>
          <a:bodyPr/>
          <a:lstStyle/>
          <a:p>
            <a:endParaRPr lang="zh-TW" altLang="en-US"/>
          </a:p>
        </p:txBody>
      </p:sp>
      <p:sp>
        <p:nvSpPr>
          <p:cNvPr id="19" name="Shape 17"/>
          <p:cNvSpPr/>
          <p:nvPr/>
        </p:nvSpPr>
        <p:spPr>
          <a:xfrm>
            <a:off x="8421624" y="2286000"/>
            <a:ext cx="420624" cy="420624"/>
          </a:xfrm>
          <a:prstGeom prst="rect">
            <a:avLst/>
          </a:prstGeom>
          <a:solidFill>
            <a:srgbClr val="505050"/>
          </a:solidFill>
          <a:ln w="6350">
            <a:solidFill>
              <a:srgbClr val="FFFFFF"/>
            </a:solidFill>
            <a:prstDash val="solid"/>
          </a:ln>
        </p:spPr>
        <p:txBody>
          <a:bodyPr/>
          <a:lstStyle/>
          <a:p>
            <a:endParaRPr lang="zh-TW" altLang="en-US"/>
          </a:p>
        </p:txBody>
      </p:sp>
      <p:sp>
        <p:nvSpPr>
          <p:cNvPr id="20" name="Shape 18"/>
          <p:cNvSpPr/>
          <p:nvPr/>
        </p:nvSpPr>
        <p:spPr>
          <a:xfrm>
            <a:off x="6739128" y="2706624"/>
            <a:ext cx="420624" cy="420624"/>
          </a:xfrm>
          <a:prstGeom prst="rect">
            <a:avLst/>
          </a:prstGeom>
          <a:solidFill>
            <a:srgbClr val="969696"/>
          </a:solidFill>
          <a:ln w="6350">
            <a:solidFill>
              <a:srgbClr val="FFFFFF"/>
            </a:solidFill>
            <a:prstDash val="solid"/>
          </a:ln>
        </p:spPr>
        <p:txBody>
          <a:bodyPr/>
          <a:lstStyle/>
          <a:p>
            <a:endParaRPr lang="zh-TW" altLang="en-US"/>
          </a:p>
        </p:txBody>
      </p:sp>
      <p:sp>
        <p:nvSpPr>
          <p:cNvPr id="21" name="Shape 19"/>
          <p:cNvSpPr/>
          <p:nvPr/>
        </p:nvSpPr>
        <p:spPr>
          <a:xfrm>
            <a:off x="7159752" y="2706624"/>
            <a:ext cx="420624" cy="420624"/>
          </a:xfrm>
          <a:prstGeom prst="rect">
            <a:avLst/>
          </a:prstGeom>
          <a:solidFill>
            <a:srgbClr val="FAFAFA"/>
          </a:solidFill>
          <a:ln w="6350">
            <a:solidFill>
              <a:srgbClr val="FFFFFF"/>
            </a:solidFill>
            <a:prstDash val="solid"/>
          </a:ln>
        </p:spPr>
        <p:txBody>
          <a:bodyPr/>
          <a:lstStyle/>
          <a:p>
            <a:endParaRPr lang="zh-TW" altLang="en-US"/>
          </a:p>
        </p:txBody>
      </p:sp>
      <p:sp>
        <p:nvSpPr>
          <p:cNvPr id="22" name="Shape 20"/>
          <p:cNvSpPr/>
          <p:nvPr/>
        </p:nvSpPr>
        <p:spPr>
          <a:xfrm>
            <a:off x="7580376" y="2706624"/>
            <a:ext cx="420624" cy="420624"/>
          </a:xfrm>
          <a:prstGeom prst="rect">
            <a:avLst/>
          </a:prstGeom>
          <a:solidFill>
            <a:srgbClr val="FFFFFF"/>
          </a:solidFill>
          <a:ln w="6350">
            <a:solidFill>
              <a:srgbClr val="FFFFFF"/>
            </a:solidFill>
            <a:prstDash val="solid"/>
          </a:ln>
        </p:spPr>
        <p:txBody>
          <a:bodyPr/>
          <a:lstStyle/>
          <a:p>
            <a:endParaRPr lang="zh-TW" altLang="en-US"/>
          </a:p>
        </p:txBody>
      </p:sp>
      <p:sp>
        <p:nvSpPr>
          <p:cNvPr id="23" name="Shape 21"/>
          <p:cNvSpPr/>
          <p:nvPr/>
        </p:nvSpPr>
        <p:spPr>
          <a:xfrm>
            <a:off x="8001000" y="2706624"/>
            <a:ext cx="420624" cy="420624"/>
          </a:xfrm>
          <a:prstGeom prst="rect">
            <a:avLst/>
          </a:prstGeom>
          <a:solidFill>
            <a:srgbClr val="FAFAFA"/>
          </a:solidFill>
          <a:ln w="6350">
            <a:solidFill>
              <a:srgbClr val="FFFFFF"/>
            </a:solidFill>
            <a:prstDash val="solid"/>
          </a:ln>
        </p:spPr>
        <p:txBody>
          <a:bodyPr/>
          <a:lstStyle/>
          <a:p>
            <a:endParaRPr lang="zh-TW" altLang="en-US"/>
          </a:p>
        </p:txBody>
      </p:sp>
      <p:sp>
        <p:nvSpPr>
          <p:cNvPr id="24" name="Shape 22"/>
          <p:cNvSpPr/>
          <p:nvPr/>
        </p:nvSpPr>
        <p:spPr>
          <a:xfrm>
            <a:off x="8421624" y="2706624"/>
            <a:ext cx="420624" cy="420624"/>
          </a:xfrm>
          <a:prstGeom prst="rect">
            <a:avLst/>
          </a:prstGeom>
          <a:solidFill>
            <a:srgbClr val="969696"/>
          </a:solidFill>
          <a:ln w="6350">
            <a:solidFill>
              <a:srgbClr val="FFFFFF"/>
            </a:solidFill>
            <a:prstDash val="solid"/>
          </a:ln>
        </p:spPr>
        <p:txBody>
          <a:bodyPr/>
          <a:lstStyle/>
          <a:p>
            <a:endParaRPr lang="zh-TW" altLang="en-US"/>
          </a:p>
        </p:txBody>
      </p:sp>
      <p:sp>
        <p:nvSpPr>
          <p:cNvPr id="25" name="Shape 23"/>
          <p:cNvSpPr/>
          <p:nvPr/>
        </p:nvSpPr>
        <p:spPr>
          <a:xfrm>
            <a:off x="6739128" y="3127248"/>
            <a:ext cx="420624" cy="420624"/>
          </a:xfrm>
          <a:prstGeom prst="rect">
            <a:avLst/>
          </a:prstGeom>
          <a:solidFill>
            <a:srgbClr val="B4B4B4"/>
          </a:solidFill>
          <a:ln w="6350">
            <a:solidFill>
              <a:srgbClr val="FFFFFF"/>
            </a:solidFill>
            <a:prstDash val="solid"/>
          </a:ln>
        </p:spPr>
        <p:txBody>
          <a:bodyPr/>
          <a:lstStyle/>
          <a:p>
            <a:endParaRPr lang="zh-TW" altLang="en-US"/>
          </a:p>
        </p:txBody>
      </p:sp>
      <p:sp>
        <p:nvSpPr>
          <p:cNvPr id="26" name="Shape 24"/>
          <p:cNvSpPr/>
          <p:nvPr/>
        </p:nvSpPr>
        <p:spPr>
          <a:xfrm>
            <a:off x="7159752" y="3127248"/>
            <a:ext cx="420624" cy="420624"/>
          </a:xfrm>
          <a:prstGeom prst="rect">
            <a:avLst/>
          </a:prstGeom>
          <a:solidFill>
            <a:srgbClr val="FFFFFF"/>
          </a:solidFill>
          <a:ln w="6350">
            <a:solidFill>
              <a:srgbClr val="FFFFFF"/>
            </a:solidFill>
            <a:prstDash val="solid"/>
          </a:ln>
        </p:spPr>
        <p:txBody>
          <a:bodyPr/>
          <a:lstStyle/>
          <a:p>
            <a:endParaRPr lang="zh-TW" altLang="en-US"/>
          </a:p>
        </p:txBody>
      </p:sp>
      <p:sp>
        <p:nvSpPr>
          <p:cNvPr id="27" name="Shape 25"/>
          <p:cNvSpPr/>
          <p:nvPr/>
        </p:nvSpPr>
        <p:spPr>
          <a:xfrm>
            <a:off x="7580376" y="3127248"/>
            <a:ext cx="420624" cy="420624"/>
          </a:xfrm>
          <a:prstGeom prst="rect">
            <a:avLst/>
          </a:prstGeom>
          <a:solidFill>
            <a:srgbClr val="FFFFFF"/>
          </a:solidFill>
          <a:ln w="6350">
            <a:solidFill>
              <a:srgbClr val="FFFFFF"/>
            </a:solidFill>
            <a:prstDash val="solid"/>
          </a:ln>
        </p:spPr>
        <p:txBody>
          <a:bodyPr/>
          <a:lstStyle/>
          <a:p>
            <a:endParaRPr lang="zh-TW" altLang="en-US"/>
          </a:p>
        </p:txBody>
      </p:sp>
      <p:sp>
        <p:nvSpPr>
          <p:cNvPr id="28" name="Shape 26"/>
          <p:cNvSpPr/>
          <p:nvPr/>
        </p:nvSpPr>
        <p:spPr>
          <a:xfrm>
            <a:off x="8001000" y="3127248"/>
            <a:ext cx="420624" cy="420624"/>
          </a:xfrm>
          <a:prstGeom prst="rect">
            <a:avLst/>
          </a:prstGeom>
          <a:solidFill>
            <a:srgbClr val="FFFFFF"/>
          </a:solidFill>
          <a:ln w="6350">
            <a:solidFill>
              <a:srgbClr val="FFFFFF"/>
            </a:solidFill>
            <a:prstDash val="solid"/>
          </a:ln>
        </p:spPr>
        <p:txBody>
          <a:bodyPr/>
          <a:lstStyle/>
          <a:p>
            <a:endParaRPr lang="zh-TW" altLang="en-US"/>
          </a:p>
        </p:txBody>
      </p:sp>
      <p:sp>
        <p:nvSpPr>
          <p:cNvPr id="29" name="Shape 27"/>
          <p:cNvSpPr/>
          <p:nvPr/>
        </p:nvSpPr>
        <p:spPr>
          <a:xfrm>
            <a:off x="8421624" y="3127248"/>
            <a:ext cx="420624" cy="420624"/>
          </a:xfrm>
          <a:prstGeom prst="rect">
            <a:avLst/>
          </a:prstGeom>
          <a:solidFill>
            <a:srgbClr val="B4B4B4"/>
          </a:solidFill>
          <a:ln w="6350">
            <a:solidFill>
              <a:srgbClr val="FFFFFF"/>
            </a:solidFill>
            <a:prstDash val="solid"/>
          </a:ln>
        </p:spPr>
        <p:txBody>
          <a:bodyPr/>
          <a:lstStyle/>
          <a:p>
            <a:endParaRPr lang="zh-TW" altLang="en-US"/>
          </a:p>
        </p:txBody>
      </p:sp>
      <p:sp>
        <p:nvSpPr>
          <p:cNvPr id="30" name="Shape 28"/>
          <p:cNvSpPr/>
          <p:nvPr/>
        </p:nvSpPr>
        <p:spPr>
          <a:xfrm>
            <a:off x="6739128" y="3547872"/>
            <a:ext cx="420624" cy="420624"/>
          </a:xfrm>
          <a:prstGeom prst="rect">
            <a:avLst/>
          </a:prstGeom>
          <a:solidFill>
            <a:srgbClr val="969696"/>
          </a:solidFill>
          <a:ln w="6350">
            <a:solidFill>
              <a:srgbClr val="FFFFFF"/>
            </a:solidFill>
            <a:prstDash val="solid"/>
          </a:ln>
        </p:spPr>
        <p:txBody>
          <a:bodyPr/>
          <a:lstStyle/>
          <a:p>
            <a:endParaRPr lang="zh-TW" altLang="en-US"/>
          </a:p>
        </p:txBody>
      </p:sp>
      <p:sp>
        <p:nvSpPr>
          <p:cNvPr id="31" name="Shape 29"/>
          <p:cNvSpPr/>
          <p:nvPr/>
        </p:nvSpPr>
        <p:spPr>
          <a:xfrm>
            <a:off x="7159752" y="3547872"/>
            <a:ext cx="420624" cy="420624"/>
          </a:xfrm>
          <a:prstGeom prst="rect">
            <a:avLst/>
          </a:prstGeom>
          <a:solidFill>
            <a:srgbClr val="FAFAFA"/>
          </a:solidFill>
          <a:ln w="6350">
            <a:solidFill>
              <a:srgbClr val="FFFFFF"/>
            </a:solidFill>
            <a:prstDash val="solid"/>
          </a:ln>
        </p:spPr>
        <p:txBody>
          <a:bodyPr/>
          <a:lstStyle/>
          <a:p>
            <a:endParaRPr lang="zh-TW" altLang="en-US"/>
          </a:p>
        </p:txBody>
      </p:sp>
      <p:sp>
        <p:nvSpPr>
          <p:cNvPr id="32" name="Shape 30"/>
          <p:cNvSpPr/>
          <p:nvPr/>
        </p:nvSpPr>
        <p:spPr>
          <a:xfrm>
            <a:off x="7580376" y="3547872"/>
            <a:ext cx="420624" cy="420624"/>
          </a:xfrm>
          <a:prstGeom prst="rect">
            <a:avLst/>
          </a:prstGeom>
          <a:solidFill>
            <a:srgbClr val="FFFFFF"/>
          </a:solidFill>
          <a:ln w="6350">
            <a:solidFill>
              <a:srgbClr val="FFFFFF"/>
            </a:solidFill>
            <a:prstDash val="solid"/>
          </a:ln>
        </p:spPr>
        <p:txBody>
          <a:bodyPr/>
          <a:lstStyle/>
          <a:p>
            <a:endParaRPr lang="zh-TW" altLang="en-US"/>
          </a:p>
        </p:txBody>
      </p:sp>
      <p:sp>
        <p:nvSpPr>
          <p:cNvPr id="33" name="Shape 31"/>
          <p:cNvSpPr/>
          <p:nvPr/>
        </p:nvSpPr>
        <p:spPr>
          <a:xfrm>
            <a:off x="8001000" y="3547872"/>
            <a:ext cx="420624" cy="420624"/>
          </a:xfrm>
          <a:prstGeom prst="rect">
            <a:avLst/>
          </a:prstGeom>
          <a:solidFill>
            <a:srgbClr val="FAFAFA"/>
          </a:solidFill>
          <a:ln w="6350">
            <a:solidFill>
              <a:srgbClr val="FFFFFF"/>
            </a:solidFill>
            <a:prstDash val="solid"/>
          </a:ln>
        </p:spPr>
        <p:txBody>
          <a:bodyPr/>
          <a:lstStyle/>
          <a:p>
            <a:endParaRPr lang="zh-TW" altLang="en-US"/>
          </a:p>
        </p:txBody>
      </p:sp>
      <p:sp>
        <p:nvSpPr>
          <p:cNvPr id="34" name="Shape 32"/>
          <p:cNvSpPr/>
          <p:nvPr/>
        </p:nvSpPr>
        <p:spPr>
          <a:xfrm>
            <a:off x="8421624" y="3547872"/>
            <a:ext cx="420624" cy="420624"/>
          </a:xfrm>
          <a:prstGeom prst="rect">
            <a:avLst/>
          </a:prstGeom>
          <a:solidFill>
            <a:srgbClr val="969696"/>
          </a:solidFill>
          <a:ln w="6350">
            <a:solidFill>
              <a:srgbClr val="FFFFFF"/>
            </a:solidFill>
            <a:prstDash val="solid"/>
          </a:ln>
        </p:spPr>
        <p:txBody>
          <a:bodyPr/>
          <a:lstStyle/>
          <a:p>
            <a:endParaRPr lang="zh-TW" altLang="en-US"/>
          </a:p>
        </p:txBody>
      </p:sp>
      <p:sp>
        <p:nvSpPr>
          <p:cNvPr id="35" name="Shape 33"/>
          <p:cNvSpPr/>
          <p:nvPr/>
        </p:nvSpPr>
        <p:spPr>
          <a:xfrm>
            <a:off x="6739128" y="3968496"/>
            <a:ext cx="420624" cy="420624"/>
          </a:xfrm>
          <a:prstGeom prst="rect">
            <a:avLst/>
          </a:prstGeom>
          <a:solidFill>
            <a:srgbClr val="505050"/>
          </a:solidFill>
          <a:ln w="6350">
            <a:solidFill>
              <a:srgbClr val="FFFFFF"/>
            </a:solidFill>
            <a:prstDash val="solid"/>
          </a:ln>
        </p:spPr>
        <p:txBody>
          <a:bodyPr/>
          <a:lstStyle/>
          <a:p>
            <a:endParaRPr lang="zh-TW" altLang="en-US"/>
          </a:p>
        </p:txBody>
      </p:sp>
      <p:sp>
        <p:nvSpPr>
          <p:cNvPr id="36" name="Shape 34"/>
          <p:cNvSpPr/>
          <p:nvPr/>
        </p:nvSpPr>
        <p:spPr>
          <a:xfrm>
            <a:off x="7159752" y="3968496"/>
            <a:ext cx="420624" cy="420624"/>
          </a:xfrm>
          <a:prstGeom prst="rect">
            <a:avLst/>
          </a:prstGeom>
          <a:solidFill>
            <a:srgbClr val="969696"/>
          </a:solidFill>
          <a:ln w="6350">
            <a:solidFill>
              <a:srgbClr val="FFFFFF"/>
            </a:solidFill>
            <a:prstDash val="solid"/>
          </a:ln>
        </p:spPr>
        <p:txBody>
          <a:bodyPr/>
          <a:lstStyle/>
          <a:p>
            <a:endParaRPr lang="zh-TW" altLang="en-US"/>
          </a:p>
        </p:txBody>
      </p:sp>
      <p:sp>
        <p:nvSpPr>
          <p:cNvPr id="37" name="Shape 35"/>
          <p:cNvSpPr/>
          <p:nvPr/>
        </p:nvSpPr>
        <p:spPr>
          <a:xfrm>
            <a:off x="7580376" y="3968496"/>
            <a:ext cx="420624" cy="420624"/>
          </a:xfrm>
          <a:prstGeom prst="rect">
            <a:avLst/>
          </a:prstGeom>
          <a:solidFill>
            <a:srgbClr val="C8C8C8"/>
          </a:solidFill>
          <a:ln w="6350">
            <a:solidFill>
              <a:srgbClr val="FFFFFF"/>
            </a:solidFill>
            <a:prstDash val="solid"/>
          </a:ln>
        </p:spPr>
        <p:txBody>
          <a:bodyPr/>
          <a:lstStyle/>
          <a:p>
            <a:endParaRPr lang="zh-TW" altLang="en-US"/>
          </a:p>
        </p:txBody>
      </p:sp>
      <p:sp>
        <p:nvSpPr>
          <p:cNvPr id="38" name="Shape 36"/>
          <p:cNvSpPr/>
          <p:nvPr/>
        </p:nvSpPr>
        <p:spPr>
          <a:xfrm>
            <a:off x="8001000" y="3968496"/>
            <a:ext cx="420624" cy="420624"/>
          </a:xfrm>
          <a:prstGeom prst="rect">
            <a:avLst/>
          </a:prstGeom>
          <a:solidFill>
            <a:srgbClr val="969696"/>
          </a:solidFill>
          <a:ln w="6350">
            <a:solidFill>
              <a:srgbClr val="FFFFFF"/>
            </a:solidFill>
            <a:prstDash val="solid"/>
          </a:ln>
        </p:spPr>
        <p:txBody>
          <a:bodyPr/>
          <a:lstStyle/>
          <a:p>
            <a:endParaRPr lang="zh-TW" altLang="en-US"/>
          </a:p>
        </p:txBody>
      </p:sp>
      <p:sp>
        <p:nvSpPr>
          <p:cNvPr id="39" name="Shape 37"/>
          <p:cNvSpPr/>
          <p:nvPr/>
        </p:nvSpPr>
        <p:spPr>
          <a:xfrm>
            <a:off x="8421624" y="3968496"/>
            <a:ext cx="420624" cy="420624"/>
          </a:xfrm>
          <a:prstGeom prst="rect">
            <a:avLst/>
          </a:prstGeom>
          <a:solidFill>
            <a:srgbClr val="505050"/>
          </a:solidFill>
          <a:ln w="6350">
            <a:solidFill>
              <a:srgbClr val="FFFFFF"/>
            </a:solidFill>
            <a:prstDash val="solid"/>
          </a:ln>
        </p:spPr>
        <p:txBody>
          <a:bodyPr/>
          <a:lstStyle/>
          <a:p>
            <a:endParaRPr lang="zh-TW" altLang="en-US"/>
          </a:p>
        </p:txBody>
      </p:sp>
      <p:sp>
        <p:nvSpPr>
          <p:cNvPr id="40" name="Text 38"/>
          <p:cNvSpPr/>
          <p:nvPr/>
        </p:nvSpPr>
        <p:spPr>
          <a:xfrm>
            <a:off x="6693408" y="4425696"/>
            <a:ext cx="2194560" cy="274320"/>
          </a:xfrm>
          <a:prstGeom prst="rect">
            <a:avLst/>
          </a:prstGeom>
          <a:noFill/>
          <a:ln/>
        </p:spPr>
        <p:txBody>
          <a:bodyPr wrap="square" lIns="0" tIns="0" rIns="0" bIns="0" rtlCol="0" anchor="ctr"/>
          <a:lstStyle/>
          <a:p>
            <a:pPr marL="0" indent="0" algn="ctr">
              <a:buNone/>
            </a:pPr>
            <a:r>
              <a:rPr lang="en-US" sz="1150" b="1" dirty="0">
                <a:solidFill>
                  <a:srgbClr val="059669"/>
                </a:solidFill>
                <a:latin typeface="Calibri" pitchFamily="34" charset="0"/>
                <a:ea typeface="Calibri" pitchFamily="34" charset="-122"/>
                <a:cs typeface="Calibri" pitchFamily="34" charset="-120"/>
              </a:rPr>
              <a:t>Gradual falloff → KEEP</a:t>
            </a:r>
            <a:endParaRPr lang="en-US" sz="1150" dirty="0"/>
          </a:p>
        </p:txBody>
      </p:sp>
      <p:sp>
        <p:nvSpPr>
          <p:cNvPr id="41" name="Shape 39"/>
          <p:cNvSpPr/>
          <p:nvPr/>
        </p:nvSpPr>
        <p:spPr>
          <a:xfrm>
            <a:off x="9171432" y="2286000"/>
            <a:ext cx="420624" cy="420624"/>
          </a:xfrm>
          <a:prstGeom prst="rect">
            <a:avLst/>
          </a:prstGeom>
          <a:solidFill>
            <a:srgbClr val="0A0A0A"/>
          </a:solidFill>
          <a:ln w="6350">
            <a:solidFill>
              <a:srgbClr val="FFFFFF"/>
            </a:solidFill>
            <a:prstDash val="solid"/>
          </a:ln>
        </p:spPr>
        <p:txBody>
          <a:bodyPr/>
          <a:lstStyle/>
          <a:p>
            <a:endParaRPr lang="zh-TW" altLang="en-US"/>
          </a:p>
        </p:txBody>
      </p:sp>
      <p:sp>
        <p:nvSpPr>
          <p:cNvPr id="42" name="Shape 40"/>
          <p:cNvSpPr/>
          <p:nvPr/>
        </p:nvSpPr>
        <p:spPr>
          <a:xfrm>
            <a:off x="9592056" y="2286000"/>
            <a:ext cx="420624" cy="420624"/>
          </a:xfrm>
          <a:prstGeom prst="rect">
            <a:avLst/>
          </a:prstGeom>
          <a:solidFill>
            <a:srgbClr val="0A0A0A"/>
          </a:solidFill>
          <a:ln w="6350">
            <a:solidFill>
              <a:srgbClr val="FFFFFF"/>
            </a:solidFill>
            <a:prstDash val="solid"/>
          </a:ln>
        </p:spPr>
        <p:txBody>
          <a:bodyPr/>
          <a:lstStyle/>
          <a:p>
            <a:endParaRPr lang="zh-TW" altLang="en-US"/>
          </a:p>
        </p:txBody>
      </p:sp>
      <p:sp>
        <p:nvSpPr>
          <p:cNvPr id="43" name="Shape 41"/>
          <p:cNvSpPr/>
          <p:nvPr/>
        </p:nvSpPr>
        <p:spPr>
          <a:xfrm>
            <a:off x="10012680" y="2286000"/>
            <a:ext cx="420624" cy="420624"/>
          </a:xfrm>
          <a:prstGeom prst="rect">
            <a:avLst/>
          </a:prstGeom>
          <a:solidFill>
            <a:srgbClr val="101010"/>
          </a:solidFill>
          <a:ln w="6350">
            <a:solidFill>
              <a:srgbClr val="FFFFFF"/>
            </a:solidFill>
            <a:prstDash val="solid"/>
          </a:ln>
        </p:spPr>
        <p:txBody>
          <a:bodyPr/>
          <a:lstStyle/>
          <a:p>
            <a:endParaRPr lang="zh-TW" altLang="en-US"/>
          </a:p>
        </p:txBody>
      </p:sp>
      <p:sp>
        <p:nvSpPr>
          <p:cNvPr id="44" name="Shape 42"/>
          <p:cNvSpPr/>
          <p:nvPr/>
        </p:nvSpPr>
        <p:spPr>
          <a:xfrm>
            <a:off x="10433304" y="2286000"/>
            <a:ext cx="420624" cy="420624"/>
          </a:xfrm>
          <a:prstGeom prst="rect">
            <a:avLst/>
          </a:prstGeom>
          <a:solidFill>
            <a:srgbClr val="0A0A0A"/>
          </a:solidFill>
          <a:ln w="6350">
            <a:solidFill>
              <a:srgbClr val="FFFFFF"/>
            </a:solidFill>
            <a:prstDash val="solid"/>
          </a:ln>
        </p:spPr>
        <p:txBody>
          <a:bodyPr/>
          <a:lstStyle/>
          <a:p>
            <a:endParaRPr lang="zh-TW" altLang="en-US"/>
          </a:p>
        </p:txBody>
      </p:sp>
      <p:sp>
        <p:nvSpPr>
          <p:cNvPr id="45" name="Shape 43"/>
          <p:cNvSpPr/>
          <p:nvPr/>
        </p:nvSpPr>
        <p:spPr>
          <a:xfrm>
            <a:off x="10853928" y="2286000"/>
            <a:ext cx="420624" cy="420624"/>
          </a:xfrm>
          <a:prstGeom prst="rect">
            <a:avLst/>
          </a:prstGeom>
          <a:solidFill>
            <a:srgbClr val="0A0A0A"/>
          </a:solidFill>
          <a:ln w="6350">
            <a:solidFill>
              <a:srgbClr val="FFFFFF"/>
            </a:solidFill>
            <a:prstDash val="solid"/>
          </a:ln>
        </p:spPr>
        <p:txBody>
          <a:bodyPr/>
          <a:lstStyle/>
          <a:p>
            <a:endParaRPr lang="zh-TW" altLang="en-US"/>
          </a:p>
        </p:txBody>
      </p:sp>
      <p:sp>
        <p:nvSpPr>
          <p:cNvPr id="46" name="Shape 44"/>
          <p:cNvSpPr/>
          <p:nvPr/>
        </p:nvSpPr>
        <p:spPr>
          <a:xfrm>
            <a:off x="9171432" y="2706624"/>
            <a:ext cx="420624" cy="420624"/>
          </a:xfrm>
          <a:prstGeom prst="rect">
            <a:avLst/>
          </a:prstGeom>
          <a:solidFill>
            <a:srgbClr val="0A0A0A"/>
          </a:solidFill>
          <a:ln w="6350">
            <a:solidFill>
              <a:srgbClr val="FFFFFF"/>
            </a:solidFill>
            <a:prstDash val="solid"/>
          </a:ln>
        </p:spPr>
        <p:txBody>
          <a:bodyPr/>
          <a:lstStyle/>
          <a:p>
            <a:endParaRPr lang="zh-TW" altLang="en-US"/>
          </a:p>
        </p:txBody>
      </p:sp>
      <p:sp>
        <p:nvSpPr>
          <p:cNvPr id="47" name="Shape 45"/>
          <p:cNvSpPr/>
          <p:nvPr/>
        </p:nvSpPr>
        <p:spPr>
          <a:xfrm>
            <a:off x="9592056" y="2706624"/>
            <a:ext cx="420624" cy="420624"/>
          </a:xfrm>
          <a:prstGeom prst="rect">
            <a:avLst/>
          </a:prstGeom>
          <a:solidFill>
            <a:srgbClr val="0C0C0C"/>
          </a:solidFill>
          <a:ln w="6350">
            <a:solidFill>
              <a:srgbClr val="FFFFFF"/>
            </a:solidFill>
            <a:prstDash val="solid"/>
          </a:ln>
        </p:spPr>
        <p:txBody>
          <a:bodyPr/>
          <a:lstStyle/>
          <a:p>
            <a:endParaRPr lang="zh-TW" altLang="en-US"/>
          </a:p>
        </p:txBody>
      </p:sp>
      <p:sp>
        <p:nvSpPr>
          <p:cNvPr id="48" name="Shape 46"/>
          <p:cNvSpPr/>
          <p:nvPr/>
        </p:nvSpPr>
        <p:spPr>
          <a:xfrm>
            <a:off x="10012680" y="2706624"/>
            <a:ext cx="420624" cy="420624"/>
          </a:xfrm>
          <a:prstGeom prst="rect">
            <a:avLst/>
          </a:prstGeom>
          <a:solidFill>
            <a:srgbClr val="FFFFFF"/>
          </a:solidFill>
          <a:ln w="6350">
            <a:solidFill>
              <a:srgbClr val="FFFFFF"/>
            </a:solidFill>
            <a:prstDash val="solid"/>
          </a:ln>
        </p:spPr>
        <p:txBody>
          <a:bodyPr/>
          <a:lstStyle/>
          <a:p>
            <a:endParaRPr lang="zh-TW" altLang="en-US"/>
          </a:p>
        </p:txBody>
      </p:sp>
      <p:sp>
        <p:nvSpPr>
          <p:cNvPr id="49" name="Shape 47"/>
          <p:cNvSpPr/>
          <p:nvPr/>
        </p:nvSpPr>
        <p:spPr>
          <a:xfrm>
            <a:off x="10433304" y="2706624"/>
            <a:ext cx="420624" cy="420624"/>
          </a:xfrm>
          <a:prstGeom prst="rect">
            <a:avLst/>
          </a:prstGeom>
          <a:solidFill>
            <a:srgbClr val="0C0C0C"/>
          </a:solidFill>
          <a:ln w="6350">
            <a:solidFill>
              <a:srgbClr val="FFFFFF"/>
            </a:solidFill>
            <a:prstDash val="solid"/>
          </a:ln>
        </p:spPr>
        <p:txBody>
          <a:bodyPr/>
          <a:lstStyle/>
          <a:p>
            <a:endParaRPr lang="zh-TW" altLang="en-US"/>
          </a:p>
        </p:txBody>
      </p:sp>
      <p:sp>
        <p:nvSpPr>
          <p:cNvPr id="50" name="Shape 48"/>
          <p:cNvSpPr/>
          <p:nvPr/>
        </p:nvSpPr>
        <p:spPr>
          <a:xfrm>
            <a:off x="10853928" y="2706624"/>
            <a:ext cx="420624" cy="420624"/>
          </a:xfrm>
          <a:prstGeom prst="rect">
            <a:avLst/>
          </a:prstGeom>
          <a:solidFill>
            <a:srgbClr val="0A0A0A"/>
          </a:solidFill>
          <a:ln w="6350">
            <a:solidFill>
              <a:srgbClr val="FFFFFF"/>
            </a:solidFill>
            <a:prstDash val="solid"/>
          </a:ln>
        </p:spPr>
        <p:txBody>
          <a:bodyPr/>
          <a:lstStyle/>
          <a:p>
            <a:endParaRPr lang="zh-TW" altLang="en-US"/>
          </a:p>
        </p:txBody>
      </p:sp>
      <p:sp>
        <p:nvSpPr>
          <p:cNvPr id="51" name="Shape 49"/>
          <p:cNvSpPr/>
          <p:nvPr/>
        </p:nvSpPr>
        <p:spPr>
          <a:xfrm>
            <a:off x="9171432" y="3127248"/>
            <a:ext cx="420624" cy="420624"/>
          </a:xfrm>
          <a:prstGeom prst="rect">
            <a:avLst/>
          </a:prstGeom>
          <a:solidFill>
            <a:srgbClr val="0E0E0E"/>
          </a:solidFill>
          <a:ln w="6350">
            <a:solidFill>
              <a:srgbClr val="FFFFFF"/>
            </a:solidFill>
            <a:prstDash val="solid"/>
          </a:ln>
        </p:spPr>
        <p:txBody>
          <a:bodyPr/>
          <a:lstStyle/>
          <a:p>
            <a:endParaRPr lang="zh-TW" altLang="en-US"/>
          </a:p>
        </p:txBody>
      </p:sp>
      <p:sp>
        <p:nvSpPr>
          <p:cNvPr id="52" name="Shape 50"/>
          <p:cNvSpPr/>
          <p:nvPr/>
        </p:nvSpPr>
        <p:spPr>
          <a:xfrm>
            <a:off x="9592056" y="3127248"/>
            <a:ext cx="420624" cy="420624"/>
          </a:xfrm>
          <a:prstGeom prst="rect">
            <a:avLst/>
          </a:prstGeom>
          <a:solidFill>
            <a:srgbClr val="FFFFFF"/>
          </a:solidFill>
          <a:ln w="6350">
            <a:solidFill>
              <a:srgbClr val="FFFFFF"/>
            </a:solidFill>
            <a:prstDash val="solid"/>
          </a:ln>
        </p:spPr>
        <p:txBody>
          <a:bodyPr/>
          <a:lstStyle/>
          <a:p>
            <a:endParaRPr lang="zh-TW" altLang="en-US"/>
          </a:p>
        </p:txBody>
      </p:sp>
      <p:sp>
        <p:nvSpPr>
          <p:cNvPr id="53" name="Shape 51"/>
          <p:cNvSpPr/>
          <p:nvPr/>
        </p:nvSpPr>
        <p:spPr>
          <a:xfrm>
            <a:off x="10012680" y="3127248"/>
            <a:ext cx="420624" cy="420624"/>
          </a:xfrm>
          <a:prstGeom prst="rect">
            <a:avLst/>
          </a:prstGeom>
          <a:solidFill>
            <a:srgbClr val="FFFFFF"/>
          </a:solidFill>
          <a:ln w="6350">
            <a:solidFill>
              <a:srgbClr val="FFFFFF"/>
            </a:solidFill>
            <a:prstDash val="solid"/>
          </a:ln>
        </p:spPr>
        <p:txBody>
          <a:bodyPr/>
          <a:lstStyle/>
          <a:p>
            <a:endParaRPr lang="zh-TW" altLang="en-US"/>
          </a:p>
        </p:txBody>
      </p:sp>
      <p:sp>
        <p:nvSpPr>
          <p:cNvPr id="54" name="Shape 52"/>
          <p:cNvSpPr/>
          <p:nvPr/>
        </p:nvSpPr>
        <p:spPr>
          <a:xfrm>
            <a:off x="10433304" y="3127248"/>
            <a:ext cx="420624" cy="420624"/>
          </a:xfrm>
          <a:prstGeom prst="rect">
            <a:avLst/>
          </a:prstGeom>
          <a:solidFill>
            <a:srgbClr val="FFFFFF"/>
          </a:solidFill>
          <a:ln w="6350">
            <a:solidFill>
              <a:srgbClr val="FFFFFF"/>
            </a:solidFill>
            <a:prstDash val="solid"/>
          </a:ln>
        </p:spPr>
        <p:txBody>
          <a:bodyPr/>
          <a:lstStyle/>
          <a:p>
            <a:endParaRPr lang="zh-TW" altLang="en-US"/>
          </a:p>
        </p:txBody>
      </p:sp>
      <p:sp>
        <p:nvSpPr>
          <p:cNvPr id="55" name="Shape 53"/>
          <p:cNvSpPr/>
          <p:nvPr/>
        </p:nvSpPr>
        <p:spPr>
          <a:xfrm>
            <a:off x="10853928" y="3127248"/>
            <a:ext cx="420624" cy="420624"/>
          </a:xfrm>
          <a:prstGeom prst="rect">
            <a:avLst/>
          </a:prstGeom>
          <a:solidFill>
            <a:srgbClr val="0E0E0E"/>
          </a:solidFill>
          <a:ln w="6350">
            <a:solidFill>
              <a:srgbClr val="FFFFFF"/>
            </a:solidFill>
            <a:prstDash val="solid"/>
          </a:ln>
        </p:spPr>
        <p:txBody>
          <a:bodyPr/>
          <a:lstStyle/>
          <a:p>
            <a:endParaRPr lang="zh-TW" altLang="en-US"/>
          </a:p>
        </p:txBody>
      </p:sp>
      <p:sp>
        <p:nvSpPr>
          <p:cNvPr id="56" name="Shape 54"/>
          <p:cNvSpPr/>
          <p:nvPr/>
        </p:nvSpPr>
        <p:spPr>
          <a:xfrm>
            <a:off x="9171432" y="3547872"/>
            <a:ext cx="420624" cy="420624"/>
          </a:xfrm>
          <a:prstGeom prst="rect">
            <a:avLst/>
          </a:prstGeom>
          <a:solidFill>
            <a:srgbClr val="0A0A0A"/>
          </a:solidFill>
          <a:ln w="6350">
            <a:solidFill>
              <a:srgbClr val="FFFFFF"/>
            </a:solidFill>
            <a:prstDash val="solid"/>
          </a:ln>
        </p:spPr>
        <p:txBody>
          <a:bodyPr/>
          <a:lstStyle/>
          <a:p>
            <a:endParaRPr lang="zh-TW" altLang="en-US"/>
          </a:p>
        </p:txBody>
      </p:sp>
      <p:sp>
        <p:nvSpPr>
          <p:cNvPr id="57" name="Shape 55"/>
          <p:cNvSpPr/>
          <p:nvPr/>
        </p:nvSpPr>
        <p:spPr>
          <a:xfrm>
            <a:off x="9592056" y="3547872"/>
            <a:ext cx="420624" cy="420624"/>
          </a:xfrm>
          <a:prstGeom prst="rect">
            <a:avLst/>
          </a:prstGeom>
          <a:solidFill>
            <a:srgbClr val="0C0C0C"/>
          </a:solidFill>
          <a:ln w="6350">
            <a:solidFill>
              <a:srgbClr val="FFFFFF"/>
            </a:solidFill>
            <a:prstDash val="solid"/>
          </a:ln>
        </p:spPr>
        <p:txBody>
          <a:bodyPr/>
          <a:lstStyle/>
          <a:p>
            <a:endParaRPr lang="zh-TW" altLang="en-US"/>
          </a:p>
        </p:txBody>
      </p:sp>
      <p:sp>
        <p:nvSpPr>
          <p:cNvPr id="58" name="Shape 56"/>
          <p:cNvSpPr/>
          <p:nvPr/>
        </p:nvSpPr>
        <p:spPr>
          <a:xfrm>
            <a:off x="10012680" y="3547872"/>
            <a:ext cx="420624" cy="420624"/>
          </a:xfrm>
          <a:prstGeom prst="rect">
            <a:avLst/>
          </a:prstGeom>
          <a:solidFill>
            <a:srgbClr val="FFFFFF"/>
          </a:solidFill>
          <a:ln w="6350">
            <a:solidFill>
              <a:srgbClr val="FFFFFF"/>
            </a:solidFill>
            <a:prstDash val="solid"/>
          </a:ln>
        </p:spPr>
        <p:txBody>
          <a:bodyPr/>
          <a:lstStyle/>
          <a:p>
            <a:endParaRPr lang="zh-TW" altLang="en-US"/>
          </a:p>
        </p:txBody>
      </p:sp>
      <p:sp>
        <p:nvSpPr>
          <p:cNvPr id="59" name="Shape 57"/>
          <p:cNvSpPr/>
          <p:nvPr/>
        </p:nvSpPr>
        <p:spPr>
          <a:xfrm>
            <a:off x="10433304" y="3547872"/>
            <a:ext cx="420624" cy="420624"/>
          </a:xfrm>
          <a:prstGeom prst="rect">
            <a:avLst/>
          </a:prstGeom>
          <a:solidFill>
            <a:srgbClr val="0C0C0C"/>
          </a:solidFill>
          <a:ln w="6350">
            <a:solidFill>
              <a:srgbClr val="FFFFFF"/>
            </a:solidFill>
            <a:prstDash val="solid"/>
          </a:ln>
        </p:spPr>
        <p:txBody>
          <a:bodyPr/>
          <a:lstStyle/>
          <a:p>
            <a:endParaRPr lang="zh-TW" altLang="en-US"/>
          </a:p>
        </p:txBody>
      </p:sp>
      <p:sp>
        <p:nvSpPr>
          <p:cNvPr id="60" name="Shape 58"/>
          <p:cNvSpPr/>
          <p:nvPr/>
        </p:nvSpPr>
        <p:spPr>
          <a:xfrm>
            <a:off x="10853928" y="3547872"/>
            <a:ext cx="420624" cy="420624"/>
          </a:xfrm>
          <a:prstGeom prst="rect">
            <a:avLst/>
          </a:prstGeom>
          <a:solidFill>
            <a:srgbClr val="0A0A0A"/>
          </a:solidFill>
          <a:ln w="6350">
            <a:solidFill>
              <a:srgbClr val="FFFFFF"/>
            </a:solidFill>
            <a:prstDash val="solid"/>
          </a:ln>
        </p:spPr>
        <p:txBody>
          <a:bodyPr/>
          <a:lstStyle/>
          <a:p>
            <a:endParaRPr lang="zh-TW" altLang="en-US"/>
          </a:p>
        </p:txBody>
      </p:sp>
      <p:sp>
        <p:nvSpPr>
          <p:cNvPr id="61" name="Shape 59"/>
          <p:cNvSpPr/>
          <p:nvPr/>
        </p:nvSpPr>
        <p:spPr>
          <a:xfrm>
            <a:off x="9171432" y="3968496"/>
            <a:ext cx="420624" cy="420624"/>
          </a:xfrm>
          <a:prstGeom prst="rect">
            <a:avLst/>
          </a:prstGeom>
          <a:solidFill>
            <a:srgbClr val="0A0A0A"/>
          </a:solidFill>
          <a:ln w="6350">
            <a:solidFill>
              <a:srgbClr val="FFFFFF"/>
            </a:solidFill>
            <a:prstDash val="solid"/>
          </a:ln>
        </p:spPr>
        <p:txBody>
          <a:bodyPr/>
          <a:lstStyle/>
          <a:p>
            <a:endParaRPr lang="zh-TW" altLang="en-US"/>
          </a:p>
        </p:txBody>
      </p:sp>
      <p:sp>
        <p:nvSpPr>
          <p:cNvPr id="62" name="Shape 60"/>
          <p:cNvSpPr/>
          <p:nvPr/>
        </p:nvSpPr>
        <p:spPr>
          <a:xfrm>
            <a:off x="9592056" y="3968496"/>
            <a:ext cx="420624" cy="420624"/>
          </a:xfrm>
          <a:prstGeom prst="rect">
            <a:avLst/>
          </a:prstGeom>
          <a:solidFill>
            <a:srgbClr val="0A0A0A"/>
          </a:solidFill>
          <a:ln w="6350">
            <a:solidFill>
              <a:srgbClr val="FFFFFF"/>
            </a:solidFill>
            <a:prstDash val="solid"/>
          </a:ln>
        </p:spPr>
        <p:txBody>
          <a:bodyPr/>
          <a:lstStyle/>
          <a:p>
            <a:endParaRPr lang="zh-TW" altLang="en-US"/>
          </a:p>
        </p:txBody>
      </p:sp>
      <p:sp>
        <p:nvSpPr>
          <p:cNvPr id="63" name="Shape 61"/>
          <p:cNvSpPr/>
          <p:nvPr/>
        </p:nvSpPr>
        <p:spPr>
          <a:xfrm>
            <a:off x="10012680" y="3968496"/>
            <a:ext cx="420624" cy="420624"/>
          </a:xfrm>
          <a:prstGeom prst="rect">
            <a:avLst/>
          </a:prstGeom>
          <a:solidFill>
            <a:srgbClr val="101010"/>
          </a:solidFill>
          <a:ln w="6350">
            <a:solidFill>
              <a:srgbClr val="FFFFFF"/>
            </a:solidFill>
            <a:prstDash val="solid"/>
          </a:ln>
        </p:spPr>
        <p:txBody>
          <a:bodyPr/>
          <a:lstStyle/>
          <a:p>
            <a:endParaRPr lang="zh-TW" altLang="en-US"/>
          </a:p>
        </p:txBody>
      </p:sp>
      <p:sp>
        <p:nvSpPr>
          <p:cNvPr id="64" name="Shape 62"/>
          <p:cNvSpPr/>
          <p:nvPr/>
        </p:nvSpPr>
        <p:spPr>
          <a:xfrm>
            <a:off x="10433304" y="3968496"/>
            <a:ext cx="420624" cy="420624"/>
          </a:xfrm>
          <a:prstGeom prst="rect">
            <a:avLst/>
          </a:prstGeom>
          <a:solidFill>
            <a:srgbClr val="0A0A0A"/>
          </a:solidFill>
          <a:ln w="6350">
            <a:solidFill>
              <a:srgbClr val="FFFFFF"/>
            </a:solidFill>
            <a:prstDash val="solid"/>
          </a:ln>
        </p:spPr>
        <p:txBody>
          <a:bodyPr/>
          <a:lstStyle/>
          <a:p>
            <a:endParaRPr lang="zh-TW" altLang="en-US"/>
          </a:p>
        </p:txBody>
      </p:sp>
      <p:sp>
        <p:nvSpPr>
          <p:cNvPr id="65" name="Shape 63"/>
          <p:cNvSpPr/>
          <p:nvPr/>
        </p:nvSpPr>
        <p:spPr>
          <a:xfrm>
            <a:off x="10853928" y="3968496"/>
            <a:ext cx="420624" cy="420624"/>
          </a:xfrm>
          <a:prstGeom prst="rect">
            <a:avLst/>
          </a:prstGeom>
          <a:solidFill>
            <a:srgbClr val="0A0A0A"/>
          </a:solidFill>
          <a:ln w="6350">
            <a:solidFill>
              <a:srgbClr val="FFFFFF"/>
            </a:solidFill>
            <a:prstDash val="solid"/>
          </a:ln>
        </p:spPr>
        <p:txBody>
          <a:bodyPr/>
          <a:lstStyle/>
          <a:p>
            <a:endParaRPr lang="zh-TW" altLang="en-US"/>
          </a:p>
        </p:txBody>
      </p:sp>
      <p:sp>
        <p:nvSpPr>
          <p:cNvPr id="66" name="Text 64"/>
          <p:cNvSpPr/>
          <p:nvPr/>
        </p:nvSpPr>
        <p:spPr>
          <a:xfrm>
            <a:off x="9125712" y="4425696"/>
            <a:ext cx="2194560" cy="274320"/>
          </a:xfrm>
          <a:prstGeom prst="rect">
            <a:avLst/>
          </a:prstGeom>
          <a:noFill/>
          <a:ln/>
        </p:spPr>
        <p:txBody>
          <a:bodyPr wrap="square" lIns="0" tIns="0" rIns="0" bIns="0" rtlCol="0" anchor="ctr"/>
          <a:lstStyle/>
          <a:p>
            <a:pPr marL="0" indent="0" algn="ctr">
              <a:buNone/>
            </a:pPr>
            <a:r>
              <a:rPr lang="en-US" sz="1150" b="1" dirty="0">
                <a:solidFill>
                  <a:srgbClr val="B91C1C"/>
                </a:solidFill>
                <a:latin typeface="Calibri" pitchFamily="34" charset="0"/>
                <a:ea typeface="Calibri" pitchFamily="34" charset="-122"/>
                <a:cs typeface="Calibri" pitchFamily="34" charset="-120"/>
              </a:rPr>
              <a:t>Cliff impulse → REPAIR</a:t>
            </a:r>
            <a:endParaRPr lang="en-US" sz="1150" dirty="0"/>
          </a:p>
        </p:txBody>
      </p:sp>
      <p:sp>
        <p:nvSpPr>
          <p:cNvPr id="67" name="Text 65"/>
          <p:cNvSpPr/>
          <p:nvPr/>
        </p:nvSpPr>
        <p:spPr>
          <a:xfrm>
            <a:off x="6592824" y="4892040"/>
            <a:ext cx="4809744" cy="1097280"/>
          </a:xfrm>
          <a:prstGeom prst="rect">
            <a:avLst/>
          </a:prstGeom>
          <a:noFill/>
          <a:ln/>
        </p:spPr>
        <p:txBody>
          <a:bodyPr wrap="square" lIns="0" tIns="0" rIns="0" bIns="0" rtlCol="0" anchor="t"/>
          <a:lstStyle/>
          <a:p>
            <a:pPr marL="0" indent="0">
              <a:buNone/>
            </a:pPr>
            <a:r>
              <a:rPr lang="en-US" sz="1250" dirty="0">
                <a:solidFill>
                  <a:srgbClr val="475569"/>
                </a:solidFill>
                <a:latin typeface="Calibri" pitchFamily="34" charset="0"/>
                <a:ea typeface="Calibri" pitchFamily="34" charset="-122"/>
                <a:cs typeface="Calibri" pitchFamily="34" charset="-120"/>
              </a:rPr>
              <a:t>A star ramps up smoothly to its peak; an artifact spikes from background straight to 255. The LAB cliff ratio quantifies exactly this difference.</a:t>
            </a:r>
            <a:endParaRPr lang="en-US" sz="1250" dirty="0"/>
          </a:p>
        </p:txBody>
      </p:sp>
      <p:sp>
        <p:nvSpPr>
          <p:cNvPr id="68" name="Text 66"/>
          <p:cNvSpPr/>
          <p:nvPr/>
        </p:nvSpPr>
        <p:spPr>
          <a:xfrm>
            <a:off x="566928" y="6473952"/>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SDXL VAE Noise-Fix  ·  Traditional-CV ComfyUI Node</a:t>
            </a:r>
            <a:endParaRPr lang="en-US" sz="900" dirty="0"/>
          </a:p>
        </p:txBody>
      </p:sp>
      <p:sp>
        <p:nvSpPr>
          <p:cNvPr id="69" name="Text 67"/>
          <p:cNvSpPr/>
          <p:nvPr/>
        </p:nvSpPr>
        <p:spPr>
          <a:xfrm>
            <a:off x="11073384" y="6473952"/>
            <a:ext cx="54864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66928" y="420624"/>
            <a:ext cx="11055096" cy="292608"/>
          </a:xfrm>
          <a:prstGeom prst="rect">
            <a:avLst/>
          </a:prstGeom>
          <a:noFill/>
          <a:ln/>
        </p:spPr>
        <p:txBody>
          <a:bodyPr wrap="square" lIns="0" tIns="0" rIns="0" bIns="0" rtlCol="0" anchor="ctr"/>
          <a:lstStyle/>
          <a:p>
            <a:pPr marL="0" indent="0" algn="l">
              <a:buNone/>
            </a:pPr>
            <a:r>
              <a:rPr lang="en-US" sz="1250" b="1" kern="0" spc="300" dirty="0">
                <a:solidFill>
                  <a:srgbClr val="059669"/>
                </a:solidFill>
                <a:latin typeface="Trebuchet MS" pitchFamily="34" charset="0"/>
                <a:ea typeface="Trebuchet MS" pitchFamily="34" charset="-122"/>
                <a:cs typeface="Trebuchet MS" pitchFamily="34" charset="-120"/>
              </a:rPr>
              <a:t>04 · RESULTS</a:t>
            </a:r>
            <a:endParaRPr lang="en-US" sz="1250" dirty="0"/>
          </a:p>
        </p:txBody>
      </p:sp>
      <p:sp>
        <p:nvSpPr>
          <p:cNvPr id="3" name="Text 1"/>
          <p:cNvSpPr/>
          <p:nvPr/>
        </p:nvSpPr>
        <p:spPr>
          <a:xfrm>
            <a:off x="566928" y="713232"/>
            <a:ext cx="11055096" cy="658368"/>
          </a:xfrm>
          <a:prstGeom prst="rect">
            <a:avLst/>
          </a:prstGeom>
          <a:noFill/>
          <a:ln/>
        </p:spPr>
        <p:txBody>
          <a:bodyPr wrap="square" lIns="0" tIns="0" rIns="0" bIns="0" rtlCol="0" anchor="ctr"/>
          <a:lstStyle/>
          <a:p>
            <a:pPr marL="0" indent="0" algn="l">
              <a:buNone/>
            </a:pPr>
            <a:r>
              <a:rPr lang="en-US" sz="3000" b="1" dirty="0">
                <a:solidFill>
                  <a:srgbClr val="1E2A4A"/>
                </a:solidFill>
                <a:latin typeface="Trebuchet MS" pitchFamily="34" charset="0"/>
                <a:ea typeface="Trebuchet MS" pitchFamily="34" charset="-122"/>
                <a:cs typeface="Trebuchet MS" pitchFamily="34" charset="-120"/>
              </a:rPr>
              <a:t>Results — Before &amp; After Repair</a:t>
            </a:r>
            <a:endParaRPr lang="en-US" sz="3000" dirty="0"/>
          </a:p>
        </p:txBody>
      </p:sp>
      <p:sp>
        <p:nvSpPr>
          <p:cNvPr id="4" name="Shape 2"/>
          <p:cNvSpPr/>
          <p:nvPr/>
        </p:nvSpPr>
        <p:spPr>
          <a:xfrm>
            <a:off x="566928" y="1783080"/>
            <a:ext cx="5029200" cy="457200"/>
          </a:xfrm>
          <a:prstGeom prst="rect">
            <a:avLst/>
          </a:prstGeom>
          <a:solidFill>
            <a:srgbClr val="B91C1C"/>
          </a:solidFill>
          <a:ln/>
        </p:spPr>
        <p:txBody>
          <a:bodyPr/>
          <a:lstStyle/>
          <a:p>
            <a:endParaRPr lang="zh-TW" altLang="en-US"/>
          </a:p>
        </p:txBody>
      </p:sp>
      <p:sp>
        <p:nvSpPr>
          <p:cNvPr id="5" name="Text 3"/>
          <p:cNvSpPr/>
          <p:nvPr/>
        </p:nvSpPr>
        <p:spPr>
          <a:xfrm>
            <a:off x="749808" y="1783080"/>
            <a:ext cx="4663440" cy="457200"/>
          </a:xfrm>
          <a:prstGeom prst="rect">
            <a:avLst/>
          </a:prstGeom>
          <a:noFill/>
          <a:ln/>
        </p:spPr>
        <p:txBody>
          <a:bodyPr wrap="square" lIns="0" tIns="0" rIns="0" bIns="0" rtlCol="0" anchor="ctr"/>
          <a:lstStyle/>
          <a:p>
            <a:pPr marL="0" indent="0">
              <a:buNone/>
            </a:pPr>
            <a:r>
              <a:rPr lang="en-US" sz="1300" b="1" kern="0" spc="200" dirty="0">
                <a:solidFill>
                  <a:srgbClr val="FFFFFF"/>
                </a:solidFill>
                <a:latin typeface="Trebuchet MS" pitchFamily="34" charset="0"/>
                <a:ea typeface="Trebuchet MS" pitchFamily="34" charset="-122"/>
                <a:cs typeface="Trebuchet MS" pitchFamily="34" charset="-120"/>
              </a:rPr>
              <a:t>BEFORE  ·  SDXL OUTPUT</a:t>
            </a:r>
            <a:endParaRPr lang="en-US" sz="1300" dirty="0"/>
          </a:p>
        </p:txBody>
      </p:sp>
      <p:sp>
        <p:nvSpPr>
          <p:cNvPr id="6" name="Shape 4"/>
          <p:cNvSpPr/>
          <p:nvPr/>
        </p:nvSpPr>
        <p:spPr>
          <a:xfrm>
            <a:off x="566928" y="2240280"/>
            <a:ext cx="5029200" cy="3154680"/>
          </a:xfrm>
          <a:prstGeom prst="rect">
            <a:avLst/>
          </a:prstGeom>
          <a:solidFill>
            <a:srgbClr val="EEF2F8"/>
          </a:solidFill>
          <a:ln w="12700">
            <a:solidFill>
              <a:srgbClr val="E2E8F0"/>
            </a:solidFill>
            <a:prstDash val="dash"/>
          </a:ln>
        </p:spPr>
        <p:txBody>
          <a:bodyPr/>
          <a:lstStyle/>
          <a:p>
            <a:endParaRPr lang="zh-TW" altLang="en-US"/>
          </a:p>
        </p:txBody>
      </p:sp>
      <p:sp>
        <p:nvSpPr>
          <p:cNvPr id="7" name="Text 5"/>
          <p:cNvSpPr/>
          <p:nvPr/>
        </p:nvSpPr>
        <p:spPr>
          <a:xfrm>
            <a:off x="749808" y="2240280"/>
            <a:ext cx="4663440" cy="315468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 drop GroupA before image ]</a:t>
            </a:r>
            <a:endParaRPr lang="en-US" sz="1200" dirty="0"/>
          </a:p>
        </p:txBody>
      </p:sp>
      <p:sp>
        <p:nvSpPr>
          <p:cNvPr id="8" name="Shape 6"/>
          <p:cNvSpPr/>
          <p:nvPr/>
        </p:nvSpPr>
        <p:spPr>
          <a:xfrm>
            <a:off x="6592824" y="1783080"/>
            <a:ext cx="5029200" cy="457200"/>
          </a:xfrm>
          <a:prstGeom prst="rect">
            <a:avLst/>
          </a:prstGeom>
          <a:solidFill>
            <a:srgbClr val="059669"/>
          </a:solidFill>
          <a:ln/>
        </p:spPr>
        <p:txBody>
          <a:bodyPr/>
          <a:lstStyle/>
          <a:p>
            <a:endParaRPr lang="zh-TW" altLang="en-US"/>
          </a:p>
        </p:txBody>
      </p:sp>
      <p:sp>
        <p:nvSpPr>
          <p:cNvPr id="9" name="Text 7"/>
          <p:cNvSpPr/>
          <p:nvPr/>
        </p:nvSpPr>
        <p:spPr>
          <a:xfrm>
            <a:off x="6775704" y="1783080"/>
            <a:ext cx="4663440" cy="457200"/>
          </a:xfrm>
          <a:prstGeom prst="rect">
            <a:avLst/>
          </a:prstGeom>
          <a:noFill/>
          <a:ln/>
        </p:spPr>
        <p:txBody>
          <a:bodyPr wrap="square" lIns="0" tIns="0" rIns="0" bIns="0" rtlCol="0" anchor="ctr"/>
          <a:lstStyle/>
          <a:p>
            <a:pPr marL="0" indent="0">
              <a:buNone/>
            </a:pPr>
            <a:r>
              <a:rPr lang="en-US" sz="1300" b="1" kern="0" spc="200" dirty="0">
                <a:solidFill>
                  <a:srgbClr val="FFFFFF"/>
                </a:solidFill>
                <a:latin typeface="Trebuchet MS" pitchFamily="34" charset="0"/>
                <a:ea typeface="Trebuchet MS" pitchFamily="34" charset="-122"/>
                <a:cs typeface="Trebuchet MS" pitchFamily="34" charset="-120"/>
              </a:rPr>
              <a:t>AFTER  ·  TELEA-REPAIRED</a:t>
            </a:r>
            <a:endParaRPr lang="en-US" sz="1300" dirty="0"/>
          </a:p>
        </p:txBody>
      </p:sp>
      <p:sp>
        <p:nvSpPr>
          <p:cNvPr id="10" name="Shape 8"/>
          <p:cNvSpPr/>
          <p:nvPr/>
        </p:nvSpPr>
        <p:spPr>
          <a:xfrm>
            <a:off x="6592824" y="2240280"/>
            <a:ext cx="5029200" cy="3154680"/>
          </a:xfrm>
          <a:prstGeom prst="rect">
            <a:avLst/>
          </a:prstGeom>
          <a:solidFill>
            <a:srgbClr val="EEF2F8"/>
          </a:solidFill>
          <a:ln w="12700">
            <a:solidFill>
              <a:srgbClr val="E2E8F0"/>
            </a:solidFill>
            <a:prstDash val="dash"/>
          </a:ln>
        </p:spPr>
        <p:txBody>
          <a:bodyPr/>
          <a:lstStyle/>
          <a:p>
            <a:endParaRPr lang="zh-TW" altLang="en-US"/>
          </a:p>
        </p:txBody>
      </p:sp>
      <p:sp>
        <p:nvSpPr>
          <p:cNvPr id="11" name="Text 9"/>
          <p:cNvSpPr/>
          <p:nvPr/>
        </p:nvSpPr>
        <p:spPr>
          <a:xfrm>
            <a:off x="6775704" y="2240280"/>
            <a:ext cx="4663440" cy="315468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 drop GroupA fixed image ]</a:t>
            </a:r>
            <a:endParaRPr lang="en-US" sz="1200" dirty="0"/>
          </a:p>
        </p:txBody>
      </p:sp>
      <p:sp>
        <p:nvSpPr>
          <p:cNvPr id="12" name="Shape 10"/>
          <p:cNvSpPr/>
          <p:nvPr/>
        </p:nvSpPr>
        <p:spPr>
          <a:xfrm>
            <a:off x="5783580" y="3278124"/>
            <a:ext cx="621792" cy="621792"/>
          </a:xfrm>
          <a:prstGeom prst="ellipse">
            <a:avLst/>
          </a:prstGeom>
          <a:solidFill>
            <a:srgbClr val="1E2A4A"/>
          </a:solidFill>
          <a:ln/>
        </p:spPr>
        <p:txBody>
          <a:bodyPr/>
          <a:lstStyle/>
          <a:p>
            <a:endParaRPr lang="zh-TW" altLang="en-US"/>
          </a:p>
        </p:txBody>
      </p:sp>
      <p:sp>
        <p:nvSpPr>
          <p:cNvPr id="13" name="Text 11"/>
          <p:cNvSpPr/>
          <p:nvPr/>
        </p:nvSpPr>
        <p:spPr>
          <a:xfrm>
            <a:off x="5783580" y="3204972"/>
            <a:ext cx="621792" cy="621792"/>
          </a:xfrm>
          <a:prstGeom prst="rect">
            <a:avLst/>
          </a:prstGeom>
          <a:noFill/>
          <a:ln/>
        </p:spPr>
        <p:txBody>
          <a:bodyPr wrap="square" lIns="0" tIns="0" rIns="0" bIns="0" rtlCol="0" anchor="ctr"/>
          <a:lstStyle/>
          <a:p>
            <a:pPr marL="0" indent="0" algn="ctr">
              <a:buNone/>
            </a:pPr>
            <a:r>
              <a:rPr lang="en-US" sz="3000" b="1" dirty="0">
                <a:solidFill>
                  <a:srgbClr val="FFFFFF"/>
                </a:solidFill>
                <a:latin typeface="Trebuchet MS" pitchFamily="34" charset="0"/>
                <a:ea typeface="Trebuchet MS" pitchFamily="34" charset="-122"/>
                <a:cs typeface="Trebuchet MS" pitchFamily="34" charset="-120"/>
              </a:rPr>
              <a:t>›</a:t>
            </a:r>
            <a:endParaRPr lang="en-US" sz="3000" dirty="0"/>
          </a:p>
        </p:txBody>
      </p:sp>
      <p:sp>
        <p:nvSpPr>
          <p:cNvPr id="14" name="Shape 12"/>
          <p:cNvSpPr/>
          <p:nvPr/>
        </p:nvSpPr>
        <p:spPr>
          <a:xfrm>
            <a:off x="566928" y="5596128"/>
            <a:ext cx="11055096" cy="713232"/>
          </a:xfrm>
          <a:prstGeom prst="rect">
            <a:avLst/>
          </a:prstGeom>
          <a:solidFill>
            <a:srgbClr val="EEF2F8"/>
          </a:solidFill>
          <a:ln/>
        </p:spPr>
        <p:txBody>
          <a:bodyPr/>
          <a:lstStyle/>
          <a:p>
            <a:endParaRPr lang="zh-TW" altLang="en-US"/>
          </a:p>
        </p:txBody>
      </p:sp>
      <p:sp>
        <p:nvSpPr>
          <p:cNvPr id="15" name="Shape 13"/>
          <p:cNvSpPr/>
          <p:nvPr/>
        </p:nvSpPr>
        <p:spPr>
          <a:xfrm>
            <a:off x="566928" y="5596128"/>
            <a:ext cx="82296" cy="713232"/>
          </a:xfrm>
          <a:prstGeom prst="rect">
            <a:avLst/>
          </a:prstGeom>
          <a:solidFill>
            <a:srgbClr val="059669"/>
          </a:solidFill>
          <a:ln/>
        </p:spPr>
        <p:txBody>
          <a:bodyPr/>
          <a:lstStyle/>
          <a:p>
            <a:endParaRPr lang="zh-TW" altLang="en-US"/>
          </a:p>
        </p:txBody>
      </p:sp>
      <p:sp>
        <p:nvSpPr>
          <p:cNvPr id="16" name="Text 14"/>
          <p:cNvSpPr/>
          <p:nvPr/>
        </p:nvSpPr>
        <p:spPr>
          <a:xfrm>
            <a:off x="822960" y="5596128"/>
            <a:ext cx="10597896" cy="713232"/>
          </a:xfrm>
          <a:prstGeom prst="rect">
            <a:avLst/>
          </a:prstGeom>
          <a:noFill/>
          <a:ln/>
        </p:spPr>
        <p:txBody>
          <a:bodyPr wrap="square" lIns="0" tIns="0" rIns="0" bIns="0" rtlCol="0" anchor="ctr"/>
          <a:lstStyle/>
          <a:p>
            <a:pPr marL="0" indent="0">
              <a:buNone/>
            </a:pPr>
            <a:r>
              <a:rPr lang="en-US" sz="1300" b="1" dirty="0">
                <a:solidFill>
                  <a:srgbClr val="1E2A4A"/>
                </a:solidFill>
                <a:latin typeface="Calibri" pitchFamily="34" charset="0"/>
                <a:ea typeface="Calibri" pitchFamily="34" charset="-122"/>
                <a:cs typeface="Calibri" pitchFamily="34" charset="-120"/>
              </a:rPr>
              <a:t>Group A (portrait on black):  </a:t>
            </a:r>
            <a:r>
              <a:rPr lang="en-US" sz="1300" dirty="0">
                <a:solidFill>
                  <a:srgbClr val="475569"/>
                </a:solidFill>
                <a:latin typeface="Calibri" pitchFamily="34" charset="0"/>
                <a:ea typeface="Calibri" pitchFamily="34" charset="-122"/>
                <a:cs typeface="Calibri" pitchFamily="34" charset="-120"/>
              </a:rPr>
              <a:t>~29 spurious pixels detected and removed, ~0.17% coverage, repaired in </a:t>
            </a:r>
            <a:r>
              <a:rPr lang="en-US" sz="1300" b="1" dirty="0">
                <a:solidFill>
                  <a:srgbClr val="059669"/>
                </a:solidFill>
                <a:latin typeface="Calibri" pitchFamily="34" charset="0"/>
                <a:ea typeface="Calibri" pitchFamily="34" charset="-122"/>
                <a:cs typeface="Calibri" pitchFamily="34" charset="-120"/>
              </a:rPr>
              <a:t>≈140 ms on the CPU</a:t>
            </a:r>
            <a:r>
              <a:rPr lang="en-US" sz="1300" dirty="0">
                <a:solidFill>
                  <a:srgbClr val="475569"/>
                </a:solidFill>
                <a:latin typeface="Calibri" pitchFamily="34" charset="0"/>
                <a:ea typeface="Calibri" pitchFamily="34" charset="-122"/>
                <a:cs typeface="Calibri" pitchFamily="34" charset="-120"/>
              </a:rPr>
              <a:t> — no GPU, no VRAM, detail untouched.</a:t>
            </a:r>
            <a:endParaRPr lang="en-US" sz="1300" dirty="0"/>
          </a:p>
        </p:txBody>
      </p:sp>
      <p:sp>
        <p:nvSpPr>
          <p:cNvPr id="17" name="Text 15"/>
          <p:cNvSpPr/>
          <p:nvPr/>
        </p:nvSpPr>
        <p:spPr>
          <a:xfrm>
            <a:off x="566928" y="6473952"/>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SDXL VAE Noise-Fix  ·  Traditional-CV ComfyUI Node</a:t>
            </a:r>
            <a:endParaRPr lang="en-US" sz="900" dirty="0"/>
          </a:p>
        </p:txBody>
      </p:sp>
      <p:sp>
        <p:nvSpPr>
          <p:cNvPr id="18" name="Text 16"/>
          <p:cNvSpPr/>
          <p:nvPr/>
        </p:nvSpPr>
        <p:spPr>
          <a:xfrm>
            <a:off x="11073384" y="6473952"/>
            <a:ext cx="54864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66928" y="420624"/>
            <a:ext cx="11055096" cy="292608"/>
          </a:xfrm>
          <a:prstGeom prst="rect">
            <a:avLst/>
          </a:prstGeom>
          <a:noFill/>
          <a:ln/>
        </p:spPr>
        <p:txBody>
          <a:bodyPr wrap="square" lIns="0" tIns="0" rIns="0" bIns="0" rtlCol="0" anchor="ctr"/>
          <a:lstStyle/>
          <a:p>
            <a:pPr marL="0" indent="0" algn="l">
              <a:buNone/>
            </a:pPr>
            <a:r>
              <a:rPr lang="en-US" sz="1250" b="1" kern="0" spc="300" dirty="0">
                <a:solidFill>
                  <a:srgbClr val="059669"/>
                </a:solidFill>
                <a:latin typeface="Trebuchet MS" pitchFamily="34" charset="0"/>
                <a:ea typeface="Trebuchet MS" pitchFamily="34" charset="-122"/>
                <a:cs typeface="Trebuchet MS" pitchFamily="34" charset="-120"/>
              </a:rPr>
              <a:t>04 · DEMO</a:t>
            </a:r>
            <a:endParaRPr lang="en-US" sz="1250" dirty="0"/>
          </a:p>
        </p:txBody>
      </p:sp>
      <p:sp>
        <p:nvSpPr>
          <p:cNvPr id="3" name="Text 1"/>
          <p:cNvSpPr/>
          <p:nvPr/>
        </p:nvSpPr>
        <p:spPr>
          <a:xfrm>
            <a:off x="566928" y="713232"/>
            <a:ext cx="11055096" cy="658368"/>
          </a:xfrm>
          <a:prstGeom prst="rect">
            <a:avLst/>
          </a:prstGeom>
          <a:noFill/>
          <a:ln/>
        </p:spPr>
        <p:txBody>
          <a:bodyPr wrap="square" lIns="0" tIns="0" rIns="0" bIns="0" rtlCol="0" anchor="ctr"/>
          <a:lstStyle/>
          <a:p>
            <a:pPr marL="0" indent="0" algn="l">
              <a:buNone/>
            </a:pPr>
            <a:r>
              <a:rPr lang="en-US" sz="3000" b="1" dirty="0">
                <a:solidFill>
                  <a:srgbClr val="1E2A4A"/>
                </a:solidFill>
                <a:latin typeface="Trebuchet MS" pitchFamily="34" charset="0"/>
                <a:ea typeface="Trebuchet MS" pitchFamily="34" charset="-122"/>
                <a:cs typeface="Trebuchet MS" pitchFamily="34" charset="-120"/>
              </a:rPr>
              <a:t>Live Demo Walkthrough</a:t>
            </a:r>
            <a:endParaRPr lang="en-US" sz="3000" dirty="0"/>
          </a:p>
        </p:txBody>
      </p:sp>
      <p:sp>
        <p:nvSpPr>
          <p:cNvPr id="4" name="Text 2"/>
          <p:cNvSpPr/>
          <p:nvPr/>
        </p:nvSpPr>
        <p:spPr>
          <a:xfrm>
            <a:off x="566928" y="1481328"/>
            <a:ext cx="11055096" cy="365760"/>
          </a:xfrm>
          <a:prstGeom prst="rect">
            <a:avLst/>
          </a:prstGeom>
          <a:noFill/>
          <a:ln/>
        </p:spPr>
        <p:txBody>
          <a:bodyPr wrap="square" lIns="0" tIns="0" rIns="0" bIns="0" rtlCol="0" anchor="ctr"/>
          <a:lstStyle/>
          <a:p>
            <a:pPr marL="0" indent="0">
              <a:buNone/>
            </a:pPr>
            <a:r>
              <a:rPr lang="en-US" sz="1350" i="1" dirty="0">
                <a:solidFill>
                  <a:srgbClr val="475569"/>
                </a:solidFill>
                <a:latin typeface="Calibri" pitchFamily="34" charset="0"/>
                <a:ea typeface="Calibri" pitchFamily="34" charset="-122"/>
                <a:cs typeface="Calibri" pitchFamily="34" charset="-120"/>
              </a:rPr>
              <a:t>What I’ll show on screen (also captured as a ~2:45 backup clip).</a:t>
            </a:r>
            <a:endParaRPr lang="en-US" sz="1350" dirty="0"/>
          </a:p>
        </p:txBody>
      </p:sp>
      <p:sp>
        <p:nvSpPr>
          <p:cNvPr id="5" name="Shape 3"/>
          <p:cNvSpPr/>
          <p:nvPr/>
        </p:nvSpPr>
        <p:spPr>
          <a:xfrm>
            <a:off x="566928" y="2103120"/>
            <a:ext cx="2558034" cy="3200400"/>
          </a:xfrm>
          <a:prstGeom prst="rect">
            <a:avLst/>
          </a:prstGeom>
          <a:solidFill>
            <a:srgbClr val="FFFFFF"/>
          </a:solidFill>
          <a:ln w="12700">
            <a:solidFill>
              <a:srgbClr val="E2E8F0"/>
            </a:solidFill>
            <a:prstDash val="solid"/>
          </a:ln>
          <a:effectLst>
            <a:outerShdw blurRad="88900" dist="38100" dir="8100000" algn="bl" rotWithShape="0">
              <a:srgbClr val="000000">
                <a:alpha val="10000"/>
              </a:srgbClr>
            </a:outerShdw>
          </a:effectLst>
        </p:spPr>
        <p:txBody>
          <a:bodyPr/>
          <a:lstStyle/>
          <a:p>
            <a:endParaRPr lang="zh-TW" altLang="en-US"/>
          </a:p>
        </p:txBody>
      </p:sp>
      <p:sp>
        <p:nvSpPr>
          <p:cNvPr id="6" name="Shape 4"/>
          <p:cNvSpPr/>
          <p:nvPr/>
        </p:nvSpPr>
        <p:spPr>
          <a:xfrm>
            <a:off x="566928" y="2103120"/>
            <a:ext cx="82296" cy="3200400"/>
          </a:xfrm>
          <a:prstGeom prst="rect">
            <a:avLst/>
          </a:prstGeom>
          <a:solidFill>
            <a:srgbClr val="2C3E66"/>
          </a:solidFill>
          <a:ln/>
        </p:spPr>
        <p:txBody>
          <a:bodyPr/>
          <a:lstStyle/>
          <a:p>
            <a:endParaRPr lang="zh-TW" altLang="en-US"/>
          </a:p>
        </p:txBody>
      </p:sp>
      <p:sp>
        <p:nvSpPr>
          <p:cNvPr id="7" name="Shape 5"/>
          <p:cNvSpPr/>
          <p:nvPr/>
        </p:nvSpPr>
        <p:spPr>
          <a:xfrm>
            <a:off x="786384" y="2322576"/>
            <a:ext cx="566928" cy="566928"/>
          </a:xfrm>
          <a:prstGeom prst="ellipse">
            <a:avLst/>
          </a:prstGeom>
          <a:solidFill>
            <a:srgbClr val="059669"/>
          </a:solidFill>
          <a:ln/>
        </p:spPr>
        <p:txBody>
          <a:bodyPr/>
          <a:lstStyle/>
          <a:p>
            <a:endParaRPr lang="zh-TW" altLang="en-US"/>
          </a:p>
        </p:txBody>
      </p:sp>
      <p:sp>
        <p:nvSpPr>
          <p:cNvPr id="8" name="Text 6"/>
          <p:cNvSpPr/>
          <p:nvPr/>
        </p:nvSpPr>
        <p:spPr>
          <a:xfrm>
            <a:off x="786384" y="2322576"/>
            <a:ext cx="566928" cy="566928"/>
          </a:xfrm>
          <a:prstGeom prst="rect">
            <a:avLst/>
          </a:prstGeom>
          <a:noFill/>
          <a:ln/>
        </p:spPr>
        <p:txBody>
          <a:bodyPr wrap="square" lIns="0" tIns="0" rIns="0" bIns="0"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01</a:t>
            </a:r>
            <a:endParaRPr lang="en-US" sz="1600" dirty="0"/>
          </a:p>
        </p:txBody>
      </p:sp>
      <p:sp>
        <p:nvSpPr>
          <p:cNvPr id="9" name="Text 7"/>
          <p:cNvSpPr/>
          <p:nvPr/>
        </p:nvSpPr>
        <p:spPr>
          <a:xfrm>
            <a:off x="768096" y="3017520"/>
            <a:ext cx="2155698" cy="640080"/>
          </a:xfrm>
          <a:prstGeom prst="rect">
            <a:avLst/>
          </a:prstGeom>
          <a:noFill/>
          <a:ln/>
        </p:spPr>
        <p:txBody>
          <a:bodyPr wrap="square" lIns="0" tIns="0" rIns="0" bIns="0" rtlCol="0" anchor="t"/>
          <a:lstStyle/>
          <a:p>
            <a:pPr marL="0" indent="0">
              <a:buNone/>
            </a:pPr>
            <a:r>
              <a:rPr lang="en-US" sz="1450" b="1" dirty="0">
                <a:solidFill>
                  <a:srgbClr val="1E2A4A"/>
                </a:solidFill>
                <a:latin typeface="Trebuchet MS" pitchFamily="34" charset="0"/>
                <a:ea typeface="Trebuchet MS" pitchFamily="34" charset="-122"/>
                <a:cs typeface="Trebuchet MS" pitchFamily="34" charset="-120"/>
              </a:rPr>
              <a:t>Standalone GUI</a:t>
            </a:r>
            <a:endParaRPr lang="en-US" sz="1450" dirty="0"/>
          </a:p>
        </p:txBody>
      </p:sp>
      <p:sp>
        <p:nvSpPr>
          <p:cNvPr id="10" name="Text 8"/>
          <p:cNvSpPr/>
          <p:nvPr/>
        </p:nvSpPr>
        <p:spPr>
          <a:xfrm>
            <a:off x="768096" y="3584448"/>
            <a:ext cx="2155698" cy="1554480"/>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Open a noisy SDXL image; drag the sensitivity, max-size and dilate sliders and watch the mask update in real time.</a:t>
            </a:r>
            <a:endParaRPr lang="en-US" sz="1200" dirty="0"/>
          </a:p>
        </p:txBody>
      </p:sp>
      <p:sp>
        <p:nvSpPr>
          <p:cNvPr id="11" name="Shape 9"/>
          <p:cNvSpPr/>
          <p:nvPr/>
        </p:nvSpPr>
        <p:spPr>
          <a:xfrm>
            <a:off x="3399282" y="2103120"/>
            <a:ext cx="2558034" cy="3200400"/>
          </a:xfrm>
          <a:prstGeom prst="rect">
            <a:avLst/>
          </a:prstGeom>
          <a:solidFill>
            <a:srgbClr val="FFFFFF"/>
          </a:solidFill>
          <a:ln w="12700">
            <a:solidFill>
              <a:srgbClr val="E2E8F0"/>
            </a:solidFill>
            <a:prstDash val="solid"/>
          </a:ln>
          <a:effectLst>
            <a:outerShdw blurRad="88900" dist="38100" dir="8100000" algn="bl" rotWithShape="0">
              <a:srgbClr val="000000">
                <a:alpha val="10000"/>
              </a:srgbClr>
            </a:outerShdw>
          </a:effectLst>
        </p:spPr>
        <p:txBody>
          <a:bodyPr/>
          <a:lstStyle/>
          <a:p>
            <a:endParaRPr lang="zh-TW" altLang="en-US"/>
          </a:p>
        </p:txBody>
      </p:sp>
      <p:sp>
        <p:nvSpPr>
          <p:cNvPr id="12" name="Shape 10"/>
          <p:cNvSpPr/>
          <p:nvPr/>
        </p:nvSpPr>
        <p:spPr>
          <a:xfrm>
            <a:off x="3399282" y="2103120"/>
            <a:ext cx="82296" cy="3200400"/>
          </a:xfrm>
          <a:prstGeom prst="rect">
            <a:avLst/>
          </a:prstGeom>
          <a:solidFill>
            <a:srgbClr val="2C3E66"/>
          </a:solidFill>
          <a:ln/>
        </p:spPr>
        <p:txBody>
          <a:bodyPr/>
          <a:lstStyle/>
          <a:p>
            <a:endParaRPr lang="zh-TW" altLang="en-US"/>
          </a:p>
        </p:txBody>
      </p:sp>
      <p:sp>
        <p:nvSpPr>
          <p:cNvPr id="13" name="Shape 11"/>
          <p:cNvSpPr/>
          <p:nvPr/>
        </p:nvSpPr>
        <p:spPr>
          <a:xfrm>
            <a:off x="3618738" y="2322576"/>
            <a:ext cx="566928" cy="566928"/>
          </a:xfrm>
          <a:prstGeom prst="ellipse">
            <a:avLst/>
          </a:prstGeom>
          <a:solidFill>
            <a:srgbClr val="059669"/>
          </a:solidFill>
          <a:ln/>
        </p:spPr>
        <p:txBody>
          <a:bodyPr/>
          <a:lstStyle/>
          <a:p>
            <a:endParaRPr lang="zh-TW" altLang="en-US"/>
          </a:p>
        </p:txBody>
      </p:sp>
      <p:sp>
        <p:nvSpPr>
          <p:cNvPr id="14" name="Text 12"/>
          <p:cNvSpPr/>
          <p:nvPr/>
        </p:nvSpPr>
        <p:spPr>
          <a:xfrm>
            <a:off x="3618738" y="2322576"/>
            <a:ext cx="566928" cy="566928"/>
          </a:xfrm>
          <a:prstGeom prst="rect">
            <a:avLst/>
          </a:prstGeom>
          <a:noFill/>
          <a:ln/>
        </p:spPr>
        <p:txBody>
          <a:bodyPr wrap="square" lIns="0" tIns="0" rIns="0" bIns="0"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02</a:t>
            </a:r>
            <a:endParaRPr lang="en-US" sz="1600" dirty="0"/>
          </a:p>
        </p:txBody>
      </p:sp>
      <p:sp>
        <p:nvSpPr>
          <p:cNvPr id="15" name="Text 13"/>
          <p:cNvSpPr/>
          <p:nvPr/>
        </p:nvSpPr>
        <p:spPr>
          <a:xfrm>
            <a:off x="3600450" y="3017520"/>
            <a:ext cx="2155698" cy="640080"/>
          </a:xfrm>
          <a:prstGeom prst="rect">
            <a:avLst/>
          </a:prstGeom>
          <a:noFill/>
          <a:ln/>
        </p:spPr>
        <p:txBody>
          <a:bodyPr wrap="square" lIns="0" tIns="0" rIns="0" bIns="0" rtlCol="0" anchor="t"/>
          <a:lstStyle/>
          <a:p>
            <a:pPr marL="0" indent="0">
              <a:buNone/>
            </a:pPr>
            <a:r>
              <a:rPr lang="en-US" sz="1450" b="1" dirty="0">
                <a:solidFill>
                  <a:srgbClr val="1E2A4A"/>
                </a:solidFill>
                <a:latin typeface="Trebuchet MS" pitchFamily="34" charset="0"/>
                <a:ea typeface="Trebuchet MS" pitchFamily="34" charset="-122"/>
                <a:cs typeface="Trebuchet MS" pitchFamily="34" charset="-120"/>
              </a:rPr>
              <a:t>Cycle preview modes</a:t>
            </a:r>
            <a:endParaRPr lang="en-US" sz="1450" dirty="0"/>
          </a:p>
        </p:txBody>
      </p:sp>
      <p:sp>
        <p:nvSpPr>
          <p:cNvPr id="16" name="Text 14"/>
          <p:cNvSpPr/>
          <p:nvPr/>
        </p:nvSpPr>
        <p:spPr>
          <a:xfrm>
            <a:off x="3600450" y="3584448"/>
            <a:ext cx="2155698" cy="1554480"/>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Keys 1–0 / − step through original → overlay → Laplacian → median → seed → context → filtered → LAB-verified.</a:t>
            </a:r>
            <a:endParaRPr lang="en-US" sz="1200" dirty="0"/>
          </a:p>
        </p:txBody>
      </p:sp>
      <p:sp>
        <p:nvSpPr>
          <p:cNvPr id="17" name="Shape 15"/>
          <p:cNvSpPr/>
          <p:nvPr/>
        </p:nvSpPr>
        <p:spPr>
          <a:xfrm>
            <a:off x="6231636" y="2103120"/>
            <a:ext cx="2558034" cy="3200400"/>
          </a:xfrm>
          <a:prstGeom prst="rect">
            <a:avLst/>
          </a:prstGeom>
          <a:solidFill>
            <a:srgbClr val="FFFFFF"/>
          </a:solidFill>
          <a:ln w="12700">
            <a:solidFill>
              <a:srgbClr val="E2E8F0"/>
            </a:solidFill>
            <a:prstDash val="solid"/>
          </a:ln>
          <a:effectLst>
            <a:outerShdw blurRad="88900" dist="38100" dir="8100000" algn="bl" rotWithShape="0">
              <a:srgbClr val="000000">
                <a:alpha val="10000"/>
              </a:srgbClr>
            </a:outerShdw>
          </a:effectLst>
        </p:spPr>
        <p:txBody>
          <a:bodyPr/>
          <a:lstStyle/>
          <a:p>
            <a:endParaRPr lang="zh-TW" altLang="en-US"/>
          </a:p>
        </p:txBody>
      </p:sp>
      <p:sp>
        <p:nvSpPr>
          <p:cNvPr id="18" name="Shape 16"/>
          <p:cNvSpPr/>
          <p:nvPr/>
        </p:nvSpPr>
        <p:spPr>
          <a:xfrm>
            <a:off x="6231636" y="2103120"/>
            <a:ext cx="82296" cy="3200400"/>
          </a:xfrm>
          <a:prstGeom prst="rect">
            <a:avLst/>
          </a:prstGeom>
          <a:solidFill>
            <a:srgbClr val="2C3E66"/>
          </a:solidFill>
          <a:ln/>
        </p:spPr>
        <p:txBody>
          <a:bodyPr/>
          <a:lstStyle/>
          <a:p>
            <a:endParaRPr lang="zh-TW" altLang="en-US"/>
          </a:p>
        </p:txBody>
      </p:sp>
      <p:sp>
        <p:nvSpPr>
          <p:cNvPr id="19" name="Shape 17"/>
          <p:cNvSpPr/>
          <p:nvPr/>
        </p:nvSpPr>
        <p:spPr>
          <a:xfrm>
            <a:off x="6451092" y="2322576"/>
            <a:ext cx="566928" cy="566928"/>
          </a:xfrm>
          <a:prstGeom prst="ellipse">
            <a:avLst/>
          </a:prstGeom>
          <a:solidFill>
            <a:srgbClr val="059669"/>
          </a:solidFill>
          <a:ln/>
        </p:spPr>
        <p:txBody>
          <a:bodyPr/>
          <a:lstStyle/>
          <a:p>
            <a:endParaRPr lang="zh-TW" altLang="en-US"/>
          </a:p>
        </p:txBody>
      </p:sp>
      <p:sp>
        <p:nvSpPr>
          <p:cNvPr id="20" name="Text 18"/>
          <p:cNvSpPr/>
          <p:nvPr/>
        </p:nvSpPr>
        <p:spPr>
          <a:xfrm>
            <a:off x="6451092" y="2322576"/>
            <a:ext cx="566928" cy="566928"/>
          </a:xfrm>
          <a:prstGeom prst="rect">
            <a:avLst/>
          </a:prstGeom>
          <a:noFill/>
          <a:ln/>
        </p:spPr>
        <p:txBody>
          <a:bodyPr wrap="square" lIns="0" tIns="0" rIns="0" bIns="0"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03</a:t>
            </a:r>
            <a:endParaRPr lang="en-US" sz="1600" dirty="0"/>
          </a:p>
        </p:txBody>
      </p:sp>
      <p:sp>
        <p:nvSpPr>
          <p:cNvPr id="21" name="Text 19"/>
          <p:cNvSpPr/>
          <p:nvPr/>
        </p:nvSpPr>
        <p:spPr>
          <a:xfrm>
            <a:off x="6432804" y="3017520"/>
            <a:ext cx="2155698" cy="640080"/>
          </a:xfrm>
          <a:prstGeom prst="rect">
            <a:avLst/>
          </a:prstGeom>
          <a:noFill/>
          <a:ln/>
        </p:spPr>
        <p:txBody>
          <a:bodyPr wrap="square" lIns="0" tIns="0" rIns="0" bIns="0" rtlCol="0" anchor="t"/>
          <a:lstStyle/>
          <a:p>
            <a:pPr marL="0" indent="0">
              <a:buNone/>
            </a:pPr>
            <a:r>
              <a:rPr lang="en-US" sz="1450" b="1" dirty="0">
                <a:solidFill>
                  <a:srgbClr val="1E2A4A"/>
                </a:solidFill>
                <a:latin typeface="Trebuchet MS" pitchFamily="34" charset="0"/>
                <a:ea typeface="Trebuchet MS" pitchFamily="34" charset="-122"/>
                <a:cs typeface="Trebuchet MS" pitchFamily="34" charset="-120"/>
              </a:rPr>
              <a:t>Repaired &amp; side-by-side</a:t>
            </a:r>
            <a:endParaRPr lang="en-US" sz="1450" dirty="0"/>
          </a:p>
        </p:txBody>
      </p:sp>
      <p:sp>
        <p:nvSpPr>
          <p:cNvPr id="22" name="Text 20"/>
          <p:cNvSpPr/>
          <p:nvPr/>
        </p:nvSpPr>
        <p:spPr>
          <a:xfrm>
            <a:off x="6432804" y="3584448"/>
            <a:ext cx="2155698" cy="1554480"/>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Toggle to Repaired and Side-by-Side; the HUD reports blob count, coverage and detection time live.</a:t>
            </a:r>
            <a:endParaRPr lang="en-US" sz="1200" dirty="0"/>
          </a:p>
        </p:txBody>
      </p:sp>
      <p:sp>
        <p:nvSpPr>
          <p:cNvPr id="23" name="Shape 21"/>
          <p:cNvSpPr/>
          <p:nvPr/>
        </p:nvSpPr>
        <p:spPr>
          <a:xfrm>
            <a:off x="9063990" y="2103120"/>
            <a:ext cx="2558034" cy="3200400"/>
          </a:xfrm>
          <a:prstGeom prst="rect">
            <a:avLst/>
          </a:prstGeom>
          <a:solidFill>
            <a:srgbClr val="FFFFFF"/>
          </a:solidFill>
          <a:ln w="12700">
            <a:solidFill>
              <a:srgbClr val="E2E8F0"/>
            </a:solidFill>
            <a:prstDash val="solid"/>
          </a:ln>
          <a:effectLst>
            <a:outerShdw blurRad="88900" dist="38100" dir="8100000" algn="bl" rotWithShape="0">
              <a:srgbClr val="000000">
                <a:alpha val="10000"/>
              </a:srgbClr>
            </a:outerShdw>
          </a:effectLst>
        </p:spPr>
        <p:txBody>
          <a:bodyPr/>
          <a:lstStyle/>
          <a:p>
            <a:endParaRPr lang="zh-TW" altLang="en-US"/>
          </a:p>
        </p:txBody>
      </p:sp>
      <p:sp>
        <p:nvSpPr>
          <p:cNvPr id="24" name="Shape 22"/>
          <p:cNvSpPr/>
          <p:nvPr/>
        </p:nvSpPr>
        <p:spPr>
          <a:xfrm>
            <a:off x="9063990" y="2103120"/>
            <a:ext cx="82296" cy="3200400"/>
          </a:xfrm>
          <a:prstGeom prst="rect">
            <a:avLst/>
          </a:prstGeom>
          <a:solidFill>
            <a:srgbClr val="2C3E66"/>
          </a:solidFill>
          <a:ln/>
        </p:spPr>
        <p:txBody>
          <a:bodyPr/>
          <a:lstStyle/>
          <a:p>
            <a:endParaRPr lang="zh-TW" altLang="en-US"/>
          </a:p>
        </p:txBody>
      </p:sp>
      <p:sp>
        <p:nvSpPr>
          <p:cNvPr id="25" name="Shape 23"/>
          <p:cNvSpPr/>
          <p:nvPr/>
        </p:nvSpPr>
        <p:spPr>
          <a:xfrm>
            <a:off x="9283446" y="2322576"/>
            <a:ext cx="566928" cy="566928"/>
          </a:xfrm>
          <a:prstGeom prst="ellipse">
            <a:avLst/>
          </a:prstGeom>
          <a:solidFill>
            <a:srgbClr val="059669"/>
          </a:solidFill>
          <a:ln/>
        </p:spPr>
        <p:txBody>
          <a:bodyPr/>
          <a:lstStyle/>
          <a:p>
            <a:endParaRPr lang="zh-TW" altLang="en-US"/>
          </a:p>
        </p:txBody>
      </p:sp>
      <p:sp>
        <p:nvSpPr>
          <p:cNvPr id="26" name="Text 24"/>
          <p:cNvSpPr/>
          <p:nvPr/>
        </p:nvSpPr>
        <p:spPr>
          <a:xfrm>
            <a:off x="9283446" y="2322576"/>
            <a:ext cx="566928" cy="566928"/>
          </a:xfrm>
          <a:prstGeom prst="rect">
            <a:avLst/>
          </a:prstGeom>
          <a:noFill/>
          <a:ln/>
        </p:spPr>
        <p:txBody>
          <a:bodyPr wrap="square" lIns="0" tIns="0" rIns="0" bIns="0"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04</a:t>
            </a:r>
            <a:endParaRPr lang="en-US" sz="1600" dirty="0"/>
          </a:p>
        </p:txBody>
      </p:sp>
      <p:sp>
        <p:nvSpPr>
          <p:cNvPr id="27" name="Text 25"/>
          <p:cNvSpPr/>
          <p:nvPr/>
        </p:nvSpPr>
        <p:spPr>
          <a:xfrm>
            <a:off x="9265158" y="3017520"/>
            <a:ext cx="2155698" cy="640080"/>
          </a:xfrm>
          <a:prstGeom prst="rect">
            <a:avLst/>
          </a:prstGeom>
          <a:noFill/>
          <a:ln/>
        </p:spPr>
        <p:txBody>
          <a:bodyPr wrap="square" lIns="0" tIns="0" rIns="0" bIns="0" rtlCol="0" anchor="t"/>
          <a:lstStyle/>
          <a:p>
            <a:pPr marL="0" indent="0">
              <a:buNone/>
            </a:pPr>
            <a:r>
              <a:rPr lang="en-US" sz="1450" b="1" dirty="0">
                <a:solidFill>
                  <a:srgbClr val="1E2A4A"/>
                </a:solidFill>
                <a:latin typeface="Trebuchet MS" pitchFamily="34" charset="0"/>
                <a:ea typeface="Trebuchet MS" pitchFamily="34" charset="-122"/>
                <a:cs typeface="Trebuchet MS" pitchFamily="34" charset="-120"/>
              </a:rPr>
              <a:t>ComfyUI integration</a:t>
            </a:r>
            <a:endParaRPr lang="en-US" sz="1450" dirty="0"/>
          </a:p>
        </p:txBody>
      </p:sp>
      <p:sp>
        <p:nvSpPr>
          <p:cNvPr id="28" name="Text 26"/>
          <p:cNvSpPr/>
          <p:nvPr/>
        </p:nvSpPr>
        <p:spPr>
          <a:xfrm>
            <a:off x="9265158" y="3584448"/>
            <a:ext cx="2155698" cy="1554480"/>
          </a:xfrm>
          <a:prstGeom prst="rect">
            <a:avLst/>
          </a:prstGeom>
          <a:noFill/>
          <a:ln/>
        </p:spPr>
        <p:txBody>
          <a:bodyPr wrap="square" lIns="0" tIns="0" rIns="0" bIns="0" rtlCol="0" anchor="t"/>
          <a:lstStyle/>
          <a:p>
            <a:pPr marL="0" indent="0">
              <a:buNone/>
            </a:pPr>
            <a:r>
              <a:rPr lang="en-US" sz="1200" dirty="0">
                <a:solidFill>
                  <a:srgbClr val="475569"/>
                </a:solidFill>
                <a:latin typeface="Calibri" pitchFamily="34" charset="0"/>
                <a:ea typeface="Calibri" pitchFamily="34" charset="-122"/>
                <a:cs typeface="Calibri" pitchFamily="34" charset="-120"/>
              </a:rPr>
              <a:t>KSampler → VAE Decode → VAE Noise Fix → Save, with the MASK output wired to a downstream node.</a:t>
            </a:r>
            <a:endParaRPr lang="en-US" sz="1200" dirty="0"/>
          </a:p>
        </p:txBody>
      </p:sp>
      <p:sp>
        <p:nvSpPr>
          <p:cNvPr id="29" name="Shape 27"/>
          <p:cNvSpPr/>
          <p:nvPr/>
        </p:nvSpPr>
        <p:spPr>
          <a:xfrm>
            <a:off x="566928" y="5532120"/>
            <a:ext cx="11055096" cy="713232"/>
          </a:xfrm>
          <a:prstGeom prst="rect">
            <a:avLst/>
          </a:prstGeom>
          <a:solidFill>
            <a:srgbClr val="EEF2F8"/>
          </a:solidFill>
          <a:ln/>
        </p:spPr>
        <p:txBody>
          <a:bodyPr/>
          <a:lstStyle/>
          <a:p>
            <a:endParaRPr lang="zh-TW" altLang="en-US"/>
          </a:p>
        </p:txBody>
      </p:sp>
      <p:sp>
        <p:nvSpPr>
          <p:cNvPr id="30" name="Shape 28"/>
          <p:cNvSpPr/>
          <p:nvPr/>
        </p:nvSpPr>
        <p:spPr>
          <a:xfrm>
            <a:off x="566928" y="5532120"/>
            <a:ext cx="82296" cy="713232"/>
          </a:xfrm>
          <a:prstGeom prst="rect">
            <a:avLst/>
          </a:prstGeom>
          <a:solidFill>
            <a:srgbClr val="D97706"/>
          </a:solidFill>
          <a:ln/>
        </p:spPr>
        <p:txBody>
          <a:bodyPr/>
          <a:lstStyle/>
          <a:p>
            <a:endParaRPr lang="zh-TW" altLang="en-US"/>
          </a:p>
        </p:txBody>
      </p:sp>
      <p:sp>
        <p:nvSpPr>
          <p:cNvPr id="31" name="Text 29"/>
          <p:cNvSpPr/>
          <p:nvPr/>
        </p:nvSpPr>
        <p:spPr>
          <a:xfrm>
            <a:off x="822960" y="5532120"/>
            <a:ext cx="10597896" cy="713232"/>
          </a:xfrm>
          <a:prstGeom prst="rect">
            <a:avLst/>
          </a:prstGeom>
          <a:noFill/>
          <a:ln/>
        </p:spPr>
        <p:txBody>
          <a:bodyPr wrap="square" lIns="0" tIns="0" rIns="0" bIns="0" rtlCol="0" anchor="ctr"/>
          <a:lstStyle/>
          <a:p>
            <a:pPr marL="0" indent="0">
              <a:buNone/>
            </a:pPr>
            <a:r>
              <a:rPr lang="en-US" sz="1300" b="1" dirty="0">
                <a:solidFill>
                  <a:srgbClr val="D97706"/>
                </a:solidFill>
                <a:latin typeface="Calibri" pitchFamily="34" charset="0"/>
                <a:ea typeface="Calibri" pitchFamily="34" charset="-122"/>
                <a:cs typeface="Calibri" pitchFamily="34" charset="-120"/>
              </a:rPr>
              <a:t>Headline:  </a:t>
            </a:r>
            <a:r>
              <a:rPr lang="en-US" sz="1300" dirty="0">
                <a:solidFill>
                  <a:srgbClr val="475569"/>
                </a:solidFill>
                <a:latin typeface="Calibri" pitchFamily="34" charset="0"/>
                <a:ea typeface="Calibri" pitchFamily="34" charset="-122"/>
                <a:cs typeface="Calibri" pitchFamily="34" charset="-120"/>
              </a:rPr>
              <a:t>detection + repair finishes in tens of milliseconds on the CPU — the diffusion-based alternative would take seconds and a GPU.</a:t>
            </a:r>
            <a:endParaRPr lang="en-US" sz="1300" dirty="0"/>
          </a:p>
        </p:txBody>
      </p:sp>
      <p:sp>
        <p:nvSpPr>
          <p:cNvPr id="32" name="Text 30"/>
          <p:cNvSpPr/>
          <p:nvPr/>
        </p:nvSpPr>
        <p:spPr>
          <a:xfrm>
            <a:off x="566928" y="6473952"/>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SDXL VAE Noise-Fix  ·  Traditional-CV ComfyUI Node</a:t>
            </a:r>
            <a:endParaRPr lang="en-US" sz="900" dirty="0"/>
          </a:p>
        </p:txBody>
      </p:sp>
      <p:sp>
        <p:nvSpPr>
          <p:cNvPr id="33" name="Text 31"/>
          <p:cNvSpPr/>
          <p:nvPr/>
        </p:nvSpPr>
        <p:spPr>
          <a:xfrm>
            <a:off x="11073384" y="6473952"/>
            <a:ext cx="54864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566928" y="420624"/>
            <a:ext cx="11055096" cy="292608"/>
          </a:xfrm>
          <a:prstGeom prst="rect">
            <a:avLst/>
          </a:prstGeom>
          <a:noFill/>
          <a:ln/>
        </p:spPr>
        <p:txBody>
          <a:bodyPr wrap="square" lIns="0" tIns="0" rIns="0" bIns="0" rtlCol="0" anchor="ctr"/>
          <a:lstStyle/>
          <a:p>
            <a:pPr marL="0" indent="0" algn="l">
              <a:buNone/>
            </a:pPr>
            <a:r>
              <a:rPr lang="en-US" sz="1250" b="1" kern="0" spc="300" dirty="0">
                <a:solidFill>
                  <a:srgbClr val="059669"/>
                </a:solidFill>
                <a:latin typeface="Trebuchet MS" pitchFamily="34" charset="0"/>
                <a:ea typeface="Trebuchet MS" pitchFamily="34" charset="-122"/>
                <a:cs typeface="Trebuchet MS" pitchFamily="34" charset="-120"/>
              </a:rPr>
              <a:t>05 · DIFFICULTIES &amp; UNIQUENESS</a:t>
            </a:r>
            <a:endParaRPr lang="en-US" sz="1250" dirty="0"/>
          </a:p>
        </p:txBody>
      </p:sp>
      <p:sp>
        <p:nvSpPr>
          <p:cNvPr id="3" name="Text 1"/>
          <p:cNvSpPr/>
          <p:nvPr/>
        </p:nvSpPr>
        <p:spPr>
          <a:xfrm>
            <a:off x="566928" y="713232"/>
            <a:ext cx="11055096" cy="658368"/>
          </a:xfrm>
          <a:prstGeom prst="rect">
            <a:avLst/>
          </a:prstGeom>
          <a:noFill/>
          <a:ln/>
        </p:spPr>
        <p:txBody>
          <a:bodyPr wrap="square" lIns="0" tIns="0" rIns="0" bIns="0" rtlCol="0" anchor="ctr"/>
          <a:lstStyle/>
          <a:p>
            <a:pPr marL="0" indent="0" algn="l">
              <a:buNone/>
            </a:pPr>
            <a:r>
              <a:rPr lang="en-US" sz="3000" b="1" dirty="0">
                <a:solidFill>
                  <a:srgbClr val="1E2A4A"/>
                </a:solidFill>
                <a:latin typeface="Trebuchet MS" pitchFamily="34" charset="0"/>
                <a:ea typeface="Trebuchet MS" pitchFamily="34" charset="-122"/>
                <a:cs typeface="Trebuchet MS" pitchFamily="34" charset="-120"/>
              </a:rPr>
              <a:t>What’s Hard — and What’s New</a:t>
            </a:r>
            <a:endParaRPr lang="en-US" sz="3000" dirty="0"/>
          </a:p>
        </p:txBody>
      </p:sp>
      <p:sp>
        <p:nvSpPr>
          <p:cNvPr id="4" name="Shape 2"/>
          <p:cNvSpPr/>
          <p:nvPr/>
        </p:nvSpPr>
        <p:spPr>
          <a:xfrm>
            <a:off x="566928" y="1664208"/>
            <a:ext cx="5413248" cy="4443984"/>
          </a:xfrm>
          <a:prstGeom prst="rect">
            <a:avLst/>
          </a:prstGeom>
          <a:solidFill>
            <a:srgbClr val="FFFFFF"/>
          </a:solidFill>
          <a:ln w="12700">
            <a:solidFill>
              <a:srgbClr val="E2E8F0"/>
            </a:solidFill>
            <a:prstDash val="solid"/>
          </a:ln>
          <a:effectLst>
            <a:outerShdw blurRad="88900" dist="38100" dir="8100000" algn="bl" rotWithShape="0">
              <a:srgbClr val="000000">
                <a:alpha val="10000"/>
              </a:srgbClr>
            </a:outerShdw>
          </a:effectLst>
        </p:spPr>
        <p:txBody>
          <a:bodyPr/>
          <a:lstStyle/>
          <a:p>
            <a:endParaRPr lang="zh-TW" altLang="en-US"/>
          </a:p>
        </p:txBody>
      </p:sp>
      <p:sp>
        <p:nvSpPr>
          <p:cNvPr id="5" name="Shape 3"/>
          <p:cNvSpPr/>
          <p:nvPr/>
        </p:nvSpPr>
        <p:spPr>
          <a:xfrm>
            <a:off x="566928" y="1664208"/>
            <a:ext cx="82296" cy="4443984"/>
          </a:xfrm>
          <a:prstGeom prst="rect">
            <a:avLst/>
          </a:prstGeom>
          <a:solidFill>
            <a:srgbClr val="059669"/>
          </a:solidFill>
          <a:ln/>
        </p:spPr>
        <p:txBody>
          <a:bodyPr/>
          <a:lstStyle/>
          <a:p>
            <a:endParaRPr lang="zh-TW" altLang="en-US"/>
          </a:p>
        </p:txBody>
      </p:sp>
      <p:sp>
        <p:nvSpPr>
          <p:cNvPr id="6" name="Text 4"/>
          <p:cNvSpPr/>
          <p:nvPr/>
        </p:nvSpPr>
        <p:spPr>
          <a:xfrm>
            <a:off x="804672" y="1810512"/>
            <a:ext cx="4937760" cy="365760"/>
          </a:xfrm>
          <a:prstGeom prst="rect">
            <a:avLst/>
          </a:prstGeom>
          <a:noFill/>
          <a:ln/>
        </p:spPr>
        <p:txBody>
          <a:bodyPr wrap="square" lIns="0" tIns="0" rIns="0" bIns="0" rtlCol="0" anchor="ctr"/>
          <a:lstStyle/>
          <a:p>
            <a:pPr marL="0" indent="0">
              <a:buNone/>
            </a:pPr>
            <a:r>
              <a:rPr lang="en-US" sz="1700" b="1" dirty="0">
                <a:solidFill>
                  <a:srgbClr val="1E2A4A"/>
                </a:solidFill>
                <a:latin typeface="Trebuchet MS" pitchFamily="34" charset="0"/>
                <a:ea typeface="Trebuchet MS" pitchFamily="34" charset="-122"/>
                <a:cs typeface="Trebuchet MS" pitchFamily="34" charset="-120"/>
              </a:rPr>
              <a:t>Uniqueness</a:t>
            </a:r>
            <a:endParaRPr lang="en-US" sz="1700" dirty="0"/>
          </a:p>
        </p:txBody>
      </p:sp>
      <p:sp>
        <p:nvSpPr>
          <p:cNvPr id="7" name="Text 5"/>
          <p:cNvSpPr/>
          <p:nvPr/>
        </p:nvSpPr>
        <p:spPr>
          <a:xfrm>
            <a:off x="804672" y="2212848"/>
            <a:ext cx="4956048" cy="3749040"/>
          </a:xfrm>
          <a:prstGeom prst="rect">
            <a:avLst/>
          </a:prstGeom>
          <a:noFill/>
          <a:ln/>
        </p:spPr>
        <p:txBody>
          <a:bodyPr wrap="square" lIns="0" tIns="0" rIns="0" bIns="0" rtlCol="0" anchor="t"/>
          <a:lstStyle/>
          <a:p>
            <a:pPr marL="177800" indent="-177800">
              <a:spcAft>
                <a:spcPts val="700"/>
              </a:spcAft>
              <a:buSzPct val="100000"/>
              <a:buChar char="•"/>
            </a:pPr>
            <a:r>
              <a:rPr lang="en-US" sz="1450" dirty="0">
                <a:solidFill>
                  <a:srgbClr val="475569"/>
                </a:solidFill>
                <a:latin typeface="Calibri" pitchFamily="34" charset="0"/>
                <a:ea typeface="Calibri" pitchFamily="34" charset="-122"/>
                <a:cs typeface="Calibri" pitchFamily="34" charset="-120"/>
              </a:rPr>
              <a:t>No existing ComfyUI node combines automatic luminance + area + LAB filtering with integrated CV inpainting in a single drop-in node.</a:t>
            </a:r>
            <a:endParaRPr lang="en-US" sz="1450" dirty="0"/>
          </a:p>
          <a:p>
            <a:pPr marL="177800" indent="-177800">
              <a:spcAft>
                <a:spcPts val="700"/>
              </a:spcAft>
              <a:buSzPct val="100000"/>
              <a:buChar char="•"/>
            </a:pPr>
            <a:r>
              <a:rPr lang="en-US" sz="1450" dirty="0">
                <a:solidFill>
                  <a:srgbClr val="475569"/>
                </a:solidFill>
                <a:latin typeface="Calibri" pitchFamily="34" charset="0"/>
                <a:ea typeface="Calibri" pitchFamily="34" charset="-122"/>
                <a:cs typeface="Calibri" pitchFamily="34" charset="-120"/>
              </a:rPr>
              <a:t>Existing options are either deep-learning detailers (heavy, semantic-only) or manual-mask inpaint nodes — users otherwise wire a fragile “spaghetti” graph.</a:t>
            </a:r>
            <a:endParaRPr lang="en-US" sz="1450" dirty="0"/>
          </a:p>
          <a:p>
            <a:pPr marL="177800" indent="-177800">
              <a:spcAft>
                <a:spcPts val="700"/>
              </a:spcAft>
              <a:buSzPct val="100000"/>
              <a:buChar char="•"/>
            </a:pPr>
            <a:r>
              <a:rPr lang="en-US" sz="1450" dirty="0">
                <a:solidFill>
                  <a:srgbClr val="475569"/>
                </a:solidFill>
                <a:latin typeface="Calibri" pitchFamily="34" charset="0"/>
                <a:ea typeface="Calibri" pitchFamily="34" charset="-122"/>
                <a:cs typeface="Calibri" pitchFamily="34" charset="-120"/>
              </a:rPr>
              <a:t>Hybrid-CV philosophy: encode domain knowledge as explicit, interpretable, deterministic rules instead of a black box.</a:t>
            </a:r>
            <a:endParaRPr lang="en-US" sz="1450" dirty="0"/>
          </a:p>
          <a:p>
            <a:pPr marL="177800" indent="-177800">
              <a:spcAft>
                <a:spcPts val="700"/>
              </a:spcAft>
              <a:buSzPct val="100000"/>
              <a:buChar char="•"/>
            </a:pPr>
            <a:r>
              <a:rPr lang="en-US" sz="1450" dirty="0">
                <a:solidFill>
                  <a:srgbClr val="475569"/>
                </a:solidFill>
                <a:latin typeface="Calibri" pitchFamily="34" charset="0"/>
                <a:ea typeface="Calibri" pitchFamily="34" charset="-122"/>
                <a:cs typeface="Calibri" pitchFamily="34" charset="-120"/>
              </a:rPr>
              <a:t>Reusable MASK output lets downstream nodes share the detection.</a:t>
            </a:r>
            <a:endParaRPr lang="en-US" sz="1450" dirty="0"/>
          </a:p>
        </p:txBody>
      </p:sp>
      <p:sp>
        <p:nvSpPr>
          <p:cNvPr id="8" name="Shape 6"/>
          <p:cNvSpPr/>
          <p:nvPr/>
        </p:nvSpPr>
        <p:spPr>
          <a:xfrm>
            <a:off x="6199632" y="1664208"/>
            <a:ext cx="5422392" cy="4443984"/>
          </a:xfrm>
          <a:prstGeom prst="rect">
            <a:avLst/>
          </a:prstGeom>
          <a:solidFill>
            <a:srgbClr val="FFFFFF"/>
          </a:solidFill>
          <a:ln w="12700">
            <a:solidFill>
              <a:srgbClr val="E2E8F0"/>
            </a:solidFill>
            <a:prstDash val="solid"/>
          </a:ln>
          <a:effectLst>
            <a:outerShdw blurRad="88900" dist="38100" dir="8100000" algn="bl" rotWithShape="0">
              <a:srgbClr val="000000">
                <a:alpha val="10000"/>
              </a:srgbClr>
            </a:outerShdw>
          </a:effectLst>
        </p:spPr>
        <p:txBody>
          <a:bodyPr/>
          <a:lstStyle/>
          <a:p>
            <a:endParaRPr lang="zh-TW" altLang="en-US"/>
          </a:p>
        </p:txBody>
      </p:sp>
      <p:sp>
        <p:nvSpPr>
          <p:cNvPr id="9" name="Shape 7"/>
          <p:cNvSpPr/>
          <p:nvPr/>
        </p:nvSpPr>
        <p:spPr>
          <a:xfrm>
            <a:off x="6199632" y="1664208"/>
            <a:ext cx="82296" cy="4443984"/>
          </a:xfrm>
          <a:prstGeom prst="rect">
            <a:avLst/>
          </a:prstGeom>
          <a:solidFill>
            <a:srgbClr val="D97706"/>
          </a:solidFill>
          <a:ln/>
        </p:spPr>
        <p:txBody>
          <a:bodyPr/>
          <a:lstStyle/>
          <a:p>
            <a:endParaRPr lang="zh-TW" altLang="en-US"/>
          </a:p>
        </p:txBody>
      </p:sp>
      <p:sp>
        <p:nvSpPr>
          <p:cNvPr id="10" name="Text 8"/>
          <p:cNvSpPr/>
          <p:nvPr/>
        </p:nvSpPr>
        <p:spPr>
          <a:xfrm>
            <a:off x="6437376" y="1810512"/>
            <a:ext cx="4937760" cy="365760"/>
          </a:xfrm>
          <a:prstGeom prst="rect">
            <a:avLst/>
          </a:prstGeom>
          <a:noFill/>
          <a:ln/>
        </p:spPr>
        <p:txBody>
          <a:bodyPr wrap="square" lIns="0" tIns="0" rIns="0" bIns="0" rtlCol="0" anchor="ctr"/>
          <a:lstStyle/>
          <a:p>
            <a:pPr marL="0" indent="0">
              <a:buNone/>
            </a:pPr>
            <a:r>
              <a:rPr lang="en-US" sz="1700" b="1" dirty="0">
                <a:solidFill>
                  <a:srgbClr val="1E2A4A"/>
                </a:solidFill>
                <a:latin typeface="Trebuchet MS" pitchFamily="34" charset="0"/>
                <a:ea typeface="Trebuchet MS" pitchFamily="34" charset="-122"/>
                <a:cs typeface="Trebuchet MS" pitchFamily="34" charset="-120"/>
              </a:rPr>
              <a:t>Difficulties &amp; limitations</a:t>
            </a:r>
            <a:endParaRPr lang="en-US" sz="1700" dirty="0"/>
          </a:p>
        </p:txBody>
      </p:sp>
      <p:sp>
        <p:nvSpPr>
          <p:cNvPr id="11" name="Text 9"/>
          <p:cNvSpPr/>
          <p:nvPr/>
        </p:nvSpPr>
        <p:spPr>
          <a:xfrm>
            <a:off x="6437376" y="2212848"/>
            <a:ext cx="4956048" cy="3749040"/>
          </a:xfrm>
          <a:prstGeom prst="rect">
            <a:avLst/>
          </a:prstGeom>
          <a:noFill/>
          <a:ln/>
        </p:spPr>
        <p:txBody>
          <a:bodyPr wrap="square" lIns="0" tIns="0" rIns="0" bIns="0" rtlCol="0" anchor="t"/>
          <a:lstStyle/>
          <a:p>
            <a:pPr marL="177800" indent="-177800">
              <a:spcAft>
                <a:spcPts val="700"/>
              </a:spcAft>
              <a:buSzPct val="100000"/>
              <a:buChar char="•"/>
            </a:pPr>
            <a:r>
              <a:rPr lang="en-US" sz="1450" dirty="0">
                <a:solidFill>
                  <a:srgbClr val="475569"/>
                </a:solidFill>
                <a:latin typeface="Calibri" pitchFamily="34" charset="0"/>
                <a:ea typeface="Calibri" pitchFamily="34" charset="-122"/>
                <a:cs typeface="Calibri" pitchFamily="34" charset="-120"/>
              </a:rPr>
              <a:t>Star-vs-noise discrimination is the core challenge — both are small, bright and isolated; solved via the LAB cliff-ratio test.</a:t>
            </a:r>
            <a:endParaRPr lang="en-US" sz="1450" dirty="0"/>
          </a:p>
          <a:p>
            <a:pPr marL="177800" indent="-177800">
              <a:spcAft>
                <a:spcPts val="700"/>
              </a:spcAft>
              <a:buSzPct val="100000"/>
              <a:buChar char="•"/>
            </a:pPr>
            <a:r>
              <a:rPr lang="en-US" sz="1450" dirty="0">
                <a:solidFill>
                  <a:srgbClr val="475569"/>
                </a:solidFill>
                <a:latin typeface="Calibri" pitchFamily="34" charset="0"/>
                <a:ea typeface="Calibri" pitchFamily="34" charset="-122"/>
                <a:cs typeface="Calibri" pitchFamily="34" charset="-120"/>
              </a:rPr>
              <a:t>Truly sharp-edged points (e.g. a 2×2 pure-white star) have no falloff and can still be removed — an inherent edge case.</a:t>
            </a:r>
            <a:endParaRPr lang="en-US" sz="1450" dirty="0"/>
          </a:p>
          <a:p>
            <a:pPr marL="177800" indent="-177800">
              <a:spcAft>
                <a:spcPts val="700"/>
              </a:spcAft>
              <a:buSzPct val="100000"/>
              <a:buChar char="•"/>
            </a:pPr>
            <a:r>
              <a:rPr lang="en-US" sz="1450" dirty="0">
                <a:solidFill>
                  <a:srgbClr val="475569"/>
                </a:solidFill>
                <a:latin typeface="Calibri" pitchFamily="34" charset="0"/>
                <a:ea typeface="Calibri" pitchFamily="34" charset="-122"/>
                <a:cs typeface="Calibri" pitchFamily="34" charset="-120"/>
              </a:rPr>
              <a:t>Severe VAE collapse (large grid-like noise) exceeds a single max_noise_size and needs manual tuning.</a:t>
            </a:r>
            <a:endParaRPr lang="en-US" sz="1450" dirty="0"/>
          </a:p>
          <a:p>
            <a:pPr marL="177800" indent="-177800">
              <a:spcAft>
                <a:spcPts val="700"/>
              </a:spcAft>
              <a:buSzPct val="100000"/>
              <a:buChar char="•"/>
            </a:pPr>
            <a:r>
              <a:rPr lang="en-US" sz="1450" dirty="0">
                <a:solidFill>
                  <a:srgbClr val="475569"/>
                </a:solidFill>
                <a:latin typeface="Calibri" pitchFamily="34" charset="0"/>
                <a:ea typeface="Calibri" pitchFamily="34" charset="-122"/>
                <a:cs typeface="Calibri" pitchFamily="34" charset="-120"/>
              </a:rPr>
              <a:t>4K+ CCA / LAB loops cost extra CPU time (still typically within 1–2 s).</a:t>
            </a:r>
            <a:endParaRPr lang="en-US" sz="1450" dirty="0"/>
          </a:p>
        </p:txBody>
      </p:sp>
      <p:sp>
        <p:nvSpPr>
          <p:cNvPr id="12" name="Text 10"/>
          <p:cNvSpPr/>
          <p:nvPr/>
        </p:nvSpPr>
        <p:spPr>
          <a:xfrm>
            <a:off x="566928" y="6473952"/>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SDXL VAE Noise-Fix  ·  Traditional-CV ComfyUI Node</a:t>
            </a:r>
            <a:endParaRPr lang="en-US" sz="900" dirty="0"/>
          </a:p>
        </p:txBody>
      </p:sp>
      <p:sp>
        <p:nvSpPr>
          <p:cNvPr id="13" name="Text 11"/>
          <p:cNvSpPr/>
          <p:nvPr/>
        </p:nvSpPr>
        <p:spPr>
          <a:xfrm>
            <a:off x="11073384" y="6473952"/>
            <a:ext cx="54864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1E2A4A"/>
        </a:solidFill>
        <a:effectLst/>
      </p:bgPr>
    </p:bg>
    <p:spTree>
      <p:nvGrpSpPr>
        <p:cNvPr id="1" name=""/>
        <p:cNvGrpSpPr/>
        <p:nvPr/>
      </p:nvGrpSpPr>
      <p:grpSpPr>
        <a:xfrm>
          <a:off x="0" y="0"/>
          <a:ext cx="0" cy="0"/>
          <a:chOff x="0" y="0"/>
          <a:chExt cx="0" cy="0"/>
        </a:xfrm>
      </p:grpSpPr>
      <p:sp>
        <p:nvSpPr>
          <p:cNvPr id="2" name="Shape 0"/>
          <p:cNvSpPr/>
          <p:nvPr/>
        </p:nvSpPr>
        <p:spPr>
          <a:xfrm>
            <a:off x="566928" y="1371600"/>
            <a:ext cx="109728" cy="1371600"/>
          </a:xfrm>
          <a:prstGeom prst="rect">
            <a:avLst/>
          </a:prstGeom>
          <a:solidFill>
            <a:srgbClr val="059669"/>
          </a:solidFill>
          <a:ln/>
        </p:spPr>
        <p:txBody>
          <a:bodyPr/>
          <a:lstStyle/>
          <a:p>
            <a:endParaRPr lang="zh-TW" altLang="en-US"/>
          </a:p>
        </p:txBody>
      </p:sp>
      <p:sp>
        <p:nvSpPr>
          <p:cNvPr id="3" name="Text 1"/>
          <p:cNvSpPr/>
          <p:nvPr/>
        </p:nvSpPr>
        <p:spPr>
          <a:xfrm>
            <a:off x="841248" y="1371600"/>
            <a:ext cx="9144000" cy="310896"/>
          </a:xfrm>
          <a:prstGeom prst="rect">
            <a:avLst/>
          </a:prstGeom>
          <a:noFill/>
          <a:ln/>
        </p:spPr>
        <p:txBody>
          <a:bodyPr wrap="square" lIns="0" tIns="0" rIns="0" bIns="0" rtlCol="0" anchor="ctr"/>
          <a:lstStyle/>
          <a:p>
            <a:pPr marL="0" indent="0">
              <a:buNone/>
            </a:pPr>
            <a:r>
              <a:rPr lang="en-US" sz="1250" b="1" kern="0" spc="300" dirty="0">
                <a:solidFill>
                  <a:srgbClr val="9FB3D9"/>
                </a:solidFill>
                <a:latin typeface="Trebuchet MS" pitchFamily="34" charset="0"/>
                <a:ea typeface="Trebuchet MS" pitchFamily="34" charset="-122"/>
                <a:cs typeface="Trebuchet MS" pitchFamily="34" charset="-120"/>
              </a:rPr>
              <a:t>06 · CONCLUSION</a:t>
            </a:r>
            <a:endParaRPr lang="en-US" sz="1250" dirty="0"/>
          </a:p>
        </p:txBody>
      </p:sp>
      <p:sp>
        <p:nvSpPr>
          <p:cNvPr id="4" name="Text 2"/>
          <p:cNvSpPr/>
          <p:nvPr/>
        </p:nvSpPr>
        <p:spPr>
          <a:xfrm>
            <a:off x="841248" y="1682496"/>
            <a:ext cx="10515600" cy="731520"/>
          </a:xfrm>
          <a:prstGeom prst="rect">
            <a:avLst/>
          </a:prstGeom>
          <a:noFill/>
          <a:ln/>
        </p:spPr>
        <p:txBody>
          <a:bodyPr wrap="square" lIns="0" tIns="0" rIns="0" bIns="0" rtlCol="0" anchor="ctr"/>
          <a:lstStyle/>
          <a:p>
            <a:pPr marL="0" indent="0">
              <a:buNone/>
            </a:pPr>
            <a:r>
              <a:rPr lang="en-US" sz="3200" b="1" dirty="0">
                <a:solidFill>
                  <a:srgbClr val="FFFFFF"/>
                </a:solidFill>
                <a:latin typeface="Trebuchet MS" pitchFamily="34" charset="0"/>
                <a:ea typeface="Trebuchet MS" pitchFamily="34" charset="-122"/>
                <a:cs typeface="Trebuchet MS" pitchFamily="34" charset="-120"/>
              </a:rPr>
              <a:t>The Right Tool, Not the Trendiest One</a:t>
            </a:r>
            <a:endParaRPr lang="en-US" sz="3200" dirty="0"/>
          </a:p>
        </p:txBody>
      </p:sp>
      <p:sp>
        <p:nvSpPr>
          <p:cNvPr id="5" name="Text 3"/>
          <p:cNvSpPr/>
          <p:nvPr/>
        </p:nvSpPr>
        <p:spPr>
          <a:xfrm>
            <a:off x="841248" y="2487168"/>
            <a:ext cx="10241280" cy="731520"/>
          </a:xfrm>
          <a:prstGeom prst="rect">
            <a:avLst/>
          </a:prstGeom>
          <a:noFill/>
          <a:ln/>
        </p:spPr>
        <p:txBody>
          <a:bodyPr wrap="square" lIns="0" tIns="0" rIns="0" bIns="0" rtlCol="0" anchor="ctr"/>
          <a:lstStyle/>
          <a:p>
            <a:pPr marL="0" indent="0">
              <a:buNone/>
            </a:pPr>
            <a:r>
              <a:rPr lang="en-US" sz="1500" i="1" dirty="0">
                <a:solidFill>
                  <a:srgbClr val="CADCFC"/>
                </a:solidFill>
                <a:latin typeface="Calibri" pitchFamily="34" charset="0"/>
                <a:ea typeface="Calibri" pitchFamily="34" charset="-122"/>
                <a:cs typeface="Calibri" pitchFamily="34" charset="-120"/>
              </a:rPr>
              <a:t>A purpose-built classical-CV pipeline removes SDXL VAE spurious bright pixels in milliseconds, on the CPU, with zero model weights — preserving the detail a full diffusion repaint would erase.</a:t>
            </a:r>
            <a:endParaRPr lang="en-US" sz="1500" dirty="0"/>
          </a:p>
        </p:txBody>
      </p:sp>
      <p:sp>
        <p:nvSpPr>
          <p:cNvPr id="6" name="Shape 4"/>
          <p:cNvSpPr/>
          <p:nvPr/>
        </p:nvSpPr>
        <p:spPr>
          <a:xfrm>
            <a:off x="566928" y="3611880"/>
            <a:ext cx="3502152" cy="1554480"/>
          </a:xfrm>
          <a:prstGeom prst="rect">
            <a:avLst/>
          </a:prstGeom>
          <a:solidFill>
            <a:srgbClr val="2C3E66"/>
          </a:solidFill>
          <a:ln w="12700">
            <a:solidFill>
              <a:srgbClr val="3C517F"/>
            </a:solidFill>
            <a:prstDash val="solid"/>
          </a:ln>
        </p:spPr>
        <p:txBody>
          <a:bodyPr/>
          <a:lstStyle/>
          <a:p>
            <a:endParaRPr lang="zh-TW" altLang="en-US"/>
          </a:p>
        </p:txBody>
      </p:sp>
      <p:sp>
        <p:nvSpPr>
          <p:cNvPr id="7" name="Shape 5"/>
          <p:cNvSpPr/>
          <p:nvPr/>
        </p:nvSpPr>
        <p:spPr>
          <a:xfrm>
            <a:off x="566928" y="3611880"/>
            <a:ext cx="73152" cy="1554480"/>
          </a:xfrm>
          <a:prstGeom prst="rect">
            <a:avLst/>
          </a:prstGeom>
          <a:solidFill>
            <a:srgbClr val="059669"/>
          </a:solidFill>
          <a:ln/>
        </p:spPr>
        <p:txBody>
          <a:bodyPr/>
          <a:lstStyle/>
          <a:p>
            <a:endParaRPr lang="zh-TW" altLang="en-US"/>
          </a:p>
        </p:txBody>
      </p:sp>
      <p:sp>
        <p:nvSpPr>
          <p:cNvPr id="8" name="Text 6"/>
          <p:cNvSpPr/>
          <p:nvPr/>
        </p:nvSpPr>
        <p:spPr>
          <a:xfrm>
            <a:off x="786384" y="3758184"/>
            <a:ext cx="3136392" cy="237744"/>
          </a:xfrm>
          <a:prstGeom prst="rect">
            <a:avLst/>
          </a:prstGeom>
          <a:noFill/>
          <a:ln/>
        </p:spPr>
        <p:txBody>
          <a:bodyPr wrap="square" lIns="0" tIns="0" rIns="0" bIns="0" rtlCol="0" anchor="ctr"/>
          <a:lstStyle/>
          <a:p>
            <a:pPr marL="0" indent="0">
              <a:buNone/>
            </a:pPr>
            <a:r>
              <a:rPr lang="en-US" sz="950" b="1" kern="0" spc="150" dirty="0">
                <a:solidFill>
                  <a:srgbClr val="9FB3D9"/>
                </a:solidFill>
                <a:latin typeface="Trebuchet MS" pitchFamily="34" charset="0"/>
                <a:ea typeface="Trebuchet MS" pitchFamily="34" charset="-122"/>
                <a:cs typeface="Trebuchet MS" pitchFamily="34" charset="-120"/>
              </a:rPr>
              <a:t>FUTURE WORK</a:t>
            </a:r>
            <a:endParaRPr lang="en-US" sz="950" dirty="0"/>
          </a:p>
        </p:txBody>
      </p:sp>
      <p:sp>
        <p:nvSpPr>
          <p:cNvPr id="9" name="Text 7"/>
          <p:cNvSpPr/>
          <p:nvPr/>
        </p:nvSpPr>
        <p:spPr>
          <a:xfrm>
            <a:off x="786384" y="3995928"/>
            <a:ext cx="3090672" cy="384048"/>
          </a:xfrm>
          <a:prstGeom prst="rect">
            <a:avLst/>
          </a:prstGeom>
          <a:noFill/>
          <a:ln/>
        </p:spPr>
        <p:txBody>
          <a:bodyPr wrap="square" lIns="0" tIns="0" rIns="0" bIns="0" rtlCol="0" anchor="ctr"/>
          <a:lstStyle/>
          <a:p>
            <a:pPr marL="0" indent="0">
              <a:buNone/>
            </a:pPr>
            <a:r>
              <a:rPr lang="en-US" sz="1450" b="1" dirty="0">
                <a:solidFill>
                  <a:srgbClr val="FFFFFF"/>
                </a:solidFill>
                <a:latin typeface="Trebuchet MS" pitchFamily="34" charset="0"/>
                <a:ea typeface="Trebuchet MS" pitchFamily="34" charset="-122"/>
                <a:cs typeface="Trebuchet MS" pitchFamily="34" charset="-120"/>
              </a:rPr>
              <a:t>Adaptive sensitivity</a:t>
            </a:r>
            <a:endParaRPr lang="en-US" sz="1450" dirty="0"/>
          </a:p>
        </p:txBody>
      </p:sp>
      <p:sp>
        <p:nvSpPr>
          <p:cNvPr id="10" name="Text 8"/>
          <p:cNvSpPr/>
          <p:nvPr/>
        </p:nvSpPr>
        <p:spPr>
          <a:xfrm>
            <a:off x="786384" y="4398264"/>
            <a:ext cx="3090672" cy="713232"/>
          </a:xfrm>
          <a:prstGeom prst="rect">
            <a:avLst/>
          </a:prstGeom>
          <a:noFill/>
          <a:ln/>
        </p:spPr>
        <p:txBody>
          <a:bodyPr wrap="square" lIns="0" tIns="0" rIns="0" bIns="0" rtlCol="0" anchor="t"/>
          <a:lstStyle/>
          <a:p>
            <a:pPr marL="0" indent="0">
              <a:buNone/>
            </a:pPr>
            <a:r>
              <a:rPr lang="en-US" sz="1150" dirty="0">
                <a:solidFill>
                  <a:srgbClr val="CADCFC"/>
                </a:solidFill>
                <a:latin typeface="Calibri" pitchFamily="34" charset="0"/>
                <a:ea typeface="Calibri" pitchFamily="34" charset="-122"/>
                <a:cs typeface="Calibri" pitchFamily="34" charset="-120"/>
              </a:rPr>
              <a:t>Per-region thresholds so star fields and dark portraits coexist in one pass.</a:t>
            </a:r>
            <a:endParaRPr lang="en-US" sz="1150" dirty="0"/>
          </a:p>
        </p:txBody>
      </p:sp>
      <p:sp>
        <p:nvSpPr>
          <p:cNvPr id="11" name="Shape 9"/>
          <p:cNvSpPr/>
          <p:nvPr/>
        </p:nvSpPr>
        <p:spPr>
          <a:xfrm>
            <a:off x="4343400" y="3611880"/>
            <a:ext cx="3502152" cy="1554480"/>
          </a:xfrm>
          <a:prstGeom prst="rect">
            <a:avLst/>
          </a:prstGeom>
          <a:solidFill>
            <a:srgbClr val="2C3E66"/>
          </a:solidFill>
          <a:ln w="12700">
            <a:solidFill>
              <a:srgbClr val="3C517F"/>
            </a:solidFill>
            <a:prstDash val="solid"/>
          </a:ln>
        </p:spPr>
        <p:txBody>
          <a:bodyPr/>
          <a:lstStyle/>
          <a:p>
            <a:endParaRPr lang="zh-TW" altLang="en-US"/>
          </a:p>
        </p:txBody>
      </p:sp>
      <p:sp>
        <p:nvSpPr>
          <p:cNvPr id="12" name="Shape 10"/>
          <p:cNvSpPr/>
          <p:nvPr/>
        </p:nvSpPr>
        <p:spPr>
          <a:xfrm>
            <a:off x="4343400" y="3611880"/>
            <a:ext cx="73152" cy="1554480"/>
          </a:xfrm>
          <a:prstGeom prst="rect">
            <a:avLst/>
          </a:prstGeom>
          <a:solidFill>
            <a:srgbClr val="059669"/>
          </a:solidFill>
          <a:ln/>
        </p:spPr>
        <p:txBody>
          <a:bodyPr/>
          <a:lstStyle/>
          <a:p>
            <a:endParaRPr lang="zh-TW" altLang="en-US"/>
          </a:p>
        </p:txBody>
      </p:sp>
      <p:sp>
        <p:nvSpPr>
          <p:cNvPr id="13" name="Text 11"/>
          <p:cNvSpPr/>
          <p:nvPr/>
        </p:nvSpPr>
        <p:spPr>
          <a:xfrm>
            <a:off x="4562856" y="3758184"/>
            <a:ext cx="3136392" cy="237744"/>
          </a:xfrm>
          <a:prstGeom prst="rect">
            <a:avLst/>
          </a:prstGeom>
          <a:noFill/>
          <a:ln/>
        </p:spPr>
        <p:txBody>
          <a:bodyPr wrap="square" lIns="0" tIns="0" rIns="0" bIns="0" rtlCol="0" anchor="ctr"/>
          <a:lstStyle/>
          <a:p>
            <a:pPr marL="0" indent="0">
              <a:buNone/>
            </a:pPr>
            <a:r>
              <a:rPr lang="en-US" sz="950" b="1" kern="0" spc="150" dirty="0">
                <a:solidFill>
                  <a:srgbClr val="9FB3D9"/>
                </a:solidFill>
                <a:latin typeface="Trebuchet MS" pitchFamily="34" charset="0"/>
                <a:ea typeface="Trebuchet MS" pitchFamily="34" charset="-122"/>
                <a:cs typeface="Trebuchet MS" pitchFamily="34" charset="-120"/>
              </a:rPr>
              <a:t>FUTURE WORK</a:t>
            </a:r>
            <a:endParaRPr lang="en-US" sz="950" dirty="0"/>
          </a:p>
        </p:txBody>
      </p:sp>
      <p:sp>
        <p:nvSpPr>
          <p:cNvPr id="14" name="Text 12"/>
          <p:cNvSpPr/>
          <p:nvPr/>
        </p:nvSpPr>
        <p:spPr>
          <a:xfrm>
            <a:off x="4562856" y="3995928"/>
            <a:ext cx="3090672" cy="384048"/>
          </a:xfrm>
          <a:prstGeom prst="rect">
            <a:avLst/>
          </a:prstGeom>
          <a:noFill/>
          <a:ln/>
        </p:spPr>
        <p:txBody>
          <a:bodyPr wrap="square" lIns="0" tIns="0" rIns="0" bIns="0" rtlCol="0" anchor="ctr"/>
          <a:lstStyle/>
          <a:p>
            <a:pPr marL="0" indent="0">
              <a:buNone/>
            </a:pPr>
            <a:r>
              <a:rPr lang="en-US" sz="1450" b="1" dirty="0">
                <a:solidFill>
                  <a:srgbClr val="FFFFFF"/>
                </a:solidFill>
                <a:latin typeface="Trebuchet MS" pitchFamily="34" charset="0"/>
                <a:ea typeface="Trebuchet MS" pitchFamily="34" charset="-122"/>
                <a:cs typeface="Trebuchet MS" pitchFamily="34" charset="-120"/>
              </a:rPr>
              <a:t>Temporal consistency</a:t>
            </a:r>
            <a:endParaRPr lang="en-US" sz="1450" dirty="0"/>
          </a:p>
        </p:txBody>
      </p:sp>
      <p:sp>
        <p:nvSpPr>
          <p:cNvPr id="15" name="Text 13"/>
          <p:cNvSpPr/>
          <p:nvPr/>
        </p:nvSpPr>
        <p:spPr>
          <a:xfrm>
            <a:off x="4562856" y="4398264"/>
            <a:ext cx="3090672" cy="713232"/>
          </a:xfrm>
          <a:prstGeom prst="rect">
            <a:avLst/>
          </a:prstGeom>
          <a:noFill/>
          <a:ln/>
        </p:spPr>
        <p:txBody>
          <a:bodyPr wrap="square" lIns="0" tIns="0" rIns="0" bIns="0" rtlCol="0" anchor="t"/>
          <a:lstStyle/>
          <a:p>
            <a:pPr marL="0" indent="0">
              <a:buNone/>
            </a:pPr>
            <a:r>
              <a:rPr lang="en-US" sz="1150" dirty="0">
                <a:solidFill>
                  <a:srgbClr val="CADCFC"/>
                </a:solidFill>
                <a:latin typeface="Calibri" pitchFamily="34" charset="0"/>
                <a:ea typeface="Calibri" pitchFamily="34" charset="-122"/>
                <a:cs typeface="Calibri" pitchFamily="34" charset="-120"/>
              </a:rPr>
              <a:t>Frame-to-frame coherence for video / animation sequences.</a:t>
            </a:r>
            <a:endParaRPr lang="en-US" sz="1150" dirty="0"/>
          </a:p>
        </p:txBody>
      </p:sp>
      <p:sp>
        <p:nvSpPr>
          <p:cNvPr id="16" name="Shape 14"/>
          <p:cNvSpPr/>
          <p:nvPr/>
        </p:nvSpPr>
        <p:spPr>
          <a:xfrm>
            <a:off x="8119872" y="3611880"/>
            <a:ext cx="3502152" cy="1554480"/>
          </a:xfrm>
          <a:prstGeom prst="rect">
            <a:avLst/>
          </a:prstGeom>
          <a:solidFill>
            <a:srgbClr val="2C3E66"/>
          </a:solidFill>
          <a:ln w="12700">
            <a:solidFill>
              <a:srgbClr val="3C517F"/>
            </a:solidFill>
            <a:prstDash val="solid"/>
          </a:ln>
        </p:spPr>
        <p:txBody>
          <a:bodyPr/>
          <a:lstStyle/>
          <a:p>
            <a:endParaRPr lang="zh-TW" altLang="en-US"/>
          </a:p>
        </p:txBody>
      </p:sp>
      <p:sp>
        <p:nvSpPr>
          <p:cNvPr id="17" name="Shape 15"/>
          <p:cNvSpPr/>
          <p:nvPr/>
        </p:nvSpPr>
        <p:spPr>
          <a:xfrm>
            <a:off x="8119872" y="3611880"/>
            <a:ext cx="73152" cy="1554480"/>
          </a:xfrm>
          <a:prstGeom prst="rect">
            <a:avLst/>
          </a:prstGeom>
          <a:solidFill>
            <a:srgbClr val="059669"/>
          </a:solidFill>
          <a:ln/>
        </p:spPr>
        <p:txBody>
          <a:bodyPr/>
          <a:lstStyle/>
          <a:p>
            <a:endParaRPr lang="zh-TW" altLang="en-US"/>
          </a:p>
        </p:txBody>
      </p:sp>
      <p:sp>
        <p:nvSpPr>
          <p:cNvPr id="18" name="Text 16"/>
          <p:cNvSpPr/>
          <p:nvPr/>
        </p:nvSpPr>
        <p:spPr>
          <a:xfrm>
            <a:off x="8339328" y="3758184"/>
            <a:ext cx="3136392" cy="237744"/>
          </a:xfrm>
          <a:prstGeom prst="rect">
            <a:avLst/>
          </a:prstGeom>
          <a:noFill/>
          <a:ln/>
        </p:spPr>
        <p:txBody>
          <a:bodyPr wrap="square" lIns="0" tIns="0" rIns="0" bIns="0" rtlCol="0" anchor="ctr"/>
          <a:lstStyle/>
          <a:p>
            <a:pPr marL="0" indent="0">
              <a:buNone/>
            </a:pPr>
            <a:r>
              <a:rPr lang="en-US" sz="950" b="1" kern="0" spc="150" dirty="0">
                <a:solidFill>
                  <a:srgbClr val="9FB3D9"/>
                </a:solidFill>
                <a:latin typeface="Trebuchet MS" pitchFamily="34" charset="0"/>
                <a:ea typeface="Trebuchet MS" pitchFamily="34" charset="-122"/>
                <a:cs typeface="Trebuchet MS" pitchFamily="34" charset="-120"/>
              </a:rPr>
              <a:t>FUTURE WORK</a:t>
            </a:r>
            <a:endParaRPr lang="en-US" sz="950" dirty="0"/>
          </a:p>
        </p:txBody>
      </p:sp>
      <p:sp>
        <p:nvSpPr>
          <p:cNvPr id="19" name="Text 17"/>
          <p:cNvSpPr/>
          <p:nvPr/>
        </p:nvSpPr>
        <p:spPr>
          <a:xfrm>
            <a:off x="8339328" y="3995928"/>
            <a:ext cx="3090672" cy="384048"/>
          </a:xfrm>
          <a:prstGeom prst="rect">
            <a:avLst/>
          </a:prstGeom>
          <a:noFill/>
          <a:ln/>
        </p:spPr>
        <p:txBody>
          <a:bodyPr wrap="square" lIns="0" tIns="0" rIns="0" bIns="0" rtlCol="0" anchor="ctr"/>
          <a:lstStyle/>
          <a:p>
            <a:pPr marL="0" indent="0">
              <a:buNone/>
            </a:pPr>
            <a:r>
              <a:rPr lang="en-US" sz="1450" b="1" dirty="0">
                <a:solidFill>
                  <a:srgbClr val="FFFFFF"/>
                </a:solidFill>
                <a:latin typeface="Trebuchet MS" pitchFamily="34" charset="0"/>
                <a:ea typeface="Trebuchet MS" pitchFamily="34" charset="-122"/>
                <a:cs typeface="Trebuchet MS" pitchFamily="34" charset="-120"/>
              </a:rPr>
              <a:t>Optional learned fallback</a:t>
            </a:r>
            <a:endParaRPr lang="en-US" sz="1450" dirty="0"/>
          </a:p>
        </p:txBody>
      </p:sp>
      <p:sp>
        <p:nvSpPr>
          <p:cNvPr id="20" name="Text 18"/>
          <p:cNvSpPr/>
          <p:nvPr/>
        </p:nvSpPr>
        <p:spPr>
          <a:xfrm>
            <a:off x="8339328" y="4398264"/>
            <a:ext cx="3090672" cy="713232"/>
          </a:xfrm>
          <a:prstGeom prst="rect">
            <a:avLst/>
          </a:prstGeom>
          <a:noFill/>
          <a:ln/>
        </p:spPr>
        <p:txBody>
          <a:bodyPr wrap="square" lIns="0" tIns="0" rIns="0" bIns="0" rtlCol="0" anchor="t"/>
          <a:lstStyle/>
          <a:p>
            <a:pPr marL="0" indent="0">
              <a:buNone/>
            </a:pPr>
            <a:r>
              <a:rPr lang="en-US" sz="1150" dirty="0">
                <a:solidFill>
                  <a:srgbClr val="CADCFC"/>
                </a:solidFill>
                <a:latin typeface="Calibri" pitchFamily="34" charset="0"/>
                <a:ea typeface="Calibri" pitchFamily="34" charset="-122"/>
                <a:cs typeface="Calibri" pitchFamily="34" charset="-120"/>
              </a:rPr>
              <a:t>A tiny model only for severe, large-area VAE collapse.</a:t>
            </a:r>
            <a:endParaRPr lang="en-US" sz="1150" dirty="0"/>
          </a:p>
        </p:txBody>
      </p:sp>
      <p:sp>
        <p:nvSpPr>
          <p:cNvPr id="21" name="Text 19"/>
          <p:cNvSpPr/>
          <p:nvPr/>
        </p:nvSpPr>
        <p:spPr>
          <a:xfrm>
            <a:off x="841248" y="5532120"/>
            <a:ext cx="7315200" cy="548640"/>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Thank you  ·  Questions?</a:t>
            </a:r>
            <a:endParaRPr lang="en-US" sz="2200" dirty="0"/>
          </a:p>
        </p:txBody>
      </p:sp>
      <p:sp>
        <p:nvSpPr>
          <p:cNvPr id="22" name="Text 20"/>
          <p:cNvSpPr/>
          <p:nvPr/>
        </p:nvSpPr>
        <p:spPr>
          <a:xfrm>
            <a:off x="7050024" y="5669280"/>
            <a:ext cx="4572000" cy="365760"/>
          </a:xfrm>
          <a:prstGeom prst="rect">
            <a:avLst/>
          </a:prstGeom>
          <a:noFill/>
          <a:ln/>
        </p:spPr>
        <p:txBody>
          <a:bodyPr wrap="square" lIns="0" tIns="0" rIns="0" bIns="0" rtlCol="0" anchor="ctr"/>
          <a:lstStyle/>
          <a:p>
            <a:pPr marL="0" indent="0" algn="r">
              <a:buNone/>
            </a:pPr>
            <a:r>
              <a:rPr lang="en-US" sz="1200" dirty="0">
                <a:solidFill>
                  <a:srgbClr val="9FB3D9"/>
                </a:solidFill>
                <a:latin typeface="Calibri" pitchFamily="34" charset="0"/>
                <a:ea typeface="Calibri" pitchFamily="34" charset="-122"/>
                <a:cs typeface="Calibri" pitchFamily="34" charset="-120"/>
              </a:rPr>
              <a:t>Phecda  ·  NYCU  ·  Spring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235</TotalTime>
  <Words>1956</Words>
  <Application>Microsoft Office PowerPoint</Application>
  <PresentationFormat>寬螢幕</PresentationFormat>
  <Paragraphs>177</Paragraphs>
  <Slides>10</Slides>
  <Notes>10</Notes>
  <HiddenSlides>0</HiddenSlides>
  <MMClips>0</MMClips>
  <ScaleCrop>false</ScaleCrop>
  <HeadingPairs>
    <vt:vector size="6" baseType="variant">
      <vt:variant>
        <vt:lpstr>使用字型</vt:lpstr>
      </vt:variant>
      <vt:variant>
        <vt:i4>4</vt:i4>
      </vt:variant>
      <vt:variant>
        <vt:lpstr>佈景主題</vt:lpstr>
      </vt:variant>
      <vt:variant>
        <vt:i4>1</vt:i4>
      </vt:variant>
      <vt:variant>
        <vt:lpstr>投影片標題</vt:lpstr>
      </vt:variant>
      <vt:variant>
        <vt:i4>10</vt:i4>
      </vt:variant>
    </vt:vector>
  </HeadingPairs>
  <TitlesOfParts>
    <vt:vector size="15" baseType="lpstr">
      <vt:lpstr>Arial</vt:lpstr>
      <vt:lpstr>Calibri</vt:lpstr>
      <vt:lpstr>Courier New</vt:lpstr>
      <vt:lpstr>Trebuchet MS</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Fixing SDXL VAE Spurious Bright Pixels</dc:title>
  <dc:subject>PptxGenJS Presentation</dc:subject>
  <dc:creator>Phecda</dc:creator>
  <cp:lastModifiedBy>范家齊</cp:lastModifiedBy>
  <cp:revision>11</cp:revision>
  <dcterms:created xsi:type="dcterms:W3CDTF">2026-05-21T13:14:37Z</dcterms:created>
  <dcterms:modified xsi:type="dcterms:W3CDTF">2026-05-25T13:11:39Z</dcterms:modified>
</cp:coreProperties>
</file>