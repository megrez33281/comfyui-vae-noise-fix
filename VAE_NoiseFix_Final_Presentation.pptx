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9" r:id="rId4"/>
    <p:sldId id="260" r:id="rId5"/>
    <p:sldId id="261" r:id="rId6"/>
    <p:sldId id="263" r:id="rId7"/>
    <p:sldId id="264"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62" autoAdjust="0"/>
    <p:restoredTop sz="83882" autoAdjust="0"/>
  </p:normalViewPr>
  <p:slideViewPr>
    <p:cSldViewPr snapToGrid="0" snapToObjects="1">
      <p:cViewPr varScale="1">
        <p:scale>
          <a:sx n="90" d="100"/>
          <a:sy n="90" d="100"/>
        </p:scale>
        <p:origin x="29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610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The problem I’m solving is a specific SDXL artifact. </a:t>
            </a:r>
          </a:p>
          <a:p>
            <a:r>
              <a:rPr lang="en-US" altLang="zh-TW" dirty="0"/>
              <a:t>The root cause is a bandwidth bottleneck. </a:t>
            </a:r>
          </a:p>
          <a:p>
            <a:r>
              <a:rPr lang="en-US" altLang="zh-TW" dirty="0"/>
              <a:t>The VAE has to squeeze </a:t>
            </a:r>
            <a:r>
              <a:rPr lang="en-US" altLang="zh-TW" dirty="0" err="1"/>
              <a:t>latents</a:t>
            </a:r>
            <a:r>
              <a:rPr lang="en-US" altLang="zh-TW" dirty="0"/>
              <a:t> through an 8 times compression with just four channels. </a:t>
            </a:r>
          </a:p>
          <a:p>
            <a:r>
              <a:rPr lang="en-US" altLang="zh-TW" dirty="0"/>
              <a:t>When use a high CFG scale, it pushes </a:t>
            </a:r>
            <a:r>
              <a:rPr lang="en-US" altLang="zh-TW" dirty="0" err="1"/>
              <a:t>latents</a:t>
            </a:r>
            <a:r>
              <a:rPr lang="en-US" altLang="zh-TW" dirty="0"/>
              <a:t> out of distribution, causing the final layers to clip them. </a:t>
            </a:r>
          </a:p>
          <a:p>
            <a:r>
              <a:rPr lang="en-US" altLang="zh-TW" dirty="0"/>
              <a:t>These isolated dead pixels appear as white, black, or pure color dots, </a:t>
            </a:r>
            <a:r>
              <a:rPr lang="en-US" altLang="zh-TW" b="1" dirty="0"/>
              <a:t>and they are especially noticeable in dark areas.</a:t>
            </a:r>
            <a:endParaRPr lang="en-US" altLang="zh-TW" dirty="0"/>
          </a:p>
          <a:p>
            <a:r>
              <a:rPr lang="en-US" altLang="zh-TW" dirty="0"/>
              <a:t>Although these pixels cover less than one percent of the image, </a:t>
            </a:r>
            <a:r>
              <a:rPr lang="en-US" altLang="zh-TW" b="1" dirty="0"/>
              <a:t>fixing them manually is incredibly tedious, and using a model to repair them is far too computationally expensive.</a:t>
            </a:r>
          </a:p>
          <a:p>
            <a:r>
              <a:rPr lang="en-US" altLang="zh-TW" dirty="0"/>
              <a:t>The goal of this project is to locate and repair these pixels using traditional algorithms without relying on any models, solving the issue at a much lower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整個系統分成三個步驟</a:t>
            </a:r>
            <a:endParaRPr lang="en-US" altLang="zh-TW" dirty="0"/>
          </a:p>
          <a:p>
            <a:r>
              <a:rPr lang="zh-TW" altLang="en-US" dirty="0"/>
              <a:t>一、用拉普拉斯加</a:t>
            </a:r>
            <a:r>
              <a:rPr lang="en-US" altLang="zh-TW" sz="1200" dirty="0"/>
              <a:t>Median</a:t>
            </a:r>
            <a:r>
              <a:rPr lang="zh-TW" altLang="en-US" sz="1200" dirty="0"/>
              <a:t> </a:t>
            </a:r>
            <a:r>
              <a:rPr lang="en-US" altLang="zh-TW" sz="1200" dirty="0"/>
              <a:t>Residual</a:t>
            </a:r>
            <a:r>
              <a:rPr lang="zh-TW" altLang="en-US" sz="1200" dirty="0"/>
              <a:t>以</a:t>
            </a:r>
            <a:r>
              <a:rPr lang="zh-TW" altLang="en-US" dirty="0"/>
              <a:t>亮度作為閾值找出候選像素，再透過</a:t>
            </a:r>
            <a:r>
              <a:rPr lang="en-US" altLang="zh-TW" dirty="0"/>
              <a:t>CCA</a:t>
            </a:r>
            <a:r>
              <a:rPr lang="zh-TW" altLang="en-US" dirty="0"/>
              <a:t>與方差過濾去除誤報，得到精準遮罩；</a:t>
            </a:r>
          </a:p>
          <a:p>
            <a:pPr rtl="0"/>
            <a:r>
              <a:rPr lang="zh-TW" altLang="en-US" dirty="0"/>
              <a:t>二、交給</a:t>
            </a:r>
            <a:r>
              <a:rPr lang="en-US" altLang="zh-TW" dirty="0" err="1"/>
              <a:t>Telea</a:t>
            </a:r>
            <a:r>
              <a:rPr lang="zh-TW" altLang="en-US" dirty="0"/>
              <a:t> </a:t>
            </a:r>
            <a:r>
              <a:rPr lang="en-US" altLang="zh-TW" dirty="0"/>
              <a:t>FMM</a:t>
            </a:r>
            <a:r>
              <a:rPr lang="zh-TW" altLang="en-US" dirty="0"/>
              <a:t>進行修補 </a:t>
            </a:r>
            <a:r>
              <a:rPr lang="en-US" altLang="zh-TW" dirty="0" err="1"/>
              <a:t>Telea</a:t>
            </a:r>
            <a:r>
              <a:rPr lang="en-US" altLang="zh-TW" dirty="0"/>
              <a:t> FMM is a method that </a:t>
            </a:r>
            <a:r>
              <a:rPr lang="en-US" altLang="zh-TW" sz="1200" b="0" i="0" kern="1200" dirty="0">
                <a:solidFill>
                  <a:schemeClr val="tx1"/>
                </a:solidFill>
                <a:effectLst/>
                <a:latin typeface="+mn-lt"/>
                <a:ea typeface="+mn-ea"/>
                <a:cs typeface="+mn-cs"/>
              </a:rPr>
              <a:t>Repair from the edge</a:t>
            </a:r>
            <a:r>
              <a:rPr lang="zh-TW" altLang="en-US" dirty="0"/>
              <a:t>；</a:t>
            </a:r>
          </a:p>
          <a:p>
            <a:r>
              <a:rPr lang="zh-TW" altLang="en-US" dirty="0"/>
              <a:t>三、提供帶紅色遮罩預覽的</a:t>
            </a:r>
            <a:r>
              <a:rPr lang="en-US" altLang="zh-TW" dirty="0"/>
              <a:t>GUI</a:t>
            </a:r>
            <a:r>
              <a:rPr lang="zh-TW" altLang="en-US" dirty="0"/>
              <a:t>供即時參數調整甚至讓使用者對遮罩進行編輯；</a:t>
            </a:r>
            <a:endParaRPr lang="en-US" altLang="zh-TW" dirty="0"/>
          </a:p>
          <a:p>
            <a:endParaRPr lang="zh-TW" altLang="en-US" dirty="0"/>
          </a:p>
          <a:p>
            <a:r>
              <a:rPr lang="en-US" altLang="zh-TW" dirty="0"/>
              <a:t>The whole system breaks down into three steps.</a:t>
            </a:r>
          </a:p>
          <a:p>
            <a:r>
              <a:rPr lang="en-US" altLang="zh-TW" dirty="0"/>
              <a:t>First, artifact detection. We use the Laplacian and the median residual together, with a brightness threshold, to find the candidate pixels. </a:t>
            </a:r>
          </a:p>
          <a:p>
            <a:r>
              <a:rPr lang="en-US" altLang="zh-TW" dirty="0"/>
              <a:t>Second, repair. We hand that mask to </a:t>
            </a:r>
            <a:r>
              <a:rPr lang="en-US" altLang="zh-TW" dirty="0" err="1"/>
              <a:t>Telea's</a:t>
            </a:r>
            <a:r>
              <a:rPr lang="en-US" altLang="zh-TW" dirty="0"/>
              <a:t> Fast Marching Method, which fills the masked regions using the surrounding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Third, an interactive GUI. It offer</a:t>
            </a:r>
            <a:r>
              <a:rPr lang="zh-TW" altLang="en-US" dirty="0"/>
              <a:t> </a:t>
            </a:r>
            <a:r>
              <a:rPr lang="en-US" altLang="zh-TW" dirty="0"/>
              <a:t>a red mask overlay preview so we can edit the mask by hand to add, remove, or refine regions to </a:t>
            </a:r>
            <a:r>
              <a:rPr lang="en-US" altLang="zh-TW" sz="1200" b="0" i="0" kern="1200" dirty="0">
                <a:solidFill>
                  <a:schemeClr val="tx1"/>
                </a:solidFill>
                <a:effectLst/>
                <a:latin typeface="+mn-lt"/>
                <a:ea typeface="+mn-ea"/>
                <a:cs typeface="+mn-cs"/>
              </a:rPr>
              <a:t>avoid omissions or false positives.</a:t>
            </a:r>
            <a:endParaRPr lang="en-US" altLang="zh-TW" dirty="0"/>
          </a:p>
          <a:p>
            <a:r>
              <a:rPr lang="en-US" altLang="zh-TW" dirty="0"/>
              <a:t>Since most of this builds on the related work we already covered, I will keep it brief and move on to how the detection actually works.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For example, what would be the size of these noises in the image, or what area would be used to cover them after their location is found?</a:t>
            </a:r>
            <a:endParaRPr lang="en-US" dirty="0"/>
          </a:p>
          <a:p>
            <a:r>
              <a:rPr lang="zh-TW" altLang="en-US" dirty="0"/>
              <a:t>調整：</a:t>
            </a:r>
            <a:r>
              <a:rPr lang="en-US" dirty="0"/>
              <a:t>adjust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Next, let me explain the detection logic in this project.</a:t>
            </a:r>
          </a:p>
          <a:p>
            <a:r>
              <a:rPr lang="en-US" altLang="zh-TW" dirty="0"/>
              <a:t>We start from the input image on the far left, and it enters two paths at the same time.</a:t>
            </a:r>
          </a:p>
          <a:p>
            <a:r>
              <a:rPr lang="en-US" altLang="zh-TW" dirty="0"/>
              <a:t>The top one is the Laplacian path, which looks for sharp pixel cues. We first convert the image to grayscale, apply a Laplacian filter, and get an edge energy map. The Laplacian reacts to how sharply the brightness changes, so it fires strongly wherever a pixel differs greatly in luminance from its neighbors. </a:t>
            </a:r>
          </a:p>
          <a:p>
            <a:r>
              <a:rPr lang="en-US" altLang="zh-TW" dirty="0"/>
              <a:t>That is exactly why it is good at catching the hard, sharp dead pixels, whether they are pure white on a dark area or pure black on a bright one, because both are a steep brightness jump.</a:t>
            </a:r>
          </a:p>
          <a:p>
            <a:r>
              <a:rPr lang="en-US" altLang="zh-TW" dirty="0"/>
              <a:t>The bottom one is the median residual path, which looks for color cues. </a:t>
            </a:r>
          </a:p>
          <a:p>
            <a:r>
              <a:rPr lang="en-US" altLang="zh-TW" dirty="0"/>
              <a:t>We first apply a median blur, then subtract it from the original to get the residual, and finally keep the strongest color channel. </a:t>
            </a:r>
          </a:p>
          <a:p>
            <a:r>
              <a:rPr lang="en-US" altLang="zh-TW" dirty="0"/>
              <a:t>Because a median blur ignores lone extreme pixels, this path responds to the smooth blotches that simply do not match the background color, such as the purple and green bleed, and that is the kind of artifact the Laplacian path tends to miss.</a:t>
            </a:r>
          </a:p>
          <a:p>
            <a:r>
              <a:rPr lang="en-US" altLang="zh-TW" dirty="0"/>
              <a:t>The results from both paths are then merged into a single set of candidate pixels.</a:t>
            </a:r>
          </a:p>
          <a:p>
            <a:r>
              <a:rPr lang="en-US" altLang="zh-TW" dirty="0"/>
              <a:t>After that, we use two different thresholds to obtain two things. </a:t>
            </a:r>
          </a:p>
          <a:p>
            <a:r>
              <a:rPr lang="en-US" altLang="zh-TW" dirty="0"/>
              <a:t>The strict threshold asks whether there is a real high energy core here, which lets us pinpoint the precise location of the noise. </a:t>
            </a:r>
          </a:p>
          <a:p>
            <a:r>
              <a:rPr lang="en-US" altLang="zh-TW" dirty="0"/>
              <a:t>The loose threshold asks how far the noise actually extends, which lets us define the extent of the repair mask.</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劇烈的：</a:t>
            </a:r>
            <a:r>
              <a:rPr lang="en-US" altLang="zh-TW" sz="1200" b="0" i="0" kern="1200" dirty="0">
                <a:solidFill>
                  <a:schemeClr val="tx1"/>
                </a:solidFill>
                <a:effectLst/>
                <a:latin typeface="+mn-lt"/>
                <a:ea typeface="+mn-ea"/>
                <a:cs typeface="+mn-cs"/>
              </a:rPr>
              <a:t>drastic</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被認為：</a:t>
            </a:r>
            <a:r>
              <a:rPr lang="en-US" altLang="zh-TW" sz="1200" b="0" i="0" kern="1200" dirty="0">
                <a:solidFill>
                  <a:schemeClr val="tx1"/>
                </a:solidFill>
                <a:effectLst/>
                <a:latin typeface="+mn-lt"/>
                <a:ea typeface="+mn-ea"/>
                <a:cs typeface="+mn-cs"/>
              </a:rPr>
              <a:t>be considered 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kern="1200" dirty="0">
              <a:solidFill>
                <a:schemeClr val="tx1"/>
              </a:solidFill>
              <a:effectLst/>
              <a:latin typeface="+mn-lt"/>
              <a:ea typeface="+mn-ea"/>
              <a:cs typeface="+mn-cs"/>
            </a:endParaRPr>
          </a:p>
          <a:p>
            <a:endParaRPr lang="en-US" altLang="zh-TW" dirty="0"/>
          </a:p>
          <a:p>
            <a:endParaRPr lang="en-US" altLang="zh-TW" dirty="0"/>
          </a:p>
          <a:p>
            <a:r>
              <a:rPr lang="zh-TW" altLang="en-US" dirty="0"/>
              <a:t>接下來說明專案中的偵測邏輯。</a:t>
            </a:r>
          </a:p>
          <a:p>
            <a:r>
              <a:rPr lang="zh-TW" altLang="en-US" dirty="0"/>
              <a:t>從最左邊的輸入影像開始，它會同時進入兩條路徑。</a:t>
            </a:r>
          </a:p>
          <a:p>
            <a:r>
              <a:rPr lang="zh-TW" altLang="en-US" dirty="0"/>
              <a:t>上面的是 </a:t>
            </a:r>
            <a:r>
              <a:rPr lang="en-US" altLang="zh-TW" dirty="0"/>
              <a:t>Laplacian </a:t>
            </a:r>
            <a:r>
              <a:rPr lang="zh-TW" altLang="en-US" dirty="0"/>
              <a:t>路徑，負責抓「銳利的像素線索」。</a:t>
            </a:r>
            <a:endParaRPr lang="en-US" altLang="zh-TW" dirty="0"/>
          </a:p>
          <a:p>
            <a:r>
              <a:rPr lang="zh-TW" altLang="en-US" dirty="0"/>
              <a:t>先把影像轉成灰階，套用 </a:t>
            </a:r>
            <a:r>
              <a:rPr lang="en-US" altLang="zh-TW" dirty="0"/>
              <a:t>Laplacian </a:t>
            </a:r>
            <a:r>
              <a:rPr lang="zh-TW" altLang="en-US" dirty="0"/>
              <a:t>濾鏡，得到一張邊緣能量圖。這條路徑會在某個像素跟周圍鄰居差異很大的地方產生強烈反應，所以它特別擅長抓那種又硬又銳利的死點。</a:t>
            </a:r>
          </a:p>
          <a:p>
            <a:r>
              <a:rPr lang="zh-TW" altLang="en-US" dirty="0"/>
              <a:t>下面這條是中值殘差路徑，負責抓「顏色線索」。先做中值模糊，再用原圖減掉它得到殘差，然後取反應最強的色彩通道。</a:t>
            </a:r>
            <a:endParaRPr lang="en-US" altLang="zh-TW" dirty="0"/>
          </a:p>
          <a:p>
            <a:r>
              <a:rPr lang="zh-TW" altLang="en-US" dirty="0"/>
              <a:t>因為中值模糊會忽略掉單一的極端像素，所以這條路徑會在那種平滑、跟背景顏色格格不入的色塊上有反應，例如紫色、綠色的溢色，而這正是 </a:t>
            </a:r>
            <a:r>
              <a:rPr lang="en-US" altLang="zh-TW" dirty="0"/>
              <a:t>Laplacian </a:t>
            </a:r>
            <a:r>
              <a:rPr lang="zh-TW" altLang="en-US" dirty="0"/>
              <a:t>容易漏掉的部分。</a:t>
            </a:r>
          </a:p>
          <a:p>
            <a:r>
              <a:rPr lang="zh-TW" altLang="en-US" dirty="0"/>
              <a:t>兩條路徑的結果會合併成一組候選像素。</a:t>
            </a:r>
            <a:endParaRPr lang="en-US" altLang="zh-TW" dirty="0"/>
          </a:p>
          <a:p>
            <a:r>
              <a:rPr lang="zh-TW" altLang="en-US" dirty="0"/>
              <a:t>接著在用兩個不同的門檻得到兩個要件。</a:t>
            </a:r>
            <a:endParaRPr lang="en-US" altLang="zh-TW" dirty="0"/>
          </a:p>
          <a:p>
            <a:r>
              <a:rPr lang="zh-TW" altLang="en-US" dirty="0"/>
              <a:t>嚴格門檻問的是：這裡有沒有一個真正的高能量核心？這能用來定位</a:t>
            </a:r>
            <a:r>
              <a:rPr lang="en-US" altLang="zh-TW" dirty="0"/>
              <a:t>noise</a:t>
            </a:r>
            <a:r>
              <a:rPr lang="zh-TW" altLang="en-US" dirty="0"/>
              <a:t>的精確位置。</a:t>
            </a:r>
            <a:endParaRPr lang="en-US" altLang="zh-TW" dirty="0"/>
          </a:p>
          <a:p>
            <a:r>
              <a:rPr lang="zh-TW" altLang="en-US" dirty="0"/>
              <a:t>寬鬆門檻問的是：這個噪點實際上延伸到多大範圍？這能用來定位遮罩的範圍。</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sz="1200" b="0" kern="1200" dirty="0">
                <a:solidFill>
                  <a:schemeClr val="tx1"/>
                </a:solidFill>
                <a:effectLst/>
                <a:latin typeface="+mn-lt"/>
                <a:ea typeface="+mn-ea"/>
                <a:cs typeface="+mn-cs"/>
              </a:rPr>
              <a:t>到這一步，輪廓遮罩已經把所有可疑區域都標出來了，但裡面難免混入「不是異常像素但長得有點像」的東西，例如：頭髮中的一根、衣服上的細格紋、極小的反光高光等。</a:t>
            </a:r>
          </a:p>
          <a:p>
            <a:endParaRPr lang="zh-TW" altLang="en-US" sz="1200" b="0" kern="1200" dirty="0">
              <a:solidFill>
                <a:schemeClr val="tx1"/>
              </a:solidFill>
              <a:effectLst/>
              <a:latin typeface="+mn-lt"/>
              <a:ea typeface="+mn-ea"/>
              <a:cs typeface="+mn-cs"/>
            </a:endParaRPr>
          </a:p>
          <a:p>
            <a:r>
              <a:rPr lang="zh-TW" altLang="en-US" sz="1200" b="0" kern="1200" dirty="0">
                <a:solidFill>
                  <a:schemeClr val="tx1"/>
                </a:solidFill>
                <a:effectLst/>
                <a:latin typeface="+mn-lt"/>
                <a:ea typeface="+mn-ea"/>
                <a:cs typeface="+mn-cs"/>
              </a:rPr>
              <a:t>這一步用</a:t>
            </a:r>
            <a:r>
              <a:rPr lang="zh-TW" altLang="en-US" sz="1200" b="1" kern="1200" dirty="0">
                <a:solidFill>
                  <a:schemeClr val="tx1"/>
                </a:solidFill>
                <a:effectLst/>
                <a:latin typeface="+mn-lt"/>
                <a:ea typeface="+mn-ea"/>
                <a:cs typeface="+mn-cs"/>
              </a:rPr>
              <a:t>**連通域分析 </a:t>
            </a:r>
            <a:r>
              <a:rPr lang="en-US" altLang="zh-TW" sz="1200" b="1" kern="1200" dirty="0">
                <a:solidFill>
                  <a:schemeClr val="tx1"/>
                </a:solidFill>
                <a:effectLst/>
                <a:latin typeface="+mn-lt"/>
                <a:ea typeface="+mn-ea"/>
                <a:cs typeface="+mn-cs"/>
              </a:rPr>
              <a:t>(Connected Component Analysis, CCA)</a:t>
            </a:r>
            <a:r>
              <a:rPr lang="zh-TW" altLang="en-US" sz="1200" b="1" kern="1200" dirty="0">
                <a:solidFill>
                  <a:schemeClr val="tx1"/>
                </a:solidFill>
                <a:effectLst/>
                <a:latin typeface="+mn-lt"/>
                <a:ea typeface="+mn-ea"/>
                <a:cs typeface="+mn-cs"/>
              </a:rPr>
              <a:t>**</a:t>
            </a:r>
            <a:r>
              <a:rPr lang="zh-TW" altLang="en-US" sz="1200" b="0" kern="1200" dirty="0">
                <a:solidFill>
                  <a:schemeClr val="tx1"/>
                </a:solidFill>
                <a:effectLst/>
                <a:latin typeface="+mn-lt"/>
                <a:ea typeface="+mn-ea"/>
                <a:cs typeface="+mn-cs"/>
              </a:rPr>
              <a:t>  </a:t>
            </a:r>
          </a:p>
          <a:p>
            <a:r>
              <a:rPr lang="zh-TW" altLang="en-US" sz="1200" b="0" kern="1200" dirty="0">
                <a:solidFill>
                  <a:schemeClr val="tx1"/>
                </a:solidFill>
                <a:effectLst/>
                <a:latin typeface="+mn-lt"/>
                <a:ea typeface="+mn-ea"/>
                <a:cs typeface="+mn-cs"/>
              </a:rPr>
              <a:t>這是一種把「相鄰相連的同色像素」歸為同一群（稱為一個 </a:t>
            </a:r>
            <a:r>
              <a:rPr lang="zh-TW" altLang="en-US" sz="1200" b="0" i="1" kern="1200" dirty="0">
                <a:solidFill>
                  <a:schemeClr val="tx1"/>
                </a:solidFill>
                <a:effectLst/>
                <a:latin typeface="+mn-lt"/>
                <a:ea typeface="+mn-ea"/>
                <a:cs typeface="+mn-cs"/>
              </a:rPr>
              <a:t>*</a:t>
            </a:r>
            <a:r>
              <a:rPr lang="en-US" altLang="zh-TW" sz="1200" b="0" i="1" kern="1200" dirty="0">
                <a:solidFill>
                  <a:schemeClr val="tx1"/>
                </a:solidFill>
                <a:effectLst/>
                <a:latin typeface="+mn-lt"/>
                <a:ea typeface="+mn-ea"/>
                <a:cs typeface="+mn-cs"/>
              </a:rPr>
              <a:t>blob</a:t>
            </a:r>
            <a:r>
              <a:rPr lang="zh-TW" altLang="en-US" sz="1200" b="0" i="1" kern="1200" dirty="0">
                <a:solidFill>
                  <a:schemeClr val="tx1"/>
                </a:solidFill>
                <a:effectLst/>
                <a:latin typeface="+mn-lt"/>
                <a:ea typeface="+mn-ea"/>
                <a:cs typeface="+mn-cs"/>
              </a:rPr>
              <a:t>*</a:t>
            </a:r>
            <a:r>
              <a:rPr lang="zh-TW" altLang="en-US" sz="1200" b="0" kern="1200" dirty="0">
                <a:solidFill>
                  <a:schemeClr val="tx1"/>
                </a:solidFill>
                <a:effectLst/>
                <a:latin typeface="+mn-lt"/>
                <a:ea typeface="+mn-ea"/>
                <a:cs typeface="+mn-cs"/>
              </a:rPr>
              <a:t>）的演算法，把每個 </a:t>
            </a:r>
            <a:r>
              <a:rPr lang="en-US" altLang="zh-TW" sz="1200" b="0" kern="1200" dirty="0">
                <a:solidFill>
                  <a:schemeClr val="tx1"/>
                </a:solidFill>
                <a:effectLst/>
                <a:latin typeface="+mn-lt"/>
                <a:ea typeface="+mn-ea"/>
                <a:cs typeface="+mn-cs"/>
              </a:rPr>
              <a:t>blob </a:t>
            </a:r>
            <a:r>
              <a:rPr lang="zh-TW" altLang="en-US" sz="1200" b="0" kern="1200" dirty="0">
                <a:solidFill>
                  <a:schemeClr val="tx1"/>
                </a:solidFill>
                <a:effectLst/>
                <a:latin typeface="+mn-lt"/>
                <a:ea typeface="+mn-ea"/>
                <a:cs typeface="+mn-cs"/>
              </a:rPr>
              <a:t>拆出來，然後逐一檢查三道條件：  </a:t>
            </a:r>
          </a:p>
          <a:p>
            <a:r>
              <a:rPr lang="en-US" altLang="zh-TW" sz="1200" b="0" kern="1200" dirty="0">
                <a:solidFill>
                  <a:schemeClr val="tx1"/>
                </a:solidFill>
                <a:effectLst/>
                <a:latin typeface="+mn-lt"/>
                <a:ea typeface="+mn-ea"/>
                <a:cs typeface="+mn-cs"/>
              </a:rPr>
              <a:t>1.</a:t>
            </a:r>
            <a:r>
              <a:rPr lang="zh-TW" altLang="en-US" sz="1200" b="0" kern="1200" dirty="0">
                <a:solidFill>
                  <a:schemeClr val="tx1"/>
                </a:solidFill>
                <a:effectLst/>
                <a:latin typeface="+mn-lt"/>
                <a:ea typeface="+mn-ea"/>
                <a:cs typeface="+mn-cs"/>
              </a:rPr>
              <a:t> </a:t>
            </a:r>
            <a:r>
              <a:rPr lang="zh-TW" altLang="en-US" sz="1200" b="1" kern="1200" dirty="0">
                <a:solidFill>
                  <a:schemeClr val="tx1"/>
                </a:solidFill>
                <a:effectLst/>
                <a:latin typeface="+mn-lt"/>
                <a:ea typeface="+mn-ea"/>
                <a:cs typeface="+mn-cs"/>
              </a:rPr>
              <a:t>**大小檢查**</a:t>
            </a:r>
            <a:r>
              <a:rPr lang="zh-TW" altLang="en-US" sz="1200" b="0" kern="1200" dirty="0">
                <a:solidFill>
                  <a:schemeClr val="tx1"/>
                </a:solidFill>
                <a:effectLst/>
                <a:latin typeface="+mn-lt"/>
                <a:ea typeface="+mn-ea"/>
                <a:cs typeface="+mn-cs"/>
              </a:rPr>
              <a:t>：候選 </a:t>
            </a:r>
            <a:r>
              <a:rPr lang="en-US" altLang="zh-TW" sz="1200" b="0" kern="1200" dirty="0">
                <a:solidFill>
                  <a:schemeClr val="tx1"/>
                </a:solidFill>
                <a:effectLst/>
                <a:latin typeface="+mn-lt"/>
                <a:ea typeface="+mn-ea"/>
                <a:cs typeface="+mn-cs"/>
              </a:rPr>
              <a:t>blob </a:t>
            </a:r>
            <a:r>
              <a:rPr lang="zh-TW" altLang="en-US" sz="1200" b="0" kern="1200" dirty="0">
                <a:solidFill>
                  <a:schemeClr val="tx1"/>
                </a:solidFill>
                <a:effectLst/>
                <a:latin typeface="+mn-lt"/>
                <a:ea typeface="+mn-ea"/>
                <a:cs typeface="+mn-cs"/>
              </a:rPr>
              <a:t>的尺寸不能比使用者設定的最大噪點尺寸大太多；明顯比設定值大的視為大物件，不符合噪點特性。</a:t>
            </a:r>
          </a:p>
          <a:p>
            <a:r>
              <a:rPr lang="en-US" altLang="zh-TW" sz="1200" b="0" kern="1200" dirty="0">
                <a:solidFill>
                  <a:schemeClr val="tx1"/>
                </a:solidFill>
                <a:effectLst/>
                <a:latin typeface="+mn-lt"/>
                <a:ea typeface="+mn-ea"/>
                <a:cs typeface="+mn-cs"/>
              </a:rPr>
              <a:t>2.</a:t>
            </a:r>
            <a:r>
              <a:rPr lang="zh-TW" altLang="en-US" sz="1200" b="0" kern="1200" dirty="0">
                <a:solidFill>
                  <a:schemeClr val="tx1"/>
                </a:solidFill>
                <a:effectLst/>
                <a:latin typeface="+mn-lt"/>
                <a:ea typeface="+mn-ea"/>
                <a:cs typeface="+mn-cs"/>
              </a:rPr>
              <a:t> </a:t>
            </a:r>
            <a:r>
              <a:rPr lang="zh-TW" altLang="en-US" sz="1200" b="1" kern="1200" dirty="0">
                <a:solidFill>
                  <a:schemeClr val="tx1"/>
                </a:solidFill>
                <a:effectLst/>
                <a:latin typeface="+mn-lt"/>
                <a:ea typeface="+mn-ea"/>
                <a:cs typeface="+mn-cs"/>
              </a:rPr>
              <a:t>**核心檢查**</a:t>
            </a:r>
            <a:r>
              <a:rPr lang="zh-TW" altLang="en-US" sz="1200" b="0" kern="1200" dirty="0">
                <a:solidFill>
                  <a:schemeClr val="tx1"/>
                </a:solidFill>
                <a:effectLst/>
                <a:latin typeface="+mn-lt"/>
                <a:ea typeface="+mn-ea"/>
                <a:cs typeface="+mn-cs"/>
              </a:rPr>
              <a:t>：</a:t>
            </a:r>
            <a:r>
              <a:rPr lang="en-US" altLang="zh-TW" sz="1200" b="0" kern="1200" dirty="0">
                <a:solidFill>
                  <a:schemeClr val="tx1"/>
                </a:solidFill>
                <a:effectLst/>
                <a:latin typeface="+mn-lt"/>
                <a:ea typeface="+mn-ea"/>
                <a:cs typeface="+mn-cs"/>
              </a:rPr>
              <a:t>blob </a:t>
            </a:r>
            <a:r>
              <a:rPr lang="zh-TW" altLang="en-US" sz="1200" b="0" kern="1200" dirty="0">
                <a:solidFill>
                  <a:schemeClr val="tx1"/>
                </a:solidFill>
                <a:effectLst/>
                <a:latin typeface="+mn-lt"/>
                <a:ea typeface="+mn-ea"/>
                <a:cs typeface="+mn-cs"/>
              </a:rPr>
              <a:t>內部必須含有「核心遮罩」中的種子像素（也就是真的存在強烈異常的核心），否則只是個低能量的微小區塊，不算真噪點。</a:t>
            </a:r>
          </a:p>
          <a:p>
            <a:r>
              <a:rPr lang="en-US" altLang="zh-TW" sz="1200" b="0" kern="1200" dirty="0">
                <a:solidFill>
                  <a:schemeClr val="tx1"/>
                </a:solidFill>
                <a:effectLst/>
                <a:latin typeface="+mn-lt"/>
                <a:ea typeface="+mn-ea"/>
                <a:cs typeface="+mn-cs"/>
              </a:rPr>
              <a:t>3.</a:t>
            </a:r>
            <a:r>
              <a:rPr lang="zh-TW" altLang="en-US" sz="1200" b="0" kern="1200" dirty="0">
                <a:solidFill>
                  <a:schemeClr val="tx1"/>
                </a:solidFill>
                <a:effectLst/>
                <a:latin typeface="+mn-lt"/>
                <a:ea typeface="+mn-ea"/>
                <a:cs typeface="+mn-cs"/>
              </a:rPr>
              <a:t> </a:t>
            </a:r>
            <a:r>
              <a:rPr lang="zh-TW" altLang="en-US" sz="1200" b="1" kern="1200" dirty="0">
                <a:solidFill>
                  <a:schemeClr val="tx1"/>
                </a:solidFill>
                <a:effectLst/>
                <a:latin typeface="+mn-lt"/>
                <a:ea typeface="+mn-ea"/>
                <a:cs typeface="+mn-cs"/>
              </a:rPr>
              <a:t>**形狀檢查**</a:t>
            </a:r>
            <a:r>
              <a:rPr lang="zh-TW" altLang="en-US" sz="1200" b="0" kern="1200" dirty="0">
                <a:solidFill>
                  <a:schemeClr val="tx1"/>
                </a:solidFill>
                <a:effectLst/>
                <a:latin typeface="+mn-lt"/>
                <a:ea typeface="+mn-ea"/>
                <a:cs typeface="+mn-cs"/>
              </a:rPr>
              <a:t>：對 </a:t>
            </a:r>
            <a:r>
              <a:rPr lang="en-US" altLang="zh-TW" sz="1200" b="0" kern="1200" dirty="0">
                <a:solidFill>
                  <a:schemeClr val="tx1"/>
                </a:solidFill>
                <a:effectLst/>
                <a:latin typeface="+mn-lt"/>
                <a:ea typeface="+mn-ea"/>
                <a:cs typeface="+mn-cs"/>
              </a:rPr>
              <a:t>blob </a:t>
            </a:r>
            <a:r>
              <a:rPr lang="zh-TW" altLang="en-US" sz="1200" b="0" kern="1200" dirty="0">
                <a:solidFill>
                  <a:schemeClr val="tx1"/>
                </a:solidFill>
                <a:effectLst/>
                <a:latin typeface="+mn-lt"/>
                <a:ea typeface="+mn-ea"/>
                <a:cs typeface="+mn-cs"/>
              </a:rPr>
              <a:t>計算最小外接旋轉矩形，量它的長寬比；若長寬比過於懸殊（例如 </a:t>
            </a:r>
            <a:r>
              <a:rPr lang="en-US" altLang="zh-TW" sz="1200" b="0" kern="1200" dirty="0">
                <a:solidFill>
                  <a:schemeClr val="tx1"/>
                </a:solidFill>
                <a:effectLst/>
                <a:latin typeface="+mn-lt"/>
                <a:ea typeface="+mn-ea"/>
                <a:cs typeface="+mn-cs"/>
              </a:rPr>
              <a:t>3:1 </a:t>
            </a:r>
            <a:r>
              <a:rPr lang="zh-TW" altLang="en-US" sz="1200" b="0" kern="1200" dirty="0">
                <a:solidFill>
                  <a:schemeClr val="tx1"/>
                </a:solidFill>
                <a:effectLst/>
                <a:latin typeface="+mn-lt"/>
                <a:ea typeface="+mn-ea"/>
                <a:cs typeface="+mn-cs"/>
              </a:rPr>
              <a:t>以上），表示它是頭髮、細線、刮痕這類</a:t>
            </a:r>
            <a:r>
              <a:rPr lang="zh-TW" altLang="en-US" sz="1200" b="1" kern="1200" dirty="0">
                <a:solidFill>
                  <a:schemeClr val="tx1"/>
                </a:solidFill>
                <a:effectLst/>
                <a:latin typeface="+mn-lt"/>
                <a:ea typeface="+mn-ea"/>
                <a:cs typeface="+mn-cs"/>
              </a:rPr>
              <a:t>**細長結構**</a:t>
            </a:r>
            <a:r>
              <a:rPr lang="zh-TW" altLang="en-US" sz="1200" b="0" kern="1200" dirty="0">
                <a:solidFill>
                  <a:schemeClr val="tx1"/>
                </a:solidFill>
                <a:effectLst/>
                <a:latin typeface="+mn-lt"/>
                <a:ea typeface="+mn-ea"/>
                <a:cs typeface="+mn-cs"/>
              </a:rPr>
              <a:t>，而不是緊湊的小點，捨棄。</a:t>
            </a:r>
          </a:p>
          <a:p>
            <a:endParaRPr lang="en-US" altLang="zh-TW"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長寬比：</a:t>
            </a:r>
            <a:r>
              <a:rPr lang="en-US" altLang="zh-TW" sz="1200" b="0" i="0" kern="1200" dirty="0">
                <a:solidFill>
                  <a:schemeClr val="tx1"/>
                </a:solidFill>
                <a:effectLst/>
                <a:latin typeface="+mn-lt"/>
                <a:ea typeface="+mn-ea"/>
                <a:cs typeface="+mn-cs"/>
              </a:rPr>
              <a:t>aspect ratio</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錯認：</a:t>
            </a:r>
            <a:r>
              <a:rPr lang="en-US" altLang="zh-TW" sz="1200" b="0" i="0" kern="1200" dirty="0">
                <a:solidFill>
                  <a:schemeClr val="tx1"/>
                </a:solidFill>
                <a:effectLst/>
                <a:latin typeface="+mn-lt"/>
                <a:ea typeface="+mn-ea"/>
                <a:cs typeface="+mn-cs"/>
              </a:rPr>
              <a:t>misidentification</a:t>
            </a:r>
          </a:p>
          <a:p>
            <a:r>
              <a:rPr lang="zh-TW" altLang="en-US" sz="1200" b="0" kern="1200" dirty="0">
                <a:solidFill>
                  <a:schemeClr val="tx1"/>
                </a:solidFill>
                <a:effectLst/>
                <a:latin typeface="+mn-lt"/>
                <a:ea typeface="+mn-ea"/>
                <a:cs typeface="+mn-cs"/>
              </a:rPr>
              <a:t>亮度：</a:t>
            </a:r>
            <a:r>
              <a:rPr lang="en-US" altLang="zh-TW" sz="1200" b="0" kern="1200" dirty="0">
                <a:solidFill>
                  <a:schemeClr val="tx1"/>
                </a:solidFill>
                <a:effectLst/>
                <a:latin typeface="+mn-lt"/>
                <a:ea typeface="+mn-ea"/>
                <a:cs typeface="+mn-cs"/>
              </a:rPr>
              <a:t>brightness</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細長結構：</a:t>
            </a:r>
            <a:r>
              <a:rPr lang="en-US" altLang="zh-TW" sz="1200" b="0" i="0" kern="1200" dirty="0">
                <a:solidFill>
                  <a:schemeClr val="tx1"/>
                </a:solidFill>
                <a:effectLst/>
                <a:latin typeface="+mn-lt"/>
                <a:ea typeface="+mn-ea"/>
                <a:cs typeface="+mn-cs"/>
              </a:rPr>
              <a:t>Slender structure</a:t>
            </a:r>
          </a:p>
          <a:p>
            <a:pPr rtl="0"/>
            <a:r>
              <a:rPr lang="zh-TW" altLang="en-US" sz="1200" b="0" i="0" kern="1200" dirty="0">
                <a:solidFill>
                  <a:schemeClr val="tx1"/>
                </a:solidFill>
                <a:effectLst/>
                <a:latin typeface="+mn-lt"/>
                <a:ea typeface="+mn-ea"/>
                <a:cs typeface="+mn-cs"/>
              </a:rPr>
              <a:t>滿足：</a:t>
            </a:r>
            <a:r>
              <a:rPr lang="en-US" altLang="zh-TW" sz="1200" b="0" i="0" kern="1200" dirty="0">
                <a:solidFill>
                  <a:schemeClr val="tx1"/>
                </a:solidFill>
                <a:effectLst/>
                <a:latin typeface="+mn-lt"/>
                <a:ea typeface="+mn-ea"/>
                <a:cs typeface="+mn-cs"/>
              </a:rPr>
              <a:t>satisfy</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表現為：</a:t>
            </a:r>
            <a:r>
              <a:rPr lang="en-US" altLang="zh-TW" sz="1200" b="0" i="0" kern="1200" dirty="0">
                <a:solidFill>
                  <a:schemeClr val="tx1"/>
                </a:solidFill>
                <a:effectLst/>
                <a:latin typeface="+mn-lt"/>
                <a:ea typeface="+mn-ea"/>
                <a:cs typeface="+mn-cs"/>
              </a:rPr>
              <a:t>shown as</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變化率：</a:t>
            </a:r>
            <a:r>
              <a:rPr lang="en-US" altLang="zh-TW" sz="1200" b="0" kern="1200" dirty="0">
                <a:solidFill>
                  <a:schemeClr val="tx1"/>
                </a:solidFill>
                <a:effectLst/>
                <a:latin typeface="+mn-lt"/>
                <a:ea typeface="+mn-ea"/>
                <a:cs typeface="+mn-cs"/>
              </a:rPr>
              <a:t>rate of change</a:t>
            </a:r>
          </a:p>
          <a:p>
            <a:pPr rtl="0"/>
            <a:r>
              <a:rPr lang="zh-TW" altLang="en-US" sz="1200" b="0" kern="1200" dirty="0">
                <a:solidFill>
                  <a:schemeClr val="tx1"/>
                </a:solidFill>
                <a:effectLst/>
                <a:latin typeface="+mn-lt"/>
                <a:ea typeface="+mn-ea"/>
                <a:cs typeface="+mn-cs"/>
              </a:rPr>
              <a:t>主觀因素：</a:t>
            </a:r>
            <a:r>
              <a:rPr lang="en-US" altLang="zh-TW" sz="1200" b="0" i="0" kern="1200" dirty="0">
                <a:solidFill>
                  <a:schemeClr val="tx1"/>
                </a:solidFill>
                <a:effectLst/>
                <a:latin typeface="+mn-lt"/>
                <a:ea typeface="+mn-ea"/>
                <a:cs typeface="+mn-cs"/>
              </a:rPr>
              <a:t>Subjective factors</a:t>
            </a:r>
          </a:p>
          <a:p>
            <a:pPr rtl="0"/>
            <a:r>
              <a:rPr lang="zh-TW" altLang="en-US" sz="1200" b="0" i="0" kern="1200" dirty="0">
                <a:solidFill>
                  <a:schemeClr val="tx1"/>
                </a:solidFill>
                <a:effectLst/>
                <a:latin typeface="+mn-lt"/>
                <a:ea typeface="+mn-ea"/>
                <a:cs typeface="+mn-cs"/>
              </a:rPr>
              <a:t>分開：</a:t>
            </a:r>
            <a:r>
              <a:rPr lang="en-US" altLang="zh-TW" sz="1200" b="0" i="0" kern="1200" dirty="0" err="1">
                <a:solidFill>
                  <a:schemeClr val="tx1"/>
                </a:solidFill>
                <a:effectLst/>
                <a:latin typeface="+mn-lt"/>
                <a:ea typeface="+mn-ea"/>
                <a:cs typeface="+mn-cs"/>
              </a:rPr>
              <a:t>seperate</a:t>
            </a:r>
            <a:endParaRPr lang="en-US" altLang="zh-TW" sz="1200" b="0" i="0" kern="1200" dirty="0">
              <a:solidFill>
                <a:schemeClr val="tx1"/>
              </a:solidFill>
              <a:effectLst/>
              <a:latin typeface="+mn-lt"/>
              <a:ea typeface="+mn-ea"/>
              <a:cs typeface="+mn-cs"/>
            </a:endParaRPr>
          </a:p>
          <a:p>
            <a:endParaRPr lang="en-US" altLang="zh-TW" sz="1200" b="0" kern="1200" dirty="0">
              <a:solidFill>
                <a:schemeClr val="tx1"/>
              </a:solidFill>
              <a:effectLst/>
              <a:latin typeface="+mn-lt"/>
              <a:ea typeface="+mn-ea"/>
              <a:cs typeface="+mn-cs"/>
            </a:endParaRPr>
          </a:p>
          <a:p>
            <a:endParaRPr lang="zh-TW" altLang="en-US" sz="1200" b="0" kern="1200" dirty="0">
              <a:solidFill>
                <a:schemeClr val="tx1"/>
              </a:solidFill>
              <a:effectLst/>
              <a:latin typeface="+mn-lt"/>
              <a:ea typeface="+mn-ea"/>
              <a:cs typeface="+mn-cs"/>
            </a:endParaRPr>
          </a:p>
          <a:p>
            <a:r>
              <a:rPr lang="zh-TW" altLang="en-US" sz="1200" b="1" kern="1200" dirty="0">
                <a:solidFill>
                  <a:schemeClr val="tx1"/>
                </a:solidFill>
                <a:effectLst/>
                <a:latin typeface="+mn-lt"/>
                <a:ea typeface="+mn-ea"/>
                <a:cs typeface="+mn-cs"/>
              </a:rPr>
              <a:t>接下來，會利用 </a:t>
            </a:r>
            <a:r>
              <a:rPr lang="en-US" altLang="zh-TW" sz="1200" b="1" kern="1200" dirty="0">
                <a:solidFill>
                  <a:schemeClr val="tx1"/>
                </a:solidFill>
                <a:effectLst/>
                <a:latin typeface="+mn-lt"/>
                <a:ea typeface="+mn-ea"/>
                <a:cs typeface="+mn-cs"/>
              </a:rPr>
              <a:t>LAB </a:t>
            </a:r>
            <a:r>
              <a:rPr lang="zh-TW" altLang="en-US" sz="1200" b="1" kern="1200" dirty="0">
                <a:solidFill>
                  <a:schemeClr val="tx1"/>
                </a:solidFill>
                <a:effectLst/>
                <a:latin typeface="+mn-lt"/>
                <a:ea typeface="+mn-ea"/>
                <a:cs typeface="+mn-cs"/>
              </a:rPr>
              <a:t>色彩空間區分異常像素與自然亮點或色塊</a:t>
            </a:r>
            <a:endParaRPr lang="zh-TW" altLang="en-US" sz="1200" b="0" kern="1200" dirty="0">
              <a:solidFill>
                <a:schemeClr val="tx1"/>
              </a:solidFill>
              <a:effectLst/>
              <a:latin typeface="+mn-lt"/>
              <a:ea typeface="+mn-ea"/>
              <a:cs typeface="+mn-cs"/>
            </a:endParaRPr>
          </a:p>
          <a:p>
            <a:r>
              <a:rPr lang="zh-TW" altLang="en-US" sz="1200" b="0" kern="1200" dirty="0">
                <a:solidFill>
                  <a:schemeClr val="tx1"/>
                </a:solidFill>
                <a:effectLst/>
                <a:latin typeface="+mn-lt"/>
                <a:ea typeface="+mn-ea"/>
                <a:cs typeface="+mn-cs"/>
              </a:rPr>
              <a:t>兩者間最可能的區別是後者從中心到外圍過渡是平滑的；異常像素則是</a:t>
            </a:r>
            <a:r>
              <a:rPr lang="zh-TW" altLang="en-US" sz="1200" b="1" kern="1200" dirty="0">
                <a:solidFill>
                  <a:schemeClr val="tx1"/>
                </a:solidFill>
                <a:effectLst/>
                <a:latin typeface="+mn-lt"/>
                <a:ea typeface="+mn-ea"/>
                <a:cs typeface="+mn-cs"/>
              </a:rPr>
              <a:t>斷崖式的脈衝，幾乎</a:t>
            </a:r>
            <a:r>
              <a:rPr lang="zh-TW" altLang="en-US" sz="1200" b="0" kern="1200" dirty="0">
                <a:solidFill>
                  <a:schemeClr val="tx1"/>
                </a:solidFill>
                <a:effectLst/>
                <a:latin typeface="+mn-lt"/>
                <a:ea typeface="+mn-ea"/>
                <a:cs typeface="+mn-cs"/>
              </a:rPr>
              <a:t>沒有過渡。  </a:t>
            </a:r>
          </a:p>
          <a:p>
            <a:r>
              <a:rPr lang="zh-TW" altLang="en-US" sz="1200" b="0" kern="1200" dirty="0">
                <a:solidFill>
                  <a:schemeClr val="tx1"/>
                </a:solidFill>
                <a:effectLst/>
                <a:latin typeface="+mn-lt"/>
                <a:ea typeface="+mn-ea"/>
                <a:cs typeface="+mn-cs"/>
              </a:rPr>
              <a:t>此處會同時進行亮度、色彩兩道檢查</a:t>
            </a:r>
            <a:endParaRPr lang="en-US" altLang="zh-TW" sz="1200" b="0" kern="1200" dirty="0">
              <a:solidFill>
                <a:schemeClr val="tx1"/>
              </a:solidFill>
              <a:effectLst/>
              <a:latin typeface="+mn-lt"/>
              <a:ea typeface="+mn-ea"/>
              <a:cs typeface="+mn-cs"/>
            </a:endParaRPr>
          </a:p>
          <a:p>
            <a:r>
              <a:rPr lang="zh-TW" altLang="en-US" sz="1200" b="0" kern="1200" dirty="0">
                <a:solidFill>
                  <a:schemeClr val="tx1"/>
                </a:solidFill>
                <a:effectLst/>
                <a:latin typeface="+mn-lt"/>
                <a:ea typeface="+mn-ea"/>
                <a:cs typeface="+mn-cs"/>
              </a:rPr>
              <a:t>只要其中一者與周圍的落差過大、沒有過度就判定為異常像素，需要修補</a:t>
            </a:r>
          </a:p>
          <a:p>
            <a:endParaRPr lang="en-US" altLang="zh-TW"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Is the rate of change in brightness or color in the candidate region abrupt or gradual?</a:t>
            </a:r>
            <a:endParaRPr lang="en-US" altLang="zh-TW" sz="1200" b="0" kern="1200" dirty="0">
              <a:solidFill>
                <a:schemeClr val="tx1"/>
              </a:solidFill>
              <a:effectLst/>
              <a:latin typeface="+mn-lt"/>
              <a:ea typeface="+mn-ea"/>
              <a:cs typeface="+mn-cs"/>
            </a:endParaRPr>
          </a:p>
          <a:p>
            <a:r>
              <a:rPr lang="zh-TW" altLang="en-US" sz="1200" b="0" kern="1200" dirty="0">
                <a:solidFill>
                  <a:schemeClr val="tx1"/>
                </a:solidFill>
                <a:effectLst/>
                <a:latin typeface="+mn-lt"/>
                <a:ea typeface="+mn-ea"/>
                <a:cs typeface="+mn-cs"/>
              </a:rPr>
              <a:t>候選區域的亮度或色彩變化率是劇烈的還是漸進的</a:t>
            </a:r>
          </a:p>
          <a:p>
            <a:r>
              <a:rPr lang="zh-TW" altLang="en-US" sz="1200" b="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消失：</a:t>
            </a:r>
            <a:r>
              <a:rPr lang="en-US" altLang="zh-TW" sz="1200" b="0" i="0" kern="1200" dirty="0">
                <a:solidFill>
                  <a:schemeClr val="tx1"/>
                </a:solidFill>
                <a:effectLst/>
                <a:latin typeface="+mn-lt"/>
                <a:ea typeface="+mn-ea"/>
                <a:cs typeface="+mn-cs"/>
              </a:rPr>
              <a:t>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主觀因素：</a:t>
            </a:r>
            <a:r>
              <a:rPr lang="en-US" altLang="zh-TW" sz="1200" b="0" i="0" kern="1200" dirty="0">
                <a:solidFill>
                  <a:schemeClr val="tx1"/>
                </a:solidFill>
                <a:effectLst/>
                <a:latin typeface="+mn-lt"/>
                <a:ea typeface="+mn-ea"/>
                <a:cs typeface="+mn-cs"/>
              </a:rPr>
              <a:t>Subjective factors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video" Target="https://www.youtube.com/embed/qqUrk4OyEfI?feature=oembed" TargetMode="Externa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A"/>
        </a:solidFill>
        <a:effectLst/>
      </p:bgPr>
    </p:bg>
    <p:spTree>
      <p:nvGrpSpPr>
        <p:cNvPr id="1" name=""/>
        <p:cNvGrpSpPr/>
        <p:nvPr/>
      </p:nvGrpSpPr>
      <p:grpSpPr>
        <a:xfrm>
          <a:off x="0" y="0"/>
          <a:ext cx="0" cy="0"/>
          <a:chOff x="0" y="0"/>
          <a:chExt cx="0" cy="0"/>
        </a:xfrm>
      </p:grpSpPr>
      <p:sp>
        <p:nvSpPr>
          <p:cNvPr id="2" name="Shape 0"/>
          <p:cNvSpPr/>
          <p:nvPr/>
        </p:nvSpPr>
        <p:spPr>
          <a:xfrm>
            <a:off x="10698480" y="1097280"/>
            <a:ext cx="82296" cy="82296"/>
          </a:xfrm>
          <a:prstGeom prst="ellipse">
            <a:avLst/>
          </a:prstGeom>
          <a:solidFill>
            <a:srgbClr val="059669"/>
          </a:solidFill>
          <a:ln/>
        </p:spPr>
        <p:txBody>
          <a:bodyPr/>
          <a:lstStyle/>
          <a:p>
            <a:endParaRPr lang="zh-TW" altLang="en-US"/>
          </a:p>
        </p:txBody>
      </p:sp>
      <p:sp>
        <p:nvSpPr>
          <p:cNvPr id="3" name="Shape 1"/>
          <p:cNvSpPr/>
          <p:nvPr/>
        </p:nvSpPr>
        <p:spPr>
          <a:xfrm>
            <a:off x="11247120" y="1828800"/>
            <a:ext cx="82296" cy="82296"/>
          </a:xfrm>
          <a:prstGeom prst="ellipse">
            <a:avLst/>
          </a:prstGeom>
          <a:solidFill>
            <a:srgbClr val="FFFFFF">
              <a:alpha val="45000"/>
            </a:srgbClr>
          </a:solidFill>
          <a:ln/>
        </p:spPr>
        <p:txBody>
          <a:bodyPr/>
          <a:lstStyle/>
          <a:p>
            <a:endParaRPr lang="zh-TW" altLang="en-US"/>
          </a:p>
        </p:txBody>
      </p:sp>
      <p:sp>
        <p:nvSpPr>
          <p:cNvPr id="4" name="Shape 2"/>
          <p:cNvSpPr/>
          <p:nvPr/>
        </p:nvSpPr>
        <p:spPr>
          <a:xfrm>
            <a:off x="9966960" y="868680"/>
            <a:ext cx="82296" cy="82296"/>
          </a:xfrm>
          <a:prstGeom prst="ellipse">
            <a:avLst/>
          </a:prstGeom>
          <a:solidFill>
            <a:srgbClr val="FFFFFF">
              <a:alpha val="45000"/>
            </a:srgbClr>
          </a:solidFill>
          <a:ln/>
        </p:spPr>
        <p:txBody>
          <a:bodyPr/>
          <a:lstStyle/>
          <a:p>
            <a:endParaRPr lang="zh-TW" altLang="en-US"/>
          </a:p>
        </p:txBody>
      </p:sp>
      <p:sp>
        <p:nvSpPr>
          <p:cNvPr id="5" name="Shape 3"/>
          <p:cNvSpPr/>
          <p:nvPr/>
        </p:nvSpPr>
        <p:spPr>
          <a:xfrm>
            <a:off x="11521440" y="2834640"/>
            <a:ext cx="82296" cy="82296"/>
          </a:xfrm>
          <a:prstGeom prst="ellipse">
            <a:avLst/>
          </a:prstGeom>
          <a:solidFill>
            <a:srgbClr val="059669"/>
          </a:solidFill>
          <a:ln/>
        </p:spPr>
        <p:txBody>
          <a:bodyPr/>
          <a:lstStyle/>
          <a:p>
            <a:endParaRPr lang="zh-TW" altLang="en-US"/>
          </a:p>
        </p:txBody>
      </p:sp>
      <p:sp>
        <p:nvSpPr>
          <p:cNvPr id="6" name="Shape 4"/>
          <p:cNvSpPr/>
          <p:nvPr/>
        </p:nvSpPr>
        <p:spPr>
          <a:xfrm>
            <a:off x="10332720" y="3383280"/>
            <a:ext cx="82296" cy="82296"/>
          </a:xfrm>
          <a:prstGeom prst="ellipse">
            <a:avLst/>
          </a:prstGeom>
          <a:solidFill>
            <a:srgbClr val="FFFFFF">
              <a:alpha val="45000"/>
            </a:srgbClr>
          </a:solidFill>
          <a:ln/>
        </p:spPr>
        <p:txBody>
          <a:bodyPr/>
          <a:lstStyle/>
          <a:p>
            <a:endParaRPr lang="zh-TW" altLang="en-US"/>
          </a:p>
        </p:txBody>
      </p:sp>
      <p:sp>
        <p:nvSpPr>
          <p:cNvPr id="7" name="Shape 5"/>
          <p:cNvSpPr/>
          <p:nvPr/>
        </p:nvSpPr>
        <p:spPr>
          <a:xfrm>
            <a:off x="11064240" y="4206240"/>
            <a:ext cx="82296" cy="82296"/>
          </a:xfrm>
          <a:prstGeom prst="ellipse">
            <a:avLst/>
          </a:prstGeom>
          <a:solidFill>
            <a:srgbClr val="FFFFFF">
              <a:alpha val="45000"/>
            </a:srgbClr>
          </a:solidFill>
          <a:ln/>
        </p:spPr>
        <p:txBody>
          <a:bodyPr/>
          <a:lstStyle/>
          <a:p>
            <a:endParaRPr lang="zh-TW" altLang="en-US"/>
          </a:p>
        </p:txBody>
      </p:sp>
      <p:sp>
        <p:nvSpPr>
          <p:cNvPr id="8" name="Shape 6"/>
          <p:cNvSpPr/>
          <p:nvPr/>
        </p:nvSpPr>
        <p:spPr>
          <a:xfrm>
            <a:off x="9784080" y="4572000"/>
            <a:ext cx="82296" cy="82296"/>
          </a:xfrm>
          <a:prstGeom prst="ellipse">
            <a:avLst/>
          </a:prstGeom>
          <a:solidFill>
            <a:srgbClr val="059669"/>
          </a:solidFill>
          <a:ln/>
        </p:spPr>
        <p:txBody>
          <a:bodyPr/>
          <a:lstStyle/>
          <a:p>
            <a:endParaRPr lang="zh-TW" altLang="en-US"/>
          </a:p>
        </p:txBody>
      </p:sp>
      <p:sp>
        <p:nvSpPr>
          <p:cNvPr id="9" name="Shape 7"/>
          <p:cNvSpPr/>
          <p:nvPr/>
        </p:nvSpPr>
        <p:spPr>
          <a:xfrm>
            <a:off x="11430000" y="5212080"/>
            <a:ext cx="82296" cy="82296"/>
          </a:xfrm>
          <a:prstGeom prst="ellipse">
            <a:avLst/>
          </a:prstGeom>
          <a:solidFill>
            <a:srgbClr val="FFFFFF">
              <a:alpha val="45000"/>
            </a:srgbClr>
          </a:solidFill>
          <a:ln/>
        </p:spPr>
        <p:txBody>
          <a:bodyPr/>
          <a:lstStyle/>
          <a:p>
            <a:endParaRPr lang="zh-TW" altLang="en-US"/>
          </a:p>
        </p:txBody>
      </p:sp>
      <p:sp>
        <p:nvSpPr>
          <p:cNvPr id="10" name="Shape 8"/>
          <p:cNvSpPr/>
          <p:nvPr/>
        </p:nvSpPr>
        <p:spPr>
          <a:xfrm>
            <a:off x="10058400" y="5760720"/>
            <a:ext cx="82296" cy="82296"/>
          </a:xfrm>
          <a:prstGeom prst="ellipse">
            <a:avLst/>
          </a:prstGeom>
          <a:solidFill>
            <a:srgbClr val="FFFFFF">
              <a:alpha val="45000"/>
            </a:srgbClr>
          </a:solidFill>
          <a:ln/>
        </p:spPr>
        <p:txBody>
          <a:bodyPr/>
          <a:lstStyle/>
          <a:p>
            <a:endParaRPr lang="zh-TW" altLang="en-US"/>
          </a:p>
        </p:txBody>
      </p:sp>
      <p:sp>
        <p:nvSpPr>
          <p:cNvPr id="11" name="Shape 9"/>
          <p:cNvSpPr/>
          <p:nvPr/>
        </p:nvSpPr>
        <p:spPr>
          <a:xfrm>
            <a:off x="11155680" y="6126480"/>
            <a:ext cx="82296" cy="82296"/>
          </a:xfrm>
          <a:prstGeom prst="ellipse">
            <a:avLst/>
          </a:prstGeom>
          <a:solidFill>
            <a:srgbClr val="059669"/>
          </a:solidFill>
          <a:ln/>
        </p:spPr>
        <p:txBody>
          <a:bodyPr/>
          <a:lstStyle/>
          <a:p>
            <a:endParaRPr lang="zh-TW" altLang="en-US"/>
          </a:p>
        </p:txBody>
      </p:sp>
      <p:sp>
        <p:nvSpPr>
          <p:cNvPr id="12" name="Shape 10"/>
          <p:cNvSpPr/>
          <p:nvPr/>
        </p:nvSpPr>
        <p:spPr>
          <a:xfrm>
            <a:off x="566928" y="1993392"/>
            <a:ext cx="109728" cy="2103120"/>
          </a:xfrm>
          <a:prstGeom prst="rect">
            <a:avLst/>
          </a:prstGeom>
          <a:solidFill>
            <a:srgbClr val="059669"/>
          </a:solidFill>
          <a:ln/>
        </p:spPr>
        <p:txBody>
          <a:bodyPr/>
          <a:lstStyle/>
          <a:p>
            <a:endParaRPr lang="zh-TW" altLang="en-US"/>
          </a:p>
        </p:txBody>
      </p:sp>
      <p:sp>
        <p:nvSpPr>
          <p:cNvPr id="13" name="Text 11"/>
          <p:cNvSpPr/>
          <p:nvPr/>
        </p:nvSpPr>
        <p:spPr>
          <a:xfrm>
            <a:off x="841248" y="1417320"/>
            <a:ext cx="10424160" cy="292608"/>
          </a:xfrm>
          <a:prstGeom prst="rect">
            <a:avLst/>
          </a:prstGeom>
          <a:noFill/>
          <a:ln/>
        </p:spPr>
        <p:txBody>
          <a:bodyPr wrap="square" lIns="0" tIns="0" rIns="0" bIns="0" rtlCol="0" anchor="ctr"/>
          <a:lstStyle/>
          <a:p>
            <a:pPr marL="0" indent="0">
              <a:buNone/>
            </a:pPr>
            <a:r>
              <a:rPr lang="en-US" sz="1250" b="1" kern="0" spc="200" dirty="0">
                <a:solidFill>
                  <a:srgbClr val="9FB3D9"/>
                </a:solidFill>
                <a:latin typeface="Trebuchet MS" pitchFamily="34" charset="0"/>
                <a:ea typeface="Trebuchet MS" pitchFamily="34" charset="-122"/>
                <a:cs typeface="Trebuchet MS" pitchFamily="34" charset="-120"/>
              </a:rPr>
              <a:t>IMAGE MANIPULATION TECHNIQUES &amp; VISUAL EFFECTS  ·  FINAL PRESENTATION</a:t>
            </a:r>
            <a:endParaRPr lang="en-US" sz="1250" dirty="0"/>
          </a:p>
        </p:txBody>
      </p:sp>
      <p:sp>
        <p:nvSpPr>
          <p:cNvPr id="14" name="Text 12"/>
          <p:cNvSpPr/>
          <p:nvPr/>
        </p:nvSpPr>
        <p:spPr>
          <a:xfrm>
            <a:off x="841248" y="1874520"/>
            <a:ext cx="10607040" cy="1783080"/>
          </a:xfrm>
          <a:prstGeom prst="rect">
            <a:avLst/>
          </a:prstGeom>
          <a:noFill/>
          <a:ln/>
        </p:spPr>
        <p:txBody>
          <a:bodyPr wrap="square" lIns="0" tIns="0" rIns="0" bIns="0" rtlCol="0" anchor="ctr"/>
          <a:lstStyle/>
          <a:p>
            <a:pPr marL="0" indent="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Fixing SDXL VAE</a:t>
            </a:r>
            <a:endParaRPr lang="en-US" sz="4600" dirty="0"/>
          </a:p>
          <a:p>
            <a:pPr marL="0" indent="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Spurious Bright Pixels</a:t>
            </a:r>
            <a:endParaRPr lang="en-US" sz="4600" dirty="0"/>
          </a:p>
        </p:txBody>
      </p:sp>
      <p:sp>
        <p:nvSpPr>
          <p:cNvPr id="15" name="Text 13"/>
          <p:cNvSpPr/>
          <p:nvPr/>
        </p:nvSpPr>
        <p:spPr>
          <a:xfrm>
            <a:off x="841248" y="3794760"/>
            <a:ext cx="1024128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A Lightweight Traditional Computer-Vision </a:t>
            </a:r>
            <a:r>
              <a:rPr lang="en-US" sz="1700" i="1" dirty="0" err="1">
                <a:solidFill>
                  <a:srgbClr val="CADCFC"/>
                </a:solidFill>
                <a:latin typeface="Calibri" pitchFamily="34" charset="0"/>
                <a:ea typeface="Calibri" pitchFamily="34" charset="-122"/>
                <a:cs typeface="Calibri" pitchFamily="34" charset="-120"/>
              </a:rPr>
              <a:t>ComfyUI</a:t>
            </a:r>
            <a:r>
              <a:rPr lang="en-US" sz="1700" i="1" dirty="0">
                <a:solidFill>
                  <a:srgbClr val="CADCFC"/>
                </a:solidFill>
                <a:latin typeface="Calibri" pitchFamily="34" charset="0"/>
                <a:ea typeface="Calibri" pitchFamily="34" charset="-122"/>
                <a:cs typeface="Calibri" pitchFamily="34" charset="-120"/>
              </a:rPr>
              <a:t> Node</a:t>
            </a:r>
            <a:endParaRPr lang="en-US" sz="1700" dirty="0"/>
          </a:p>
        </p:txBody>
      </p:sp>
      <p:sp>
        <p:nvSpPr>
          <p:cNvPr id="16" name="Shape 14"/>
          <p:cNvSpPr/>
          <p:nvPr/>
        </p:nvSpPr>
        <p:spPr>
          <a:xfrm>
            <a:off x="841248" y="4709160"/>
            <a:ext cx="5669280" cy="0"/>
          </a:xfrm>
          <a:prstGeom prst="line">
            <a:avLst/>
          </a:prstGeom>
          <a:noFill/>
          <a:ln w="12700">
            <a:solidFill>
              <a:srgbClr val="3C517F"/>
            </a:solidFill>
            <a:prstDash val="solid"/>
          </a:ln>
        </p:spPr>
        <p:txBody>
          <a:bodyPr/>
          <a:lstStyle/>
          <a:p>
            <a:endParaRPr lang="zh-TW" altLang="en-US"/>
          </a:p>
        </p:txBody>
      </p:sp>
      <p:sp>
        <p:nvSpPr>
          <p:cNvPr id="17" name="Text 15"/>
          <p:cNvSpPr/>
          <p:nvPr/>
        </p:nvSpPr>
        <p:spPr>
          <a:xfrm>
            <a:off x="841248" y="4892040"/>
            <a:ext cx="10058400" cy="822960"/>
          </a:xfrm>
          <a:prstGeom prst="rect">
            <a:avLst/>
          </a:prstGeom>
          <a:noFill/>
          <a:ln/>
        </p:spPr>
        <p:txBody>
          <a:bodyPr wrap="square" lIns="0" tIns="0" rIns="0" bIns="0" rtlCol="0" anchor="ctr"/>
          <a:lstStyle/>
          <a:p>
            <a:pPr marL="0" indent="0">
              <a:buNone/>
            </a:pPr>
            <a:r>
              <a:rPr lang="en-US" altLang="zh-TW" sz="1600" b="1" dirty="0">
                <a:solidFill>
                  <a:srgbClr val="FFFFFF"/>
                </a:solidFill>
                <a:latin typeface="Calibri" pitchFamily="34" charset="0"/>
                <a:ea typeface="Calibri" pitchFamily="34" charset="-122"/>
                <a:cs typeface="Calibri" pitchFamily="34" charset="-120"/>
              </a:rPr>
              <a:t/>
            </a:r>
            <a:r>
              <a:rPr lang="zh-TW" altLang="en-US" sz="1600" b="1" dirty="0">
                <a:solidFill>
                  <a:srgbClr val="FFFFFF"/>
                </a:solidFill>
                <a:latin typeface="Calibri" pitchFamily="34" charset="0"/>
                <a:ea typeface="Calibri" pitchFamily="34" charset="-122"/>
                <a:cs typeface="Calibri" pitchFamily="34" charset="-120"/>
              </a:rPr>
              <a:t>Phecda</a:t>
            </a:r>
            <a:endParaRPr lang="en-US" sz="1600" dirty="0"/>
          </a:p>
        </p:txBody>
      </p:sp>
      <p:sp>
        <p:nvSpPr>
          <p:cNvPr id="18" name="Text 16"/>
          <p:cNvSpPr/>
          <p:nvPr/>
        </p:nvSpPr>
        <p:spPr>
          <a:xfrm>
            <a:off x="841248" y="5989320"/>
            <a:ext cx="10607040" cy="320040"/>
          </a:xfrm>
          <a:prstGeom prst="rect">
            <a:avLst/>
          </a:prstGeom>
          <a:noFill/>
          <a:ln/>
        </p:spPr>
        <p:txBody>
          <a:bodyPr wrap="square" lIns="0" tIns="0" rIns="0" bIns="0" rtlCol="0" anchor="ctr"/>
          <a:lstStyle/>
          <a:p>
            <a:pPr marL="0" indent="0">
              <a:buNone/>
            </a:pPr>
            <a:r>
              <a:rPr lang="en-US" sz="1150" b="1" dirty="0">
                <a:solidFill>
                  <a:srgbClr val="059669"/>
                </a:solidFill>
                <a:latin typeface="Calibri" pitchFamily="34" charset="0"/>
                <a:ea typeface="Calibri" pitchFamily="34" charset="-122"/>
                <a:cs typeface="Calibri" pitchFamily="34" charset="-120"/>
              </a:rPr>
              <a:t>Laplacian + Median Residual  ›  CCA  ›  LAB-Cliff Verification  ›  Telea FMM Inpainting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5096" cy="292608"/>
          </a:xfrm>
          <a:prstGeom prst="rect">
            <a:avLst/>
          </a:prstGeom>
          <a:noFill/>
          <a:ln/>
        </p:spPr>
        <p:txBody>
          <a:bodyPr wrap="square" lIns="0" tIns="0" rIns="0" bIns="0" rtlCol="0" anchor="ctr"/>
          <a:lstStyle/>
          <a:p>
            <a:pPr marL="0" indent="0" algn="l">
              <a:buNone/>
            </a:pPr>
            <a:r>
              <a:rPr lang="en-US" sz="1250" b="1" kern="0" spc="300" dirty="0">
                <a:solidFill>
                  <a:srgbClr val="059669"/>
                </a:solidFill>
                <a:latin typeface="Trebuchet MS" pitchFamily="34" charset="0"/>
                <a:ea typeface="Trebuchet MS" pitchFamily="34" charset="-122"/>
                <a:cs typeface="Trebuchet MS" pitchFamily="34" charset="-120"/>
              </a:rPr>
              <a:t>01 · PROBLEM &amp; MOTIVATION</a:t>
            </a:r>
            <a:endParaRPr lang="en-US" sz="1250" dirty="0"/>
          </a:p>
        </p:txBody>
      </p:sp>
      <p:sp>
        <p:nvSpPr>
          <p:cNvPr id="3" name="Text 1"/>
          <p:cNvSpPr/>
          <p:nvPr/>
        </p:nvSpPr>
        <p:spPr>
          <a:xfrm>
            <a:off x="566928" y="713232"/>
            <a:ext cx="11055096" cy="658368"/>
          </a:xfrm>
          <a:prstGeom prst="rect">
            <a:avLst/>
          </a:prstGeom>
          <a:noFill/>
          <a:ln/>
        </p:spPr>
        <p:txBody>
          <a:bodyPr wrap="square" lIns="0" tIns="0" rIns="0" bIns="0" rtlCol="0" anchor="ctr"/>
          <a:lstStyle/>
          <a:p>
            <a:pPr marL="0" indent="0" algn="l">
              <a:buNone/>
            </a:pPr>
            <a:r>
              <a:rPr lang="en-US" sz="3000" b="1" dirty="0">
                <a:solidFill>
                  <a:srgbClr val="1E2A4A"/>
                </a:solidFill>
                <a:latin typeface="Trebuchet MS" pitchFamily="34" charset="0"/>
                <a:ea typeface="Trebuchet MS" pitchFamily="34" charset="-122"/>
                <a:cs typeface="Trebuchet MS" pitchFamily="34" charset="-120"/>
              </a:rPr>
              <a:t>What Are VAE Spurious Bright Pixels?</a:t>
            </a:r>
            <a:endParaRPr lang="en-US" sz="3000" dirty="0"/>
          </a:p>
        </p:txBody>
      </p:sp>
      <p:sp>
        <p:nvSpPr>
          <p:cNvPr id="17" name="Shape 15"/>
          <p:cNvSpPr/>
          <p:nvPr/>
        </p:nvSpPr>
        <p:spPr>
          <a:xfrm>
            <a:off x="566928" y="5460516"/>
            <a:ext cx="11055096" cy="868680"/>
          </a:xfrm>
          <a:prstGeom prst="rect">
            <a:avLst/>
          </a:prstGeom>
          <a:solidFill>
            <a:srgbClr val="EEF2F8"/>
          </a:solidFill>
          <a:ln/>
        </p:spPr>
        <p:txBody>
          <a:bodyPr/>
          <a:lstStyle/>
          <a:p>
            <a:endParaRPr lang="zh-TW" altLang="en-US"/>
          </a:p>
        </p:txBody>
      </p:sp>
      <p:sp>
        <p:nvSpPr>
          <p:cNvPr id="18" name="Shape 16"/>
          <p:cNvSpPr/>
          <p:nvPr/>
        </p:nvSpPr>
        <p:spPr>
          <a:xfrm>
            <a:off x="566928" y="5460516"/>
            <a:ext cx="82296" cy="868680"/>
          </a:xfrm>
          <a:prstGeom prst="rect">
            <a:avLst/>
          </a:prstGeom>
          <a:solidFill>
            <a:srgbClr val="059669"/>
          </a:solidFill>
          <a:ln/>
        </p:spPr>
        <p:txBody>
          <a:bodyPr/>
          <a:lstStyle/>
          <a:p>
            <a:endParaRPr lang="zh-TW" altLang="en-US"/>
          </a:p>
        </p:txBody>
      </p:sp>
      <p:sp>
        <p:nvSpPr>
          <p:cNvPr id="19" name="Text 17"/>
          <p:cNvSpPr/>
          <p:nvPr/>
        </p:nvSpPr>
        <p:spPr>
          <a:xfrm>
            <a:off x="822960" y="5460516"/>
            <a:ext cx="10597896" cy="868680"/>
          </a:xfrm>
          <a:prstGeom prst="rect">
            <a:avLst/>
          </a:prstGeom>
          <a:noFill/>
          <a:ln/>
        </p:spPr>
        <p:txBody>
          <a:bodyPr wrap="square" lIns="0" tIns="0" rIns="0" bIns="0" rtlCol="0" anchor="ctr"/>
          <a:lstStyle/>
          <a:p>
            <a:r>
              <a:rPr lang="en-US" sz="1400" b="1" dirty="0">
                <a:solidFill>
                  <a:schemeClr val="bg2">
                    <a:lumMod val="50000"/>
                  </a:schemeClr>
                </a:solidFill>
                <a:latin typeface="Calibri" pitchFamily="34" charset="0"/>
                <a:ea typeface="Calibri" pitchFamily="34" charset="-122"/>
                <a:cs typeface="Calibri" pitchFamily="34" charset="-120"/>
              </a:rPr>
              <a:t>Project goal:  L</a:t>
            </a:r>
            <a:r>
              <a:rPr lang="en-US" altLang="zh-TW" sz="1400" b="1" dirty="0">
                <a:solidFill>
                  <a:schemeClr val="bg2">
                    <a:lumMod val="50000"/>
                  </a:schemeClr>
                </a:solidFill>
              </a:rPr>
              <a:t>ocate and repair these pixels using traditional algorithms without relying on any models, solving the issue at a much lower cost.</a:t>
            </a:r>
            <a:endParaRPr lang="en-US" sz="1400" b="1" dirty="0">
              <a:solidFill>
                <a:schemeClr val="bg2">
                  <a:lumMod val="50000"/>
                </a:schemeClr>
              </a:solidFill>
            </a:endParaRPr>
          </a:p>
        </p:txBody>
      </p:sp>
      <p:sp>
        <p:nvSpPr>
          <p:cNvPr id="20" name="Text 18"/>
          <p:cNvSpPr/>
          <p:nvPr/>
        </p:nvSpPr>
        <p:spPr>
          <a:xfrm>
            <a:off x="566928" y="6473952"/>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SDXL VAE Noise-Fix  ·  Traditional-CV ComfyUI Node</a:t>
            </a:r>
            <a:endParaRPr lang="en-US" sz="900" dirty="0"/>
          </a:p>
        </p:txBody>
      </p:sp>
      <p:sp>
        <p:nvSpPr>
          <p:cNvPr id="21" name="Text 19"/>
          <p:cNvSpPr/>
          <p:nvPr/>
        </p:nvSpPr>
        <p:spPr>
          <a:xfrm>
            <a:off x="11073384" y="6473952"/>
            <a:ext cx="54864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pic>
        <p:nvPicPr>
          <p:cNvPr id="9" name="Picture 3">
            <a:extLst>
              <a:ext uri="{FF2B5EF4-FFF2-40B4-BE49-F238E27FC236}">
                <a16:creationId xmlns:a16="http://schemas.microsoft.com/office/drawing/2014/main" id="{B81CC05F-EF07-2132-DB96-901FDF133527}"/>
              </a:ext>
            </a:extLst>
          </p:cNvPr>
          <p:cNvPicPr>
            <a:picLocks noChangeAspect="1"/>
          </p:cNvPicPr>
          <p:nvPr/>
        </p:nvPicPr>
        <p:blipFill>
          <a:blip r:embed="rId3"/>
          <a:srcRect/>
          <a:stretch/>
        </p:blipFill>
        <p:spPr>
          <a:xfrm>
            <a:off x="1330452" y="1299996"/>
            <a:ext cx="9528048" cy="4160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5096" cy="292608"/>
          </a:xfrm>
          <a:prstGeom prst="rect">
            <a:avLst/>
          </a:prstGeom>
          <a:noFill/>
          <a:ln/>
        </p:spPr>
        <p:txBody>
          <a:bodyPr wrap="square" lIns="0" tIns="0" rIns="0" bIns="0" rtlCol="0" anchor="ctr"/>
          <a:lstStyle/>
          <a:p>
            <a:pPr marL="0" indent="0" algn="l">
              <a:buNone/>
            </a:pPr>
            <a:r>
              <a:rPr lang="en-US" sz="1250" b="1" kern="0" spc="300" dirty="0">
                <a:solidFill>
                  <a:srgbClr val="059669"/>
                </a:solidFill>
                <a:latin typeface="Trebuchet MS" pitchFamily="34" charset="0"/>
                <a:ea typeface="Trebuchet MS" pitchFamily="34" charset="-122"/>
                <a:cs typeface="Trebuchet MS" pitchFamily="34" charset="-120"/>
              </a:rPr>
              <a:t>02 · SYSTEM &amp; METHODS</a:t>
            </a:r>
            <a:endParaRPr lang="en-US" sz="1250" dirty="0"/>
          </a:p>
        </p:txBody>
      </p:sp>
      <p:sp>
        <p:nvSpPr>
          <p:cNvPr id="3" name="Text 1"/>
          <p:cNvSpPr/>
          <p:nvPr/>
        </p:nvSpPr>
        <p:spPr>
          <a:xfrm>
            <a:off x="566928" y="713232"/>
            <a:ext cx="11055096" cy="658368"/>
          </a:xfrm>
          <a:prstGeom prst="rect">
            <a:avLst/>
          </a:prstGeom>
          <a:noFill/>
          <a:ln/>
        </p:spPr>
        <p:txBody>
          <a:bodyPr wrap="square" lIns="0" tIns="0" rIns="0" bIns="0" rtlCol="0" anchor="ctr"/>
          <a:lstStyle/>
          <a:p>
            <a:pPr marL="0" indent="0" algn="l">
              <a:buNone/>
            </a:pPr>
            <a:r>
              <a:rPr lang="en-US" sz="3000" b="1" dirty="0">
                <a:solidFill>
                  <a:srgbClr val="1E2A4A"/>
                </a:solidFill>
                <a:latin typeface="Trebuchet MS" pitchFamily="34" charset="0"/>
                <a:ea typeface="Trebuchet MS" pitchFamily="34" charset="-122"/>
                <a:cs typeface="Trebuchet MS" pitchFamily="34" charset="-120"/>
              </a:rPr>
              <a:t>System Overview</a:t>
            </a:r>
            <a:endParaRPr lang="en-US" sz="3000" dirty="0"/>
          </a:p>
        </p:txBody>
      </p:sp>
      <p:sp>
        <p:nvSpPr>
          <p:cNvPr id="54" name="Text 52"/>
          <p:cNvSpPr/>
          <p:nvPr/>
        </p:nvSpPr>
        <p:spPr>
          <a:xfrm>
            <a:off x="566928" y="6473952"/>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SDXL VAE Noise-Fix  ·  Traditional-CV ComfyUI Node</a:t>
            </a:r>
            <a:endParaRPr lang="en-US" sz="900" dirty="0"/>
          </a:p>
        </p:txBody>
      </p:sp>
      <p:sp>
        <p:nvSpPr>
          <p:cNvPr id="55" name="Text 53"/>
          <p:cNvSpPr/>
          <p:nvPr/>
        </p:nvSpPr>
        <p:spPr>
          <a:xfrm>
            <a:off x="11073384" y="6473952"/>
            <a:ext cx="54864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pic>
        <p:nvPicPr>
          <p:cNvPr id="57" name="圖片 56">
            <a:extLst>
              <a:ext uri="{FF2B5EF4-FFF2-40B4-BE49-F238E27FC236}">
                <a16:creationId xmlns:a16="http://schemas.microsoft.com/office/drawing/2014/main" id="{53FAE844-3C0D-F66D-135F-04E421CF0107}"/>
              </a:ext>
            </a:extLst>
          </p:cNvPr>
          <p:cNvPicPr>
            <a:picLocks noChangeAspect="1"/>
          </p:cNvPicPr>
          <p:nvPr/>
        </p:nvPicPr>
        <p:blipFill>
          <a:blip r:embed="rId3"/>
          <a:srcRect t="16222"/>
          <a:stretch>
            <a:fillRect/>
          </a:stretch>
        </p:blipFill>
        <p:spPr>
          <a:xfrm>
            <a:off x="644748" y="1627632"/>
            <a:ext cx="10977276" cy="4754880"/>
          </a:xfrm>
          <a:prstGeom prst="rect">
            <a:avLst/>
          </a:prstGeom>
        </p:spPr>
      </p:pic>
      <p:sp>
        <p:nvSpPr>
          <p:cNvPr id="58" name="TextBox 57"/>
          <p:cNvSpPr txBox="1"/>
          <p:nvPr/>
        </p:nvSpPr>
        <p:spPr>
          <a:xfrm>
            <a:off x="566928" y="1298448"/>
            <a:ext cx="11055096" cy="292608"/>
          </a:xfrm>
          <a:prstGeom prst="rect">
            <a:avLst/>
          </a:prstGeom>
          <a:noFill/>
        </p:spPr>
        <p:txBody>
          <a:bodyPr wrap="square" lIns="0" tIns="0" rIns="0" bIns="0">
            <a:spAutoFit/>
          </a:bodyPr>
          <a:lstStyle/>
          <a:p>
            <a:r>
              <a:rPr sz="1100" i="1">
                <a:solidFill>
                  <a:srgbClr val="64748B"/>
                </a:solidFill>
                <a:latin typeface="Calibri"/>
              </a:rPr>
              <a:t>Telea FMM chosen for micro-scale repair · full survey covered in our proposal.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5096" cy="292608"/>
          </a:xfrm>
          <a:prstGeom prst="rect">
            <a:avLst/>
          </a:prstGeom>
          <a:noFill/>
          <a:ln/>
        </p:spPr>
        <p:txBody>
          <a:bodyPr wrap="square" lIns="0" tIns="0" rIns="0" bIns="0" rtlCol="0" anchor="ctr"/>
          <a:lstStyle/>
          <a:p>
            <a:pPr marL="0" indent="0" algn="l">
              <a:buNone/>
            </a:pPr>
            <a:r>
              <a:rPr lang="en-US" sz="1250" b="1" kern="0" spc="300" dirty="0">
                <a:solidFill>
                  <a:srgbClr val="059669"/>
                </a:solidFill>
                <a:latin typeface="Trebuchet MS" pitchFamily="34" charset="0"/>
                <a:ea typeface="Trebuchet MS" pitchFamily="34" charset="-122"/>
                <a:cs typeface="Trebuchet MS" pitchFamily="34" charset="-120"/>
              </a:rPr>
              <a:t>02 · SYSTEM &amp; METHODS</a:t>
            </a:r>
            <a:endParaRPr lang="en-US" sz="1250" dirty="0"/>
          </a:p>
        </p:txBody>
      </p:sp>
      <p:sp>
        <p:nvSpPr>
          <p:cNvPr id="3" name="Text 1"/>
          <p:cNvSpPr/>
          <p:nvPr/>
        </p:nvSpPr>
        <p:spPr>
          <a:xfrm>
            <a:off x="566928" y="713232"/>
            <a:ext cx="11055096" cy="658368"/>
          </a:xfrm>
          <a:prstGeom prst="rect">
            <a:avLst/>
          </a:prstGeom>
          <a:noFill/>
          <a:ln/>
        </p:spPr>
        <p:txBody>
          <a:bodyPr wrap="square" lIns="0" tIns="0" rIns="0" bIns="0" rtlCol="0" anchor="ctr"/>
          <a:lstStyle/>
          <a:p>
            <a:pPr marL="0" indent="0" algn="l">
              <a:buNone/>
            </a:pPr>
            <a:r>
              <a:rPr lang="en-US" altLang="zh-TW" sz="3000" b="1" dirty="0">
                <a:solidFill>
                  <a:srgbClr val="1E2A4A"/>
                </a:solidFill>
                <a:latin typeface="Trebuchet MS" pitchFamily="34" charset="0"/>
                <a:ea typeface="Trebuchet MS" pitchFamily="34" charset="-122"/>
                <a:cs typeface="Trebuchet MS" pitchFamily="34" charset="-120"/>
              </a:rPr>
              <a:t>Detection </a:t>
            </a:r>
            <a:r>
              <a:rPr lang="en-US" sz="3000" b="1" dirty="0">
                <a:solidFill>
                  <a:srgbClr val="1E2A4A"/>
                </a:solidFill>
                <a:latin typeface="Trebuchet MS" pitchFamily="34" charset="0"/>
                <a:ea typeface="Trebuchet MS" pitchFamily="34" charset="-122"/>
                <a:cs typeface="Trebuchet MS" pitchFamily="34" charset="-120"/>
              </a:rPr>
              <a:t>Methodology I — Dual-Path Detection</a:t>
            </a:r>
            <a:endParaRPr lang="en-US" sz="3000" dirty="0"/>
          </a:p>
        </p:txBody>
      </p:sp>
      <p:sp>
        <p:nvSpPr>
          <p:cNvPr id="21" name="Text 19"/>
          <p:cNvSpPr/>
          <p:nvPr/>
        </p:nvSpPr>
        <p:spPr>
          <a:xfrm>
            <a:off x="566928" y="6473952"/>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SDXL VAE Noise-Fix  ·  Traditional-CV ComfyUI Node</a:t>
            </a:r>
            <a:endParaRPr lang="en-US" sz="900" dirty="0"/>
          </a:p>
        </p:txBody>
      </p:sp>
      <p:sp>
        <p:nvSpPr>
          <p:cNvPr id="22" name="Text 20"/>
          <p:cNvSpPr/>
          <p:nvPr/>
        </p:nvSpPr>
        <p:spPr>
          <a:xfrm>
            <a:off x="11073384" y="6473952"/>
            <a:ext cx="54864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pic>
        <p:nvPicPr>
          <p:cNvPr id="5" name="圖片 4">
            <a:extLst>
              <a:ext uri="{FF2B5EF4-FFF2-40B4-BE49-F238E27FC236}">
                <a16:creationId xmlns:a16="http://schemas.microsoft.com/office/drawing/2014/main" id="{0400F154-E4B1-0729-5773-2F975B142A08}"/>
              </a:ext>
            </a:extLst>
          </p:cNvPr>
          <p:cNvPicPr>
            <a:picLocks noChangeAspect="1"/>
          </p:cNvPicPr>
          <p:nvPr/>
        </p:nvPicPr>
        <p:blipFill>
          <a:blip r:embed="rId3"/>
          <a:srcRect t="15" b="15"/>
          <a:stretch/>
        </p:blipFill>
        <p:spPr>
          <a:xfrm>
            <a:off x="339298" y="1312652"/>
            <a:ext cx="11510356" cy="51247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5096" cy="292608"/>
          </a:xfrm>
          <a:prstGeom prst="rect">
            <a:avLst/>
          </a:prstGeom>
          <a:noFill/>
          <a:ln/>
        </p:spPr>
        <p:txBody>
          <a:bodyPr wrap="square" lIns="0" tIns="0" rIns="0" bIns="0" rtlCol="0" anchor="ctr"/>
          <a:lstStyle/>
          <a:p>
            <a:pPr marL="0" indent="0" algn="l">
              <a:buNone/>
            </a:pPr>
            <a:r>
              <a:rPr lang="en-US" sz="1250" b="1" kern="0" spc="300" dirty="0">
                <a:solidFill>
                  <a:srgbClr val="059669"/>
                </a:solidFill>
                <a:latin typeface="Trebuchet MS" pitchFamily="34" charset="0"/>
                <a:ea typeface="Trebuchet MS" pitchFamily="34" charset="-122"/>
                <a:cs typeface="Trebuchet MS" pitchFamily="34" charset="-120"/>
              </a:rPr>
              <a:t>02 · SYSTEM &amp; METHODS</a:t>
            </a:r>
            <a:endParaRPr lang="en-US" sz="1250" dirty="0"/>
          </a:p>
        </p:txBody>
      </p:sp>
      <p:sp>
        <p:nvSpPr>
          <p:cNvPr id="3" name="Text 1"/>
          <p:cNvSpPr/>
          <p:nvPr/>
        </p:nvSpPr>
        <p:spPr>
          <a:xfrm>
            <a:off x="566928" y="713232"/>
            <a:ext cx="11338560" cy="640080"/>
          </a:xfrm>
          <a:prstGeom prst="rect">
            <a:avLst/>
          </a:prstGeom>
          <a:noFill/>
          <a:ln/>
        </p:spPr>
        <p:txBody>
          <a:bodyPr wrap="square" lIns="0" tIns="0" rIns="0" bIns="0" rtlCol="0" anchor="ctr"/>
          <a:lstStyle/>
          <a:p>
            <a:pPr marL="0" indent="0" algn="l">
              <a:buNone/>
            </a:pPr>
            <a:r>
              <a:rPr lang="en-US" sz="2400" b="1" dirty="0">
                <a:solidFill>
                  <a:srgbClr val="1E2A4A"/>
                </a:solidFill>
                <a:latin typeface="Trebuchet MS" pitchFamily="34" charset="0"/>
                <a:ea typeface="Trebuchet MS" pitchFamily="34" charset="-122"/>
                <a:cs typeface="Trebuchet MS" pitchFamily="34" charset="-120"/>
              </a:rPr>
              <a:t>Detection Methodology II — Structural &amp; LAB Verification</a:t>
            </a:r>
            <a:endParaRPr lang="en-US" sz="3000" dirty="0"/>
          </a:p>
        </p:txBody>
      </p:sp>
      <p:sp>
        <p:nvSpPr>
          <p:cNvPr id="68" name="Text 66"/>
          <p:cNvSpPr/>
          <p:nvPr/>
        </p:nvSpPr>
        <p:spPr>
          <a:xfrm>
            <a:off x="566928" y="6473952"/>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SDXL VAE Noise-Fix  ·  Traditional-CV ComfyUI Node</a:t>
            </a:r>
            <a:endParaRPr lang="en-US" sz="900" dirty="0"/>
          </a:p>
        </p:txBody>
      </p:sp>
      <p:sp>
        <p:nvSpPr>
          <p:cNvPr id="69" name="Text 67"/>
          <p:cNvSpPr/>
          <p:nvPr/>
        </p:nvSpPr>
        <p:spPr>
          <a:xfrm>
            <a:off x="11073384" y="6473952"/>
            <a:ext cx="54864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pic>
        <p:nvPicPr>
          <p:cNvPr id="5" name="圖片 4">
            <a:extLst>
              <a:ext uri="{FF2B5EF4-FFF2-40B4-BE49-F238E27FC236}">
                <a16:creationId xmlns:a16="http://schemas.microsoft.com/office/drawing/2014/main" id="{DB5BFBA4-A33F-0118-17E4-7AFE09FBE292}"/>
              </a:ext>
            </a:extLst>
          </p:cNvPr>
          <p:cNvPicPr>
            <a:picLocks noChangeAspect="1"/>
          </p:cNvPicPr>
          <p:nvPr/>
        </p:nvPicPr>
        <p:blipFill>
          <a:blip r:embed="rId3"/>
          <a:srcRect/>
          <a:stretch/>
        </p:blipFill>
        <p:spPr>
          <a:xfrm>
            <a:off x="704391" y="1354346"/>
            <a:ext cx="11063634" cy="49934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292608"/>
          </a:xfrm>
          <a:prstGeom prst="rect">
            <a:avLst/>
          </a:prstGeom>
          <a:noFill/>
        </p:spPr>
        <p:txBody>
          <a:bodyPr wrap="square" lIns="0" tIns="0" rIns="0" bIns="0" anchor="t">
            <a:spAutoFit/>
          </a:bodyPr>
          <a:lstStyle/>
          <a:p>
            <a:pPr algn="l"/>
            <a:r>
              <a:rPr sz="1250" b="1" i="0">
                <a:solidFill>
                  <a:srgbClr val="059669"/>
                </a:solidFill>
                <a:latin typeface="Trebuchet MS"/>
              </a:rPr>
              <a:t>03 · RESULTS</a:t>
            </a:r>
          </a:p>
        </p:txBody>
      </p:sp>
      <p:sp>
        <p:nvSpPr>
          <p:cNvPr id="3" name="TextBox 2"/>
          <p:cNvSpPr txBox="1"/>
          <p:nvPr/>
        </p:nvSpPr>
        <p:spPr>
          <a:xfrm>
            <a:off x="566928" y="713232"/>
            <a:ext cx="10515600" cy="658368"/>
          </a:xfrm>
          <a:prstGeom prst="rect">
            <a:avLst/>
          </a:prstGeom>
          <a:noFill/>
        </p:spPr>
        <p:txBody>
          <a:bodyPr wrap="square" lIns="0" tIns="0" rIns="0" bIns="0" anchor="t">
            <a:spAutoFit/>
          </a:bodyPr>
          <a:lstStyle/>
          <a:p>
            <a:pPr algn="l"/>
            <a:r>
              <a:rPr sz="3000" b="1" i="0">
                <a:solidFill>
                  <a:srgbClr val="1E2A4A"/>
                </a:solidFill>
                <a:latin typeface="Trebuchet MS"/>
              </a:rPr>
              <a:t>Results — Before &amp; After Repair</a:t>
            </a:r>
          </a:p>
        </p:txBody>
      </p:sp>
      <p:pic>
        <p:nvPicPr>
          <p:cNvPr id="4" name="Picture 3"/>
          <p:cNvPicPr>
            <a:picLocks noChangeAspect="1"/>
          </p:cNvPicPr>
          <p:nvPr/>
        </p:nvPicPr>
        <p:blipFill>
          <a:blip r:embed="rId3"/>
          <a:srcRect/>
          <a:stretch/>
        </p:blipFill>
        <p:spPr>
          <a:xfrm>
            <a:off x="1330451" y="1417320"/>
            <a:ext cx="9528048" cy="4160520"/>
          </a:xfrm>
          <a:prstGeom prst="rect">
            <a:avLst/>
          </a:prstGeom>
        </p:spPr>
      </p:pic>
      <p:sp>
        <p:nvSpPr>
          <p:cNvPr id="5" name="Rectangle 4"/>
          <p:cNvSpPr/>
          <p:nvPr/>
        </p:nvSpPr>
        <p:spPr>
          <a:xfrm>
            <a:off x="566928" y="5779008"/>
            <a:ext cx="11055096" cy="603504"/>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5779008"/>
            <a:ext cx="82296" cy="60350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852160"/>
            <a:ext cx="10607040" cy="457200"/>
          </a:xfrm>
          <a:prstGeom prst="rect">
            <a:avLst/>
          </a:prstGeom>
          <a:noFill/>
        </p:spPr>
        <p:txBody>
          <a:bodyPr wrap="square" lIns="0" tIns="0" rIns="0" bIns="0" anchor="ctr">
            <a:spAutoFit/>
          </a:bodyPr>
          <a:lstStyle/>
          <a:p>
            <a:pPr algn="l"/>
            <a:r>
              <a:rPr sz="1300" b="1">
                <a:solidFill>
                  <a:srgbClr val="1E2A4A"/>
                </a:solidFill>
                <a:latin typeface="Calibri"/>
              </a:rPr>
              <a:t>Image Prompt:</a:t>
            </a:r>
          </a:p>
          <a:p>
            <a:r>
              <a:rPr sz="1300" b="0">
                <a:solidFill>
                  <a:srgbClr val="475569"/>
                </a:solidFill>
                <a:latin typeface="Calibri"/>
              </a:rPr>
              <a:t>A close up portrait of a cyberpunk girl, pure black background, cinematic rim lighting, highly detailed, 8k resolution, sharp focus</a:t>
            </a:r>
          </a:p>
        </p:txBody>
      </p:sp>
      <p:sp>
        <p:nvSpPr>
          <p:cNvPr id="8" name="TextBox 7"/>
          <p:cNvSpPr txBox="1"/>
          <p:nvPr/>
        </p:nvSpPr>
        <p:spPr>
          <a:xfrm>
            <a:off x="566928" y="6473952"/>
            <a:ext cx="7315200" cy="274320"/>
          </a:xfrm>
          <a:prstGeom prst="rect">
            <a:avLst/>
          </a:prstGeom>
          <a:noFill/>
        </p:spPr>
        <p:txBody>
          <a:bodyPr wrap="square" lIns="0" tIns="0" rIns="0" bIns="0" anchor="t">
            <a:spAutoFit/>
          </a:bodyPr>
          <a:lstStyle/>
          <a:p>
            <a:pPr algn="l"/>
            <a:r>
              <a:rPr sz="900" b="0" i="0">
                <a:solidFill>
                  <a:srgbClr val="64748B"/>
                </a:solidFill>
                <a:latin typeface="Calibri"/>
              </a:rPr>
              <a:t>SDXL VAE Noise-Fix  ·  Traditional-CV ComfyUI Node</a:t>
            </a:r>
          </a:p>
        </p:txBody>
      </p:sp>
      <p:sp>
        <p:nvSpPr>
          <p:cNvPr id="9" name="TextBox 8"/>
          <p:cNvSpPr txBox="1"/>
          <p:nvPr/>
        </p:nvSpPr>
        <p:spPr>
          <a:xfrm>
            <a:off x="11064240" y="6473952"/>
            <a:ext cx="548640" cy="274320"/>
          </a:xfrm>
          <a:prstGeom prst="rect">
            <a:avLst/>
          </a:prstGeom>
          <a:noFill/>
        </p:spPr>
        <p:txBody>
          <a:bodyPr wrap="square" lIns="0" tIns="0" rIns="0" bIns="0" anchor="t">
            <a:spAutoFit/>
          </a:bodyPr>
          <a:lstStyle/>
          <a:p>
            <a:pPr algn="l"/>
            <a:r>
              <a:rPr lang="en-US" altLang="zh-TW" sz="900" b="0" i="0" dirty="0">
                <a:solidFill>
                  <a:srgbClr val="64748B"/>
                </a:solidFill>
                <a:latin typeface="Calibri"/>
              </a:rPr>
              <a:t>6</a:t>
            </a:r>
            <a:endParaRPr sz="900" b="0" i="0" dirty="0">
              <a:solidFill>
                <a:srgbClr val="64748B"/>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5096" cy="292608"/>
          </a:xfrm>
          <a:prstGeom prst="rect">
            <a:avLst/>
          </a:prstGeom>
          <a:noFill/>
          <a:ln/>
        </p:spPr>
        <p:txBody>
          <a:bodyPr wrap="square" lIns="0" tIns="0" rIns="0" bIns="0" rtlCol="0" anchor="ctr"/>
          <a:lstStyle/>
          <a:p>
            <a:pPr marL="0" indent="0" algn="l">
              <a:buNone/>
            </a:pPr>
            <a:r>
              <a:rPr lang="en-US" sz="1250" b="1" kern="0" spc="300" dirty="0">
                <a:solidFill>
                  <a:srgbClr val="059669"/>
                </a:solidFill>
                <a:latin typeface="Trebuchet MS" pitchFamily="34" charset="0"/>
                <a:ea typeface="Trebuchet MS" pitchFamily="34" charset="-122"/>
                <a:cs typeface="Trebuchet MS" pitchFamily="34" charset="-120"/>
              </a:rPr>
              <a:t>03 · DEMO</a:t>
            </a:r>
            <a:endParaRPr lang="en-US" sz="1250" dirty="0"/>
          </a:p>
        </p:txBody>
      </p:sp>
      <p:sp>
        <p:nvSpPr>
          <p:cNvPr id="3" name="Text 1"/>
          <p:cNvSpPr/>
          <p:nvPr/>
        </p:nvSpPr>
        <p:spPr>
          <a:xfrm>
            <a:off x="566928" y="713232"/>
            <a:ext cx="11055096" cy="658368"/>
          </a:xfrm>
          <a:prstGeom prst="rect">
            <a:avLst/>
          </a:prstGeom>
          <a:noFill/>
          <a:ln/>
        </p:spPr>
        <p:txBody>
          <a:bodyPr wrap="square" lIns="0" tIns="0" rIns="0" bIns="0" rtlCol="0" anchor="ctr"/>
          <a:lstStyle/>
          <a:p>
            <a:pPr marL="0" indent="0" algn="l">
              <a:buNone/>
            </a:pPr>
            <a:r>
              <a:rPr lang="en-US" sz="3000" b="1" dirty="0">
                <a:solidFill>
                  <a:srgbClr val="1E2A4A"/>
                </a:solidFill>
                <a:latin typeface="Trebuchet MS" pitchFamily="34" charset="0"/>
                <a:ea typeface="Trebuchet MS" pitchFamily="34" charset="-122"/>
                <a:cs typeface="Trebuchet MS" pitchFamily="34" charset="-120"/>
              </a:rPr>
              <a:t>Live Demo</a:t>
            </a:r>
            <a:endParaRPr lang="en-US" sz="3000" dirty="0"/>
          </a:p>
        </p:txBody>
      </p:sp>
      <p:sp>
        <p:nvSpPr>
          <p:cNvPr id="32" name="Text 30"/>
          <p:cNvSpPr/>
          <p:nvPr/>
        </p:nvSpPr>
        <p:spPr>
          <a:xfrm>
            <a:off x="566928" y="6473952"/>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SDXL VAE Noise-Fix  ·  Traditional-CV ComfyUI Node</a:t>
            </a:r>
            <a:endParaRPr lang="en-US" sz="900" dirty="0"/>
          </a:p>
        </p:txBody>
      </p:sp>
      <p:sp>
        <p:nvSpPr>
          <p:cNvPr id="33" name="Text 31"/>
          <p:cNvSpPr/>
          <p:nvPr/>
        </p:nvSpPr>
        <p:spPr>
          <a:xfrm>
            <a:off x="11073384" y="6473952"/>
            <a:ext cx="54864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pic>
        <p:nvPicPr>
          <p:cNvPr id="5" name="線上媒體 4" title="VAE_NoiseFix_Final_Presentation_Demo">
            <a:hlinkClick r:id="" action="ppaction://media"/>
            <a:extLst>
              <a:ext uri="{FF2B5EF4-FFF2-40B4-BE49-F238E27FC236}">
                <a16:creationId xmlns:a16="http://schemas.microsoft.com/office/drawing/2014/main" id="{32DF78C1-5039-FF50-A6B0-65A480DC5567}"/>
              </a:ext>
            </a:extLst>
          </p:cNvPr>
          <p:cNvPicPr>
            <a:picLocks noRot="1" noChangeAspect="1"/>
          </p:cNvPicPr>
          <p:nvPr>
            <a:videoFile r:link="rId1"/>
          </p:nvPr>
        </p:nvPicPr>
        <p:blipFill>
          <a:blip r:embed="rId4"/>
          <a:stretch>
            <a:fillRect/>
          </a:stretch>
        </p:blipFill>
        <p:spPr>
          <a:xfrm>
            <a:off x="1532425" y="1282247"/>
            <a:ext cx="9124102" cy="51551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E2A4A"/>
        </a:solidFill>
        <a:effectLst/>
      </p:bgPr>
    </p:bg>
    <p:spTree>
      <p:nvGrpSpPr>
        <p:cNvPr id="1" name=""/>
        <p:cNvGrpSpPr/>
        <p:nvPr/>
      </p:nvGrpSpPr>
      <p:grpSpPr>
        <a:xfrm>
          <a:off x="0" y="0"/>
          <a:ext cx="0" cy="0"/>
          <a:chOff x="0" y="0"/>
          <a:chExt cx="0" cy="0"/>
        </a:xfrm>
      </p:grpSpPr>
      <p:sp>
        <p:nvSpPr>
          <p:cNvPr id="2" name="Shape 0"/>
          <p:cNvSpPr/>
          <p:nvPr/>
        </p:nvSpPr>
        <p:spPr>
          <a:xfrm>
            <a:off x="566928" y="1371600"/>
            <a:ext cx="109728" cy="1371600"/>
          </a:xfrm>
          <a:prstGeom prst="rect">
            <a:avLst/>
          </a:prstGeom>
          <a:solidFill>
            <a:srgbClr val="059669"/>
          </a:solidFill>
          <a:ln/>
        </p:spPr>
        <p:txBody>
          <a:bodyPr/>
          <a:lstStyle/>
          <a:p>
            <a:endParaRPr lang="zh-TW" altLang="en-US"/>
          </a:p>
        </p:txBody>
      </p:sp>
      <p:sp>
        <p:nvSpPr>
          <p:cNvPr id="3" name="Text 1"/>
          <p:cNvSpPr/>
          <p:nvPr/>
        </p:nvSpPr>
        <p:spPr>
          <a:xfrm>
            <a:off x="786384" y="1357884"/>
            <a:ext cx="9144000" cy="310896"/>
          </a:xfrm>
          <a:prstGeom prst="rect">
            <a:avLst/>
          </a:prstGeom>
          <a:noFill/>
          <a:ln/>
        </p:spPr>
        <p:txBody>
          <a:bodyPr wrap="square" lIns="0" tIns="0" rIns="0" bIns="0" rtlCol="0" anchor="ctr"/>
          <a:lstStyle/>
          <a:p>
            <a:pPr marL="0" indent="0">
              <a:buNone/>
            </a:pPr>
            <a:r>
              <a:rPr lang="en-US" sz="1250" b="1" kern="0" spc="300" dirty="0">
                <a:solidFill>
                  <a:srgbClr val="9FB3D9"/>
                </a:solidFill>
                <a:latin typeface="Trebuchet MS" pitchFamily="34" charset="0"/>
                <a:ea typeface="Trebuchet MS" pitchFamily="34" charset="-122"/>
                <a:cs typeface="Trebuchet MS" pitchFamily="34" charset="-120"/>
              </a:rPr>
              <a:t>04 · CONCLUSION</a:t>
            </a:r>
            <a:endParaRPr lang="en-US" sz="1250" dirty="0"/>
          </a:p>
        </p:txBody>
      </p:sp>
      <p:sp>
        <p:nvSpPr>
          <p:cNvPr id="5" name="Text 3"/>
          <p:cNvSpPr/>
          <p:nvPr/>
        </p:nvSpPr>
        <p:spPr>
          <a:xfrm>
            <a:off x="786384" y="1658112"/>
            <a:ext cx="10446766" cy="1185418"/>
          </a:xfrm>
          <a:prstGeom prst="rect">
            <a:avLst/>
          </a:prstGeom>
          <a:noFill/>
          <a:ln/>
        </p:spPr>
        <p:txBody>
          <a:bodyPr wrap="square" lIns="0" tIns="0" rIns="0" bIns="0" rtlCol="0" anchor="ctr"/>
          <a:lstStyle/>
          <a:p>
            <a:pPr marL="0" indent="0">
              <a:buNone/>
            </a:pPr>
            <a:r>
              <a:rPr lang="en-US" sz="2400" i="1" dirty="0">
                <a:solidFill>
                  <a:schemeClr val="accent1">
                    <a:lumMod val="20000"/>
                    <a:lumOff val="80000"/>
                  </a:schemeClr>
                </a:solidFill>
                <a:latin typeface="Calibri" pitchFamily="34" charset="0"/>
                <a:ea typeface="Calibri" pitchFamily="34" charset="-122"/>
                <a:cs typeface="Calibri" pitchFamily="34" charset="-120"/>
              </a:rPr>
              <a:t>A purpose-built classical-CV pipeline removes SDXL VAE spurious bright pixels in milliseconds, on the CPU, with zero model weights — preserving the detail a full diffusion repaint would erase.</a:t>
            </a:r>
            <a:endParaRPr lang="en-US" sz="2400" dirty="0">
              <a:solidFill>
                <a:schemeClr val="accent1">
                  <a:lumMod val="20000"/>
                  <a:lumOff val="80000"/>
                </a:schemeClr>
              </a:solidFill>
            </a:endParaRPr>
          </a:p>
        </p:txBody>
      </p:sp>
      <p:sp>
        <p:nvSpPr>
          <p:cNvPr id="6" name="Shape 4"/>
          <p:cNvSpPr/>
          <p:nvPr/>
        </p:nvSpPr>
        <p:spPr>
          <a:xfrm>
            <a:off x="566928" y="3611880"/>
            <a:ext cx="3502152" cy="1554480"/>
          </a:xfrm>
          <a:prstGeom prst="rect">
            <a:avLst/>
          </a:prstGeom>
          <a:solidFill>
            <a:srgbClr val="2C3E66"/>
          </a:solidFill>
          <a:ln w="12700">
            <a:solidFill>
              <a:srgbClr val="3C517F"/>
            </a:solidFill>
            <a:prstDash val="solid"/>
          </a:ln>
        </p:spPr>
        <p:txBody>
          <a:bodyPr/>
          <a:lstStyle/>
          <a:p>
            <a:endParaRPr lang="zh-TW" altLang="en-US"/>
          </a:p>
        </p:txBody>
      </p:sp>
      <p:sp>
        <p:nvSpPr>
          <p:cNvPr id="7" name="Shape 5"/>
          <p:cNvSpPr/>
          <p:nvPr/>
        </p:nvSpPr>
        <p:spPr>
          <a:xfrm>
            <a:off x="566928" y="3611880"/>
            <a:ext cx="73152" cy="1554480"/>
          </a:xfrm>
          <a:prstGeom prst="rect">
            <a:avLst/>
          </a:prstGeom>
          <a:solidFill>
            <a:srgbClr val="059669"/>
          </a:solidFill>
          <a:ln/>
        </p:spPr>
        <p:txBody>
          <a:bodyPr/>
          <a:lstStyle/>
          <a:p>
            <a:endParaRPr lang="zh-TW" altLang="en-US"/>
          </a:p>
        </p:txBody>
      </p:sp>
      <p:sp>
        <p:nvSpPr>
          <p:cNvPr id="8" name="Text 6"/>
          <p:cNvSpPr/>
          <p:nvPr/>
        </p:nvSpPr>
        <p:spPr>
          <a:xfrm>
            <a:off x="786384" y="3758184"/>
            <a:ext cx="3136392" cy="237744"/>
          </a:xfrm>
          <a:prstGeom prst="rect">
            <a:avLst/>
          </a:prstGeom>
          <a:noFill/>
          <a:ln/>
        </p:spPr>
        <p:txBody>
          <a:bodyPr wrap="square" lIns="0" tIns="0" rIns="0" bIns="0" rtlCol="0" anchor="ctr"/>
          <a:lstStyle/>
          <a:p>
            <a:pPr marL="0" indent="0">
              <a:buNone/>
            </a:pPr>
            <a:r>
              <a:rPr lang="en-US" sz="950" b="1" kern="0" spc="150" dirty="0">
                <a:solidFill>
                  <a:srgbClr val="9FB3D9"/>
                </a:solidFill>
                <a:latin typeface="Trebuchet MS" pitchFamily="34" charset="0"/>
                <a:ea typeface="Trebuchet MS" pitchFamily="34" charset="-122"/>
                <a:cs typeface="Trebuchet MS" pitchFamily="34" charset="-120"/>
              </a:rPr>
              <a:t>FUTURE WORK</a:t>
            </a:r>
            <a:endParaRPr lang="en-US" sz="950" dirty="0"/>
          </a:p>
        </p:txBody>
      </p:sp>
      <p:sp>
        <p:nvSpPr>
          <p:cNvPr id="9" name="Text 7"/>
          <p:cNvSpPr/>
          <p:nvPr/>
        </p:nvSpPr>
        <p:spPr>
          <a:xfrm>
            <a:off x="786384" y="3995928"/>
            <a:ext cx="3090672" cy="384048"/>
          </a:xfrm>
          <a:prstGeom prst="rect">
            <a:avLst/>
          </a:prstGeom>
          <a:noFill/>
          <a:ln/>
        </p:spPr>
        <p:txBody>
          <a:bodyPr wrap="square" lIns="0" tIns="0" rIns="0" bIns="0" rtlCol="0" anchor="ctr"/>
          <a:lstStyle/>
          <a:p>
            <a:pPr marL="0" indent="0">
              <a:buNone/>
            </a:pPr>
            <a:r>
              <a:rPr lang="en-US" sz="1450" b="1" dirty="0">
                <a:solidFill>
                  <a:srgbClr val="FFFFFF"/>
                </a:solidFill>
                <a:latin typeface="Trebuchet MS" pitchFamily="34" charset="0"/>
                <a:ea typeface="Trebuchet MS" pitchFamily="34" charset="-122"/>
                <a:cs typeface="Trebuchet MS" pitchFamily="34" charset="-120"/>
              </a:rPr>
              <a:t>Adaptive sensitivity</a:t>
            </a:r>
            <a:endParaRPr lang="en-US" sz="1450" dirty="0"/>
          </a:p>
        </p:txBody>
      </p:sp>
      <p:sp>
        <p:nvSpPr>
          <p:cNvPr id="10" name="Text 8"/>
          <p:cNvSpPr/>
          <p:nvPr/>
        </p:nvSpPr>
        <p:spPr>
          <a:xfrm>
            <a:off x="786384" y="4398264"/>
            <a:ext cx="3090672" cy="713232"/>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Per-region thresholds so star fields and dark portraits coexist in one pass.</a:t>
            </a:r>
            <a:endParaRPr lang="en-US" sz="1400" dirty="0"/>
          </a:p>
        </p:txBody>
      </p:sp>
      <p:sp>
        <p:nvSpPr>
          <p:cNvPr id="11" name="Shape 9"/>
          <p:cNvSpPr/>
          <p:nvPr/>
        </p:nvSpPr>
        <p:spPr>
          <a:xfrm>
            <a:off x="8156448" y="3611880"/>
            <a:ext cx="3502152" cy="1554480"/>
          </a:xfrm>
          <a:prstGeom prst="rect">
            <a:avLst/>
          </a:prstGeom>
          <a:solidFill>
            <a:srgbClr val="2C3E66"/>
          </a:solidFill>
          <a:ln w="12700">
            <a:solidFill>
              <a:srgbClr val="3C517F"/>
            </a:solidFill>
            <a:prstDash val="solid"/>
          </a:ln>
        </p:spPr>
        <p:txBody>
          <a:bodyPr/>
          <a:lstStyle/>
          <a:p>
            <a:endParaRPr lang="zh-TW" altLang="en-US"/>
          </a:p>
        </p:txBody>
      </p:sp>
      <p:sp>
        <p:nvSpPr>
          <p:cNvPr id="12" name="Shape 10"/>
          <p:cNvSpPr/>
          <p:nvPr/>
        </p:nvSpPr>
        <p:spPr>
          <a:xfrm>
            <a:off x="8156448" y="3611880"/>
            <a:ext cx="73152" cy="1554480"/>
          </a:xfrm>
          <a:prstGeom prst="rect">
            <a:avLst/>
          </a:prstGeom>
          <a:solidFill>
            <a:srgbClr val="059669"/>
          </a:solidFill>
          <a:ln/>
        </p:spPr>
        <p:txBody>
          <a:bodyPr/>
          <a:lstStyle/>
          <a:p>
            <a:endParaRPr lang="zh-TW" altLang="en-US"/>
          </a:p>
        </p:txBody>
      </p:sp>
      <p:sp>
        <p:nvSpPr>
          <p:cNvPr id="13" name="Text 11"/>
          <p:cNvSpPr/>
          <p:nvPr/>
        </p:nvSpPr>
        <p:spPr>
          <a:xfrm>
            <a:off x="8375904" y="3758184"/>
            <a:ext cx="3136392" cy="237744"/>
          </a:xfrm>
          <a:prstGeom prst="rect">
            <a:avLst/>
          </a:prstGeom>
          <a:noFill/>
          <a:ln/>
        </p:spPr>
        <p:txBody>
          <a:bodyPr wrap="square" lIns="0" tIns="0" rIns="0" bIns="0" rtlCol="0" anchor="ctr"/>
          <a:lstStyle/>
          <a:p>
            <a:pPr marL="0" indent="0">
              <a:buNone/>
            </a:pPr>
            <a:r>
              <a:rPr lang="en-US" sz="950" b="1" kern="0" spc="150" dirty="0">
                <a:solidFill>
                  <a:srgbClr val="9FB3D9"/>
                </a:solidFill>
                <a:latin typeface="Trebuchet MS" pitchFamily="34" charset="0"/>
                <a:ea typeface="Trebuchet MS" pitchFamily="34" charset="-122"/>
                <a:cs typeface="Trebuchet MS" pitchFamily="34" charset="-120"/>
              </a:rPr>
              <a:t>FUTURE WORK</a:t>
            </a:r>
            <a:endParaRPr lang="en-US" sz="950" dirty="0"/>
          </a:p>
        </p:txBody>
      </p:sp>
      <p:sp>
        <p:nvSpPr>
          <p:cNvPr id="14" name="Text 12"/>
          <p:cNvSpPr/>
          <p:nvPr/>
        </p:nvSpPr>
        <p:spPr>
          <a:xfrm>
            <a:off x="8375904" y="3995928"/>
            <a:ext cx="3090672" cy="384048"/>
          </a:xfrm>
          <a:prstGeom prst="rect">
            <a:avLst/>
          </a:prstGeom>
          <a:noFill/>
          <a:ln/>
        </p:spPr>
        <p:txBody>
          <a:bodyPr wrap="square" lIns="0" tIns="0" rIns="0" bIns="0" rtlCol="0" anchor="ctr"/>
          <a:lstStyle/>
          <a:p>
            <a:pPr marL="0" indent="0">
              <a:buNone/>
            </a:pPr>
            <a:r>
              <a:rPr lang="en-US" sz="1450" b="1" dirty="0">
                <a:solidFill>
                  <a:srgbClr val="FFFFFF"/>
                </a:solidFill>
                <a:latin typeface="Trebuchet MS" pitchFamily="34" charset="0"/>
                <a:ea typeface="Trebuchet MS" pitchFamily="34" charset="-122"/>
                <a:cs typeface="Trebuchet MS" pitchFamily="34" charset="-120"/>
              </a:rPr>
              <a:t>Temporal consistency</a:t>
            </a:r>
            <a:endParaRPr lang="en-US" sz="1450" dirty="0"/>
          </a:p>
        </p:txBody>
      </p:sp>
      <p:sp>
        <p:nvSpPr>
          <p:cNvPr id="15" name="Text 13"/>
          <p:cNvSpPr/>
          <p:nvPr/>
        </p:nvSpPr>
        <p:spPr>
          <a:xfrm>
            <a:off x="8375904" y="4398264"/>
            <a:ext cx="3090672" cy="713232"/>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Frame-to-frame coherence for video / animation sequences.</a:t>
            </a:r>
            <a:endParaRPr lang="en-US" sz="1400" dirty="0"/>
          </a:p>
        </p:txBody>
      </p:sp>
      <p:sp>
        <p:nvSpPr>
          <p:cNvPr id="21" name="Text 19"/>
          <p:cNvSpPr/>
          <p:nvPr/>
        </p:nvSpPr>
        <p:spPr>
          <a:xfrm>
            <a:off x="841248" y="5532120"/>
            <a:ext cx="731520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Thank you  ·  Questions?</a:t>
            </a:r>
            <a:endParaRPr lang="en-US" sz="2200" dirty="0"/>
          </a:p>
        </p:txBody>
      </p:sp>
      <p:sp>
        <p:nvSpPr>
          <p:cNvPr id="22" name="Text 20"/>
          <p:cNvSpPr/>
          <p:nvPr/>
        </p:nvSpPr>
        <p:spPr>
          <a:xfrm>
            <a:off x="7050024" y="5669280"/>
            <a:ext cx="4572000" cy="365760"/>
          </a:xfrm>
          <a:prstGeom prst="rect">
            <a:avLst/>
          </a:prstGeom>
          <a:noFill/>
          <a:ln/>
        </p:spPr>
        <p:txBody>
          <a:bodyPr wrap="square" lIns="0" tIns="0" rIns="0" bIns="0" rtlCol="0" anchor="ctr"/>
          <a:lstStyle/>
          <a:p>
            <a:pPr marL="0" indent="0" algn="r">
              <a:buNone/>
            </a:pPr>
            <a:r>
              <a:rPr lang="en-US" sz="1200" dirty="0">
                <a:solidFill>
                  <a:srgbClr val="9FB3D9"/>
                </a:solidFill>
                <a:latin typeface="Calibri" pitchFamily="34" charset="0"/>
                <a:ea typeface="Calibri" pitchFamily="34" charset="-122"/>
                <a:cs typeface="Calibri" pitchFamily="34" charset="-120"/>
              </a:rPr>
              <a:t>Phecda  ·  NYCU  ·  Spring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617</TotalTime>
  <Words>1648</Words>
  <Application>Microsoft Office PowerPoint</Application>
  <PresentationFormat>寬螢幕</PresentationFormat>
  <Paragraphs>129</Paragraphs>
  <Slides>8</Slides>
  <Notes>8</Notes>
  <HiddenSlides>0</HiddenSlides>
  <MMClips>1</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8</vt:i4>
      </vt:variant>
    </vt:vector>
  </HeadingPairs>
  <TitlesOfParts>
    <vt:vector size="12" baseType="lpstr">
      <vt:lpstr>Arial</vt:lpstr>
      <vt:lpstr>Calibri</vt:lpstr>
      <vt:lpstr>Trebuchet MS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Fixing SDXL VAE Spurious Bright Pixels</dc:title>
  <dc:subject>PptxGenJS Presentation</dc:subject>
  <dc:creator>Phecda</dc:creator>
  <cp:lastModifiedBy>Phecda</cp:lastModifiedBy>
  <cp:revision>23</cp:revision>
  <dcterms:created xsi:type="dcterms:W3CDTF">2026-05-21T13:14:37Z</dcterms:created>
  <dcterms:modified xsi:type="dcterms:W3CDTF">2026-06-21T10:15:04Z</dcterms:modified>
</cp:coreProperties>
</file>